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Cambria Bold" charset="1" panose="02040803050406030204"/>
      <p:regular r:id="rId39"/>
    </p:embeddedFont>
    <p:embeddedFont>
      <p:font typeface="Calibri (MS) Bold" charset="1" panose="020F0702030404030204"/>
      <p:regular r:id="rId40"/>
    </p:embeddedFont>
    <p:embeddedFont>
      <p:font typeface="Calibri (MS)" charset="1" panose="020F0502020204030204"/>
      <p:regular r:id="rId41"/>
    </p:embeddedFont>
    <p:embeddedFont>
      <p:font typeface="Anton" charset="1" panose="00000500000000000000"/>
      <p:regular r:id="rId42"/>
    </p:embeddedFont>
    <p:embeddedFont>
      <p:font typeface="Carlito Bold" charset="1" panose="020F0502020204030204"/>
      <p:regular r:id="rId43"/>
    </p:embeddedFont>
    <p:embeddedFont>
      <p:font typeface="Helvetica World Bold" charset="1" panose="020B0800040000020004"/>
      <p:regular r:id="rId44"/>
    </p:embeddedFont>
    <p:embeddedFont>
      <p:font typeface="Helvetica World" charset="1" panose="020B0500040000020004"/>
      <p:regular r:id="rId45"/>
    </p:embeddedFont>
    <p:embeddedFont>
      <p:font typeface="Consolas" charset="1" panose="020B0609020204030204"/>
      <p:regular r:id="rId46"/>
    </p:embeddedFont>
    <p:embeddedFont>
      <p:font typeface="Aptos" charset="1" panose="020B0004020202020204"/>
      <p:regular r:id="rId47"/>
    </p:embeddedFont>
    <p:embeddedFont>
      <p:font typeface="Aptos Bold" charset="1" panose="020B0004020202020204"/>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0.png" Type="http://schemas.openxmlformats.org/officeDocument/2006/relationships/image"/><Relationship Id="rId5"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3.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3.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3.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3.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3496D"/>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0508722" y="4111577"/>
            <a:ext cx="10707063" cy="8458580"/>
          </a:xfrm>
          <a:custGeom>
            <a:avLst/>
            <a:gdLst/>
            <a:ahLst/>
            <a:cxnLst/>
            <a:rect r="r" b="b" t="t" l="l"/>
            <a:pathLst>
              <a:path h="8458580" w="10707063">
                <a:moveTo>
                  <a:pt x="0" y="0"/>
                </a:moveTo>
                <a:lnTo>
                  <a:pt x="10707063" y="0"/>
                </a:lnTo>
                <a:lnTo>
                  <a:pt x="10707063" y="8458580"/>
                </a:lnTo>
                <a:lnTo>
                  <a:pt x="0" y="8458580"/>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60070" y="1774855"/>
            <a:ext cx="17488187" cy="5319432"/>
            <a:chOff x="0" y="0"/>
            <a:chExt cx="23317583" cy="7092575"/>
          </a:xfrm>
        </p:grpSpPr>
        <p:sp>
          <p:nvSpPr>
            <p:cNvPr name="Freeform 4" id="4"/>
            <p:cNvSpPr/>
            <p:nvPr/>
          </p:nvSpPr>
          <p:spPr>
            <a:xfrm flipH="false" flipV="false" rot="0">
              <a:off x="0" y="0"/>
              <a:ext cx="23317583" cy="7092576"/>
            </a:xfrm>
            <a:custGeom>
              <a:avLst/>
              <a:gdLst/>
              <a:ahLst/>
              <a:cxnLst/>
              <a:rect r="r" b="b" t="t" l="l"/>
              <a:pathLst>
                <a:path h="7092576" w="23317583">
                  <a:moveTo>
                    <a:pt x="0" y="0"/>
                  </a:moveTo>
                  <a:lnTo>
                    <a:pt x="23317583" y="0"/>
                  </a:lnTo>
                  <a:lnTo>
                    <a:pt x="23317583" y="7092576"/>
                  </a:lnTo>
                  <a:lnTo>
                    <a:pt x="0" y="7092576"/>
                  </a:lnTo>
                  <a:close/>
                </a:path>
              </a:pathLst>
            </a:custGeom>
            <a:blipFill>
              <a:blip r:embed="rId4">
                <a:alphaModFix amt="0"/>
              </a:blip>
              <a:stretch>
                <a:fillRect l="0" t="-30903" r="21569" b="30419"/>
              </a:stretch>
            </a:blipFill>
          </p:spPr>
        </p:sp>
        <p:sp>
          <p:nvSpPr>
            <p:cNvPr name="TextBox 5" id="5"/>
            <p:cNvSpPr txBox="true"/>
            <p:nvPr/>
          </p:nvSpPr>
          <p:spPr>
            <a:xfrm>
              <a:off x="0" y="-9525"/>
              <a:ext cx="23317583" cy="7102100"/>
            </a:xfrm>
            <a:prstGeom prst="rect">
              <a:avLst/>
            </a:prstGeom>
          </p:spPr>
          <p:txBody>
            <a:bodyPr anchor="ctr" rtlCol="false" tIns="0" lIns="0" bIns="0" rIns="0"/>
            <a:lstStyle/>
            <a:p>
              <a:pPr algn="l">
                <a:lnSpc>
                  <a:spcPts val="7200"/>
                </a:lnSpc>
              </a:pPr>
              <a:r>
                <a:rPr lang="en-US" sz="6000" b="true">
                  <a:solidFill>
                    <a:srgbClr val="FFFFFF"/>
                  </a:solidFill>
                  <a:latin typeface="Cambria Bold"/>
                  <a:ea typeface="Cambria Bold"/>
                  <a:cs typeface="Cambria Bold"/>
                  <a:sym typeface="Cambria Bold"/>
                </a:rPr>
                <a:t>Full UVM Testbench for</a:t>
              </a:r>
            </a:p>
            <a:p>
              <a:pPr algn="l">
                <a:lnSpc>
                  <a:spcPts val="7200"/>
                </a:lnSpc>
              </a:pPr>
              <a:r>
                <a:rPr lang="en-US" sz="6000" b="true">
                  <a:solidFill>
                    <a:srgbClr val="FFFFFF"/>
                  </a:solidFill>
                  <a:latin typeface="Cambria Bold"/>
                  <a:ea typeface="Cambria Bold"/>
                  <a:cs typeface="Cambria Bold"/>
                  <a:sym typeface="Cambria Bold"/>
                </a:rPr>
                <a:t>AHB to APB Bridge Design</a:t>
              </a:r>
            </a:p>
          </p:txBody>
        </p:sp>
      </p:grpSp>
      <p:grpSp>
        <p:nvGrpSpPr>
          <p:cNvPr name="Group 6" id="6"/>
          <p:cNvGrpSpPr/>
          <p:nvPr/>
        </p:nvGrpSpPr>
        <p:grpSpPr>
          <a:xfrm rot="0">
            <a:off x="560070" y="1676591"/>
            <a:ext cx="12344400" cy="548640"/>
            <a:chOff x="0" y="0"/>
            <a:chExt cx="16459200" cy="731520"/>
          </a:xfrm>
        </p:grpSpPr>
        <p:sp>
          <p:nvSpPr>
            <p:cNvPr name="Freeform 7" id="7"/>
            <p:cNvSpPr/>
            <p:nvPr/>
          </p:nvSpPr>
          <p:spPr>
            <a:xfrm flipH="false" flipV="false" rot="0">
              <a:off x="0" y="0"/>
              <a:ext cx="16459200" cy="731520"/>
            </a:xfrm>
            <a:custGeom>
              <a:avLst/>
              <a:gdLst/>
              <a:ahLst/>
              <a:cxnLst/>
              <a:rect r="r" b="b" t="t" l="l"/>
              <a:pathLst>
                <a:path h="731520" w="16459200">
                  <a:moveTo>
                    <a:pt x="0" y="0"/>
                  </a:moveTo>
                  <a:lnTo>
                    <a:pt x="16459200" y="0"/>
                  </a:lnTo>
                  <a:lnTo>
                    <a:pt x="16459200" y="731520"/>
                  </a:lnTo>
                  <a:lnTo>
                    <a:pt x="0" y="731520"/>
                  </a:lnTo>
                  <a:close/>
                </a:path>
              </a:pathLst>
            </a:custGeom>
            <a:blipFill>
              <a:blip r:embed="rId5">
                <a:alphaModFix amt="0"/>
              </a:blip>
              <a:stretch>
                <a:fillRect l="0" t="-1075000" r="0" b="-1075000"/>
              </a:stretch>
            </a:blipFill>
          </p:spPr>
        </p:sp>
        <p:sp>
          <p:nvSpPr>
            <p:cNvPr name="TextBox 8" id="8"/>
            <p:cNvSpPr txBox="true"/>
            <p:nvPr/>
          </p:nvSpPr>
          <p:spPr>
            <a:xfrm>
              <a:off x="0" y="-47625"/>
              <a:ext cx="16459200" cy="779145"/>
            </a:xfrm>
            <a:prstGeom prst="rect">
              <a:avLst/>
            </a:prstGeom>
          </p:spPr>
          <p:txBody>
            <a:bodyPr anchor="ctr" rtlCol="false" tIns="0" lIns="0" bIns="0" rIns="0"/>
            <a:lstStyle/>
            <a:p>
              <a:pPr algn="l">
                <a:lnSpc>
                  <a:spcPts val="2340"/>
                </a:lnSpc>
              </a:pPr>
              <a:r>
                <a:rPr lang="en-US" b="true" sz="1950" spc="449">
                  <a:solidFill>
                    <a:srgbClr val="AEC2DA"/>
                  </a:solidFill>
                  <a:latin typeface="Calibri (MS) Bold"/>
                  <a:ea typeface="Calibri (MS) Bold"/>
                  <a:cs typeface="Calibri (MS) Bold"/>
                  <a:sym typeface="Calibri (MS) Bold"/>
                </a:rPr>
                <a:t>  DIGITAL VERIFICATION</a:t>
              </a:r>
            </a:p>
          </p:txBody>
        </p:sp>
      </p:grpSp>
      <p:sp>
        <p:nvSpPr>
          <p:cNvPr name="AutoShape 9" id="9"/>
          <p:cNvSpPr/>
          <p:nvPr/>
        </p:nvSpPr>
        <p:spPr>
          <a:xfrm>
            <a:off x="560070" y="6598277"/>
            <a:ext cx="3076930" cy="0"/>
          </a:xfrm>
          <a:prstGeom prst="line">
            <a:avLst/>
          </a:prstGeom>
          <a:ln cap="rnd" w="28575">
            <a:solidFill>
              <a:srgbClr val="DCE3EC"/>
            </a:solidFill>
            <a:prstDash val="solid"/>
            <a:headEnd type="none" len="sm" w="sm"/>
            <a:tailEnd type="none" len="sm" w="sm"/>
          </a:ln>
        </p:spPr>
      </p:sp>
      <p:grpSp>
        <p:nvGrpSpPr>
          <p:cNvPr name="Group 10" id="10"/>
          <p:cNvGrpSpPr/>
          <p:nvPr/>
        </p:nvGrpSpPr>
        <p:grpSpPr>
          <a:xfrm rot="0">
            <a:off x="560070" y="6583989"/>
            <a:ext cx="11481689" cy="510297"/>
            <a:chOff x="0" y="0"/>
            <a:chExt cx="16459200" cy="731520"/>
          </a:xfrm>
        </p:grpSpPr>
        <p:sp>
          <p:nvSpPr>
            <p:cNvPr name="Freeform 11" id="11"/>
            <p:cNvSpPr/>
            <p:nvPr/>
          </p:nvSpPr>
          <p:spPr>
            <a:xfrm flipH="false" flipV="false" rot="0">
              <a:off x="0" y="0"/>
              <a:ext cx="16459200" cy="731520"/>
            </a:xfrm>
            <a:custGeom>
              <a:avLst/>
              <a:gdLst/>
              <a:ahLst/>
              <a:cxnLst/>
              <a:rect r="r" b="b" t="t" l="l"/>
              <a:pathLst>
                <a:path h="731520" w="16459200">
                  <a:moveTo>
                    <a:pt x="0" y="0"/>
                  </a:moveTo>
                  <a:lnTo>
                    <a:pt x="16459200" y="0"/>
                  </a:lnTo>
                  <a:lnTo>
                    <a:pt x="16459200" y="731520"/>
                  </a:lnTo>
                  <a:lnTo>
                    <a:pt x="0" y="731520"/>
                  </a:lnTo>
                  <a:close/>
                </a:path>
              </a:pathLst>
            </a:custGeom>
            <a:blipFill>
              <a:blip r:embed="rId4">
                <a:alphaModFix amt="0"/>
              </a:blip>
              <a:stretch>
                <a:fillRect l="0" t="-388413" r="0" b="-388413"/>
              </a:stretch>
            </a:blipFill>
          </p:spPr>
        </p:sp>
        <p:sp>
          <p:nvSpPr>
            <p:cNvPr name="TextBox 12" id="12"/>
            <p:cNvSpPr txBox="true"/>
            <p:nvPr/>
          </p:nvSpPr>
          <p:spPr>
            <a:xfrm>
              <a:off x="0" y="-47625"/>
              <a:ext cx="16459200" cy="779145"/>
            </a:xfrm>
            <a:prstGeom prst="rect">
              <a:avLst/>
            </a:prstGeom>
          </p:spPr>
          <p:txBody>
            <a:bodyPr anchor="ctr" rtlCol="false" tIns="0" lIns="0" bIns="0" rIns="0"/>
            <a:lstStyle/>
            <a:p>
              <a:pPr algn="l">
                <a:lnSpc>
                  <a:spcPts val="2520"/>
                </a:lnSpc>
              </a:pPr>
              <a:r>
                <a:rPr lang="en-US" sz="2100">
                  <a:solidFill>
                    <a:srgbClr val="AEC2DA"/>
                  </a:solidFill>
                  <a:latin typeface="Calibri (MS)"/>
                  <a:ea typeface="Calibri (MS)"/>
                  <a:cs typeface="Calibri (MS)"/>
                  <a:sym typeface="Calibri (MS)"/>
                </a:rPr>
                <a:t>Supervisor </a:t>
              </a:r>
              <a:r>
                <a:rPr lang="en-US" sz="2100">
                  <a:solidFill>
                    <a:srgbClr val="9FB2CC"/>
                  </a:solidFill>
                  <a:latin typeface="Calibri (MS)"/>
                  <a:ea typeface="Calibri (MS)"/>
                  <a:cs typeface="Calibri (MS)"/>
                  <a:sym typeface="Calibri (MS)"/>
                </a:rPr>
                <a:t> </a:t>
              </a:r>
              <a:r>
                <a:rPr lang="en-US" sz="2100">
                  <a:solidFill>
                    <a:srgbClr val="FFFFFF"/>
                  </a:solidFill>
                  <a:latin typeface="Calibri (MS)"/>
                  <a:ea typeface="Calibri (MS)"/>
                  <a:cs typeface="Calibri (MS)"/>
                  <a:sym typeface="Calibri (MS)"/>
                </a:rPr>
                <a:t>Eng. Omar Younis</a:t>
              </a:r>
            </a:p>
          </p:txBody>
        </p:sp>
      </p:grpSp>
      <p:sp>
        <p:nvSpPr>
          <p:cNvPr name="Freeform 13" id="13"/>
          <p:cNvSpPr/>
          <p:nvPr/>
        </p:nvSpPr>
        <p:spPr>
          <a:xfrm flipH="false" flipV="false" rot="0">
            <a:off x="15919404" y="-301942"/>
            <a:ext cx="2574863" cy="2574863"/>
          </a:xfrm>
          <a:custGeom>
            <a:avLst/>
            <a:gdLst/>
            <a:ahLst/>
            <a:cxnLst/>
            <a:rect r="r" b="b" t="t" l="l"/>
            <a:pathLst>
              <a:path h="2574863" w="2574863">
                <a:moveTo>
                  <a:pt x="0" y="0"/>
                </a:moveTo>
                <a:lnTo>
                  <a:pt x="2574862" y="0"/>
                </a:lnTo>
                <a:lnTo>
                  <a:pt x="2574862" y="2574862"/>
                </a:lnTo>
                <a:lnTo>
                  <a:pt x="0" y="2574862"/>
                </a:lnTo>
                <a:lnTo>
                  <a:pt x="0" y="0"/>
                </a:lnTo>
                <a:close/>
              </a:path>
            </a:pathLst>
          </a:custGeom>
          <a:blipFill>
            <a:blip r:embed="rId6"/>
            <a:stretch>
              <a:fillRect l="0" t="0" r="0" b="0"/>
            </a:stretch>
          </a:blipFill>
        </p:spPr>
      </p:sp>
      <p:grpSp>
        <p:nvGrpSpPr>
          <p:cNvPr name="Group 14" id="14"/>
          <p:cNvGrpSpPr/>
          <p:nvPr/>
        </p:nvGrpSpPr>
        <p:grpSpPr>
          <a:xfrm rot="0">
            <a:off x="157086" y="9885045"/>
            <a:ext cx="10972800" cy="411480"/>
            <a:chOff x="0" y="0"/>
            <a:chExt cx="14630400" cy="548640"/>
          </a:xfrm>
        </p:grpSpPr>
        <p:sp>
          <p:nvSpPr>
            <p:cNvPr name="Freeform 15" id="1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16" id="1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TextBox 2" id="2"/>
          <p:cNvSpPr txBox="true"/>
          <p:nvPr/>
        </p:nvSpPr>
        <p:spPr>
          <a:xfrm rot="0">
            <a:off x="234864" y="-15240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Agenda</a:t>
            </a:r>
          </a:p>
        </p:txBody>
      </p:sp>
      <p:sp>
        <p:nvSpPr>
          <p:cNvPr name="TextBox 3" id="3"/>
          <p:cNvSpPr txBox="true"/>
          <p:nvPr/>
        </p:nvSpPr>
        <p:spPr>
          <a:xfrm rot="0">
            <a:off x="1308872" y="1361445"/>
            <a:ext cx="11910300" cy="7896855"/>
          </a:xfrm>
          <a:prstGeom prst="rect">
            <a:avLst/>
          </a:prstGeom>
        </p:spPr>
        <p:txBody>
          <a:bodyPr anchor="t" rtlCol="false" tIns="0" lIns="0" bIns="0" rIns="0">
            <a:spAutoFit/>
          </a:bodyPr>
          <a:lstStyle/>
          <a:p>
            <a:pPr algn="l">
              <a:lnSpc>
                <a:spcPts val="7840"/>
              </a:lnSpc>
            </a:pPr>
            <a:r>
              <a:rPr lang="en-US" sz="5600" b="true">
                <a:solidFill>
                  <a:srgbClr val="2D5986"/>
                </a:solidFill>
                <a:latin typeface="Cambria Bold"/>
                <a:ea typeface="Cambria Bold"/>
                <a:cs typeface="Cambria Bold"/>
                <a:sym typeface="Cambria Bold"/>
              </a:rPr>
              <a:t>1-  Role of each member</a:t>
            </a:r>
          </a:p>
          <a:p>
            <a:pPr algn="l">
              <a:lnSpc>
                <a:spcPts val="7840"/>
              </a:lnSpc>
            </a:pPr>
            <a:r>
              <a:rPr lang="en-US" sz="5600" b="true">
                <a:solidFill>
                  <a:srgbClr val="2D5986"/>
                </a:solidFill>
                <a:latin typeface="Cambria Bold"/>
                <a:ea typeface="Cambria Bold"/>
                <a:cs typeface="Cambria Bold"/>
                <a:sym typeface="Cambria Bold"/>
              </a:rPr>
              <a:t>2- Testbench Architecture</a:t>
            </a:r>
          </a:p>
          <a:p>
            <a:pPr algn="l">
              <a:lnSpc>
                <a:spcPts val="7840"/>
              </a:lnSpc>
            </a:pPr>
            <a:r>
              <a:rPr lang="en-US" sz="5600" b="true">
                <a:solidFill>
                  <a:srgbClr val="2D5986"/>
                </a:solidFill>
                <a:latin typeface="Cambria Bold"/>
                <a:ea typeface="Cambria Bold"/>
                <a:cs typeface="Cambria Bold"/>
                <a:sym typeface="Cambria Bold"/>
              </a:rPr>
              <a:t>3- AHB Agent</a:t>
            </a:r>
          </a:p>
          <a:p>
            <a:pPr algn="l">
              <a:lnSpc>
                <a:spcPts val="7840"/>
              </a:lnSpc>
            </a:pPr>
            <a:r>
              <a:rPr lang="en-US" sz="5600" b="true">
                <a:solidFill>
                  <a:srgbClr val="2D5986"/>
                </a:solidFill>
                <a:latin typeface="Cambria Bold"/>
                <a:ea typeface="Cambria Bold"/>
                <a:cs typeface="Cambria Bold"/>
                <a:sym typeface="Cambria Bold"/>
              </a:rPr>
              <a:t>4- APB Agent</a:t>
            </a:r>
          </a:p>
          <a:p>
            <a:pPr algn="l">
              <a:lnSpc>
                <a:spcPts val="7840"/>
              </a:lnSpc>
            </a:pPr>
            <a:r>
              <a:rPr lang="en-US" sz="5600" b="true">
                <a:solidFill>
                  <a:srgbClr val="2D5986"/>
                </a:solidFill>
                <a:latin typeface="Cambria Bold"/>
                <a:ea typeface="Cambria Bold"/>
                <a:cs typeface="Cambria Bold"/>
                <a:sym typeface="Cambria Bold"/>
              </a:rPr>
              <a:t>5- Scoreboard </a:t>
            </a:r>
          </a:p>
          <a:p>
            <a:pPr algn="l">
              <a:lnSpc>
                <a:spcPts val="7840"/>
              </a:lnSpc>
            </a:pPr>
            <a:r>
              <a:rPr lang="en-US" sz="5600" b="true">
                <a:solidFill>
                  <a:srgbClr val="2D5986"/>
                </a:solidFill>
                <a:latin typeface="Cambria Bold"/>
                <a:ea typeface="Cambria Bold"/>
                <a:cs typeface="Cambria Bold"/>
                <a:sym typeface="Cambria Bold"/>
              </a:rPr>
              <a:t>6- Assertions</a:t>
            </a:r>
          </a:p>
          <a:p>
            <a:pPr algn="l">
              <a:lnSpc>
                <a:spcPts val="7840"/>
              </a:lnSpc>
            </a:pPr>
            <a:r>
              <a:rPr lang="en-US" sz="5600" b="true">
                <a:solidFill>
                  <a:srgbClr val="2D5986"/>
                </a:solidFill>
                <a:latin typeface="Cambria Bold"/>
                <a:ea typeface="Cambria Bold"/>
                <a:cs typeface="Cambria Bold"/>
                <a:sym typeface="Cambria Bold"/>
              </a:rPr>
              <a:t>7- Covergroups </a:t>
            </a:r>
          </a:p>
          <a:p>
            <a:pPr algn="l">
              <a:lnSpc>
                <a:spcPts val="7840"/>
              </a:lnSpc>
              <a:spcBef>
                <a:spcPct val="0"/>
              </a:spcBef>
            </a:pPr>
            <a:r>
              <a:rPr lang="en-US" b="true" sz="5600">
                <a:solidFill>
                  <a:srgbClr val="2D5986"/>
                </a:solidFill>
                <a:latin typeface="Cambria Bold"/>
                <a:ea typeface="Cambria Bold"/>
                <a:cs typeface="Cambria Bold"/>
                <a:sym typeface="Cambria Bold"/>
              </a:rPr>
              <a:t>8- Coverage Closure</a:t>
            </a:r>
          </a:p>
        </p:txBody>
      </p:sp>
      <p:grpSp>
        <p:nvGrpSpPr>
          <p:cNvPr name="Group 4" id="4"/>
          <p:cNvGrpSpPr/>
          <p:nvPr/>
        </p:nvGrpSpPr>
        <p:grpSpPr>
          <a:xfrm rot="0">
            <a:off x="157086" y="9885045"/>
            <a:ext cx="10972800" cy="411480"/>
            <a:chOff x="0" y="0"/>
            <a:chExt cx="14630400" cy="548640"/>
          </a:xfrm>
        </p:grpSpPr>
        <p:sp>
          <p:nvSpPr>
            <p:cNvPr name="Freeform 5" id="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 id="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7" id="7"/>
          <p:cNvGrpSpPr/>
          <p:nvPr/>
        </p:nvGrpSpPr>
        <p:grpSpPr>
          <a:xfrm rot="0">
            <a:off x="16911828" y="9710928"/>
            <a:ext cx="685800" cy="411480"/>
            <a:chOff x="0" y="0"/>
            <a:chExt cx="914400" cy="548640"/>
          </a:xfrm>
        </p:grpSpPr>
        <p:sp>
          <p:nvSpPr>
            <p:cNvPr name="Freeform 8" id="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9" id="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grpSp>
        <p:nvGrpSpPr>
          <p:cNvPr name="Group 2" id="2"/>
          <p:cNvGrpSpPr/>
          <p:nvPr/>
        </p:nvGrpSpPr>
        <p:grpSpPr>
          <a:xfrm rot="0">
            <a:off x="16911828" y="9710928"/>
            <a:ext cx="685800" cy="411480"/>
            <a:chOff x="0" y="0"/>
            <a:chExt cx="914400" cy="548640"/>
          </a:xfrm>
        </p:grpSpPr>
        <p:sp>
          <p:nvSpPr>
            <p:cNvPr name="Freeform 3" id="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4" id="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3</a:t>
              </a:r>
            </a:p>
          </p:txBody>
        </p:sp>
      </p:grpSp>
      <p:graphicFrame>
        <p:nvGraphicFramePr>
          <p:cNvPr name="Table 5" id="5"/>
          <p:cNvGraphicFramePr>
            <a:graphicFrameLocks noGrp="true"/>
          </p:cNvGraphicFramePr>
          <p:nvPr/>
        </p:nvGraphicFramePr>
        <p:xfrm>
          <a:off x="1971446" y="1908597"/>
          <a:ext cx="14345108" cy="7047439"/>
        </p:xfrm>
        <a:graphic>
          <a:graphicData uri="http://schemas.openxmlformats.org/drawingml/2006/table">
            <a:tbl>
              <a:tblPr/>
              <a:tblGrid>
                <a:gridCol w="2624381"/>
                <a:gridCol w="5261111"/>
                <a:gridCol w="6459616"/>
              </a:tblGrid>
              <a:tr h="1113745">
                <a:tc>
                  <a:txBody>
                    <a:bodyPr anchor="t" rtlCol="false"/>
                    <a:lstStyle/>
                    <a:p>
                      <a:pPr algn="ctr">
                        <a:lnSpc>
                          <a:spcPts val="4200"/>
                        </a:lnSpc>
                        <a:defRPr/>
                      </a:pPr>
                      <a:r>
                        <a:rPr lang="en-US" sz="3000" b="true">
                          <a:solidFill>
                            <a:srgbClr val="000000"/>
                          </a:solidFill>
                          <a:latin typeface="Calibri (MS) Bold"/>
                          <a:ea typeface="Calibri (MS) Bold"/>
                          <a:cs typeface="Calibri (MS) Bold"/>
                          <a:sym typeface="Calibri (MS) Bold"/>
                        </a:rPr>
                        <a:t>Name</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solidFill>
                      <a:srgbClr val="E9EDF4"/>
                    </a:solidFill>
                  </a:tcPr>
                </a:tc>
                <a:tc>
                  <a:txBody>
                    <a:bodyPr anchor="t" rtlCol="false"/>
                    <a:lstStyle/>
                    <a:p>
                      <a:pPr algn="ctr">
                        <a:lnSpc>
                          <a:spcPts val="4200"/>
                        </a:lnSpc>
                        <a:defRPr/>
                      </a:pPr>
                      <a:r>
                        <a:rPr lang="en-US" sz="3000" b="true">
                          <a:solidFill>
                            <a:srgbClr val="000000"/>
                          </a:solidFill>
                          <a:latin typeface="Calibri (MS) Bold"/>
                          <a:ea typeface="Calibri (MS) Bold"/>
                          <a:cs typeface="Calibri (MS) Bold"/>
                          <a:sym typeface="Calibri (MS) Bold"/>
                        </a:rPr>
                        <a:t>Primary Ownership</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solidFill>
                      <a:srgbClr val="E9EDF4"/>
                    </a:solidFill>
                  </a:tcPr>
                </a:tc>
                <a:tc>
                  <a:txBody>
                    <a:bodyPr anchor="t" rtlCol="false"/>
                    <a:lstStyle/>
                    <a:p>
                      <a:pPr algn="ctr">
                        <a:lnSpc>
                          <a:spcPts val="4200"/>
                        </a:lnSpc>
                        <a:defRPr/>
                      </a:pPr>
                      <a:r>
                        <a:rPr lang="en-US" sz="3000" b="true">
                          <a:solidFill>
                            <a:srgbClr val="000000"/>
                          </a:solidFill>
                          <a:latin typeface="Calibri (MS) Bold"/>
                          <a:ea typeface="Calibri (MS) Bold"/>
                          <a:cs typeface="Calibri (MS) Bold"/>
                          <a:sym typeface="Calibri (MS) Bold"/>
                        </a:rPr>
                        <a:t>UVM Implementation</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solidFill>
                      <a:srgbClr val="E9EDF4"/>
                    </a:solidFill>
                  </a:tcPr>
                </a:tc>
              </a:tr>
              <a:tr h="1113745">
                <a:tc>
                  <a:txBody>
                    <a:bodyPr anchor="t" rtlCol="false"/>
                    <a:lstStyle/>
                    <a:p>
                      <a:pPr algn="ctr">
                        <a:lnSpc>
                          <a:spcPts val="4200"/>
                        </a:lnSpc>
                        <a:defRPr/>
                      </a:pPr>
                      <a:r>
                        <a:rPr lang="en-US" sz="3000" b="true">
                          <a:solidFill>
                            <a:srgbClr val="000000"/>
                          </a:solidFill>
                          <a:latin typeface="Calibri (MS) Bold"/>
                          <a:ea typeface="Calibri (MS) Bold"/>
                          <a:cs typeface="Calibri (MS) Bold"/>
                          <a:sym typeface="Calibri (MS) Bold"/>
                        </a:rPr>
                        <a:t>Marwa</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solidFill>
                      <a:srgbClr val="E9EDF4"/>
                    </a:solidFill>
                  </a:tcPr>
                </a:tc>
                <a:tc>
                  <a:txBody>
                    <a:bodyPr anchor="t" rtlCol="false"/>
                    <a:lstStyle/>
                    <a:p>
                      <a:pPr algn="ctr">
                        <a:lnSpc>
                          <a:spcPts val="4200"/>
                        </a:lnSpc>
                        <a:defRPr/>
                      </a:pPr>
                      <a:r>
                        <a:rPr lang="en-US" sz="3000">
                          <a:solidFill>
                            <a:srgbClr val="000000"/>
                          </a:solidFill>
                          <a:latin typeface="Calibri (MS)"/>
                          <a:ea typeface="Calibri (MS)"/>
                          <a:cs typeface="Calibri (MS)"/>
                          <a:sym typeface="Calibri (MS)"/>
                        </a:rPr>
                        <a:t>AHB</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libri (MS)"/>
                          <a:ea typeface="Calibri (MS)"/>
                          <a:cs typeface="Calibri (MS)"/>
                          <a:sym typeface="Calibri (MS)"/>
                        </a:rPr>
                        <a:t>AHB Agent</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tcPr>
                </a:tc>
              </a:tr>
              <a:tr h="1113745">
                <a:tc>
                  <a:txBody>
                    <a:bodyPr anchor="t" rtlCol="false"/>
                    <a:lstStyle/>
                    <a:p>
                      <a:pPr algn="ctr">
                        <a:lnSpc>
                          <a:spcPts val="4200"/>
                        </a:lnSpc>
                        <a:defRPr/>
                      </a:pPr>
                      <a:r>
                        <a:rPr lang="en-US" sz="3000" b="true">
                          <a:solidFill>
                            <a:srgbClr val="000000"/>
                          </a:solidFill>
                          <a:latin typeface="Calibri (MS) Bold"/>
                          <a:ea typeface="Calibri (MS) Bold"/>
                          <a:cs typeface="Calibri (MS) Bold"/>
                          <a:sym typeface="Calibri (MS) Bold"/>
                        </a:rPr>
                        <a:t>Abdelrahman</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solidFill>
                      <a:srgbClr val="E9EDF4"/>
                    </a:solidFill>
                  </a:tcPr>
                </a:tc>
                <a:tc>
                  <a:txBody>
                    <a:bodyPr anchor="t" rtlCol="false"/>
                    <a:lstStyle/>
                    <a:p>
                      <a:pPr algn="ctr">
                        <a:lnSpc>
                          <a:spcPts val="4200"/>
                        </a:lnSpc>
                        <a:defRPr/>
                      </a:pPr>
                      <a:r>
                        <a:rPr lang="en-US" sz="3000">
                          <a:solidFill>
                            <a:srgbClr val="000000"/>
                          </a:solidFill>
                          <a:latin typeface="Calibri (MS)"/>
                          <a:ea typeface="Calibri (MS)"/>
                          <a:cs typeface="Calibri (MS)"/>
                          <a:sym typeface="Calibri (MS)"/>
                        </a:rPr>
                        <a:t>APB</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libri (MS)"/>
                          <a:ea typeface="Calibri (MS)"/>
                          <a:cs typeface="Calibri (MS)"/>
                          <a:sym typeface="Calibri (MS)"/>
                        </a:rPr>
                        <a:t>APB Agent</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tcPr>
                </a:tc>
              </a:tr>
              <a:tr h="1113745">
                <a:tc>
                  <a:txBody>
                    <a:bodyPr anchor="t" rtlCol="false"/>
                    <a:lstStyle/>
                    <a:p>
                      <a:pPr algn="ctr">
                        <a:lnSpc>
                          <a:spcPts val="4200"/>
                        </a:lnSpc>
                        <a:defRPr/>
                      </a:pPr>
                      <a:r>
                        <a:rPr lang="en-US" sz="3000" b="true">
                          <a:solidFill>
                            <a:srgbClr val="000000"/>
                          </a:solidFill>
                          <a:latin typeface="Calibri (MS) Bold"/>
                          <a:ea typeface="Calibri (MS) Bold"/>
                          <a:cs typeface="Calibri (MS) Bold"/>
                          <a:sym typeface="Calibri (MS) Bold"/>
                        </a:rPr>
                        <a:t>Menna</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solidFill>
                      <a:srgbClr val="E9EDF4"/>
                    </a:solidFill>
                  </a:tcPr>
                </a:tc>
                <a:tc>
                  <a:txBody>
                    <a:bodyPr anchor="t" rtlCol="false"/>
                    <a:lstStyle/>
                    <a:p>
                      <a:pPr algn="ctr">
                        <a:lnSpc>
                          <a:spcPts val="4200"/>
                        </a:lnSpc>
                        <a:defRPr/>
                      </a:pPr>
                      <a:r>
                        <a:rPr lang="en-US" sz="3000">
                          <a:solidFill>
                            <a:srgbClr val="000000"/>
                          </a:solidFill>
                          <a:latin typeface="Calibri (MS)"/>
                          <a:ea typeface="Calibri (MS)"/>
                          <a:cs typeface="Calibri (MS)"/>
                          <a:sym typeface="Calibri (MS)"/>
                        </a:rPr>
                        <a:t> Assertions + C</a:t>
                      </a:r>
                      <a:r>
                        <a:rPr lang="en-US" sz="3000">
                          <a:solidFill>
                            <a:srgbClr val="000000"/>
                          </a:solidFill>
                          <a:latin typeface="Calibri (MS)"/>
                          <a:ea typeface="Calibri (MS)"/>
                          <a:cs typeface="Calibri (MS)"/>
                          <a:sym typeface="Calibri (MS)"/>
                        </a:rPr>
                        <a:t>DC + Reset </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libri (MS)"/>
                          <a:ea typeface="Calibri (MS)"/>
                          <a:cs typeface="Calibri (MS)"/>
                          <a:sym typeface="Calibri (MS)"/>
                        </a:rPr>
                        <a:t>Top + reset + Assertions</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tcPr>
                </a:tc>
              </a:tr>
              <a:tr h="1478714">
                <a:tc>
                  <a:txBody>
                    <a:bodyPr anchor="t" rtlCol="false"/>
                    <a:lstStyle/>
                    <a:p>
                      <a:pPr algn="ctr">
                        <a:lnSpc>
                          <a:spcPts val="4200"/>
                        </a:lnSpc>
                        <a:defRPr/>
                      </a:pPr>
                      <a:r>
                        <a:rPr lang="en-US" sz="3000" b="true">
                          <a:solidFill>
                            <a:srgbClr val="000000"/>
                          </a:solidFill>
                          <a:latin typeface="Calibri (MS) Bold"/>
                          <a:ea typeface="Calibri (MS) Bold"/>
                          <a:cs typeface="Calibri (MS) Bold"/>
                          <a:sym typeface="Calibri (MS) Bold"/>
                        </a:rPr>
                        <a:t>Sameh</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solidFill>
                      <a:srgbClr val="E9EDF4"/>
                    </a:solidFill>
                  </a:tcPr>
                </a:tc>
                <a:tc>
                  <a:txBody>
                    <a:bodyPr anchor="t" rtlCol="false"/>
                    <a:lstStyle/>
                    <a:p>
                      <a:pPr algn="ctr">
                        <a:lnSpc>
                          <a:spcPts val="4200"/>
                        </a:lnSpc>
                        <a:defRPr/>
                      </a:pPr>
                      <a:r>
                        <a:rPr lang="en-US" sz="3000">
                          <a:solidFill>
                            <a:srgbClr val="000000"/>
                          </a:solidFill>
                          <a:latin typeface="Calibri (MS)"/>
                          <a:ea typeface="Calibri (MS)"/>
                          <a:cs typeface="Calibri (MS)"/>
                          <a:sym typeface="Calibri (MS)"/>
                        </a:rPr>
                        <a:t>Bridge/Data Integrity</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libri (MS)"/>
                          <a:ea typeface="Calibri (MS)"/>
                          <a:cs typeface="Calibri (MS)"/>
                          <a:sym typeface="Calibri (MS)"/>
                        </a:rPr>
                        <a:t>E</a:t>
                      </a:r>
                      <a:r>
                        <a:rPr lang="en-US" sz="3000">
                          <a:solidFill>
                            <a:srgbClr val="000000"/>
                          </a:solidFill>
                          <a:latin typeface="Calibri (MS)"/>
                          <a:ea typeface="Calibri (MS)"/>
                          <a:cs typeface="Calibri (MS)"/>
                          <a:sym typeface="Calibri (MS)"/>
                        </a:rPr>
                        <a:t>nv + Scoreboard + Reference Model + Tests</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tcPr>
                </a:tc>
              </a:tr>
              <a:tr h="1113745">
                <a:tc>
                  <a:txBody>
                    <a:bodyPr anchor="t" rtlCol="false"/>
                    <a:lstStyle/>
                    <a:p>
                      <a:pPr algn="ctr">
                        <a:lnSpc>
                          <a:spcPts val="4200"/>
                        </a:lnSpc>
                        <a:defRPr/>
                      </a:pPr>
                      <a:r>
                        <a:rPr lang="en-US" sz="3000" b="true">
                          <a:solidFill>
                            <a:srgbClr val="000000"/>
                          </a:solidFill>
                          <a:latin typeface="Calibri (MS) Bold"/>
                          <a:ea typeface="Calibri (MS) Bold"/>
                          <a:cs typeface="Calibri (MS) Bold"/>
                          <a:sym typeface="Calibri (MS) Bold"/>
                        </a:rPr>
                        <a:t>Roaa</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solidFill>
                      <a:srgbClr val="E9EDF4"/>
                    </a:solidFill>
                  </a:tcPr>
                </a:tc>
                <a:tc>
                  <a:txBody>
                    <a:bodyPr anchor="t" rtlCol="false"/>
                    <a:lstStyle/>
                    <a:p>
                      <a:pPr algn="ctr">
                        <a:lnSpc>
                          <a:spcPts val="4200"/>
                        </a:lnSpc>
                        <a:defRPr/>
                      </a:pPr>
                      <a:r>
                        <a:rPr lang="en-US" sz="3000">
                          <a:solidFill>
                            <a:srgbClr val="000000"/>
                          </a:solidFill>
                          <a:latin typeface="Calibri (MS)"/>
                          <a:ea typeface="Calibri (MS)"/>
                          <a:cs typeface="Calibri (MS)"/>
                          <a:sym typeface="Calibri (MS)"/>
                        </a:rPr>
                        <a:t>Tests + Coverage Strategy</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libri (MS)"/>
                          <a:ea typeface="Calibri (MS)"/>
                          <a:cs typeface="Calibri (MS)"/>
                          <a:sym typeface="Calibri (MS)"/>
                        </a:rPr>
                        <a:t>Sequences + Covergroups</a:t>
                      </a:r>
                      <a:endParaRPr lang="en-US" sz="1100"/>
                    </a:p>
                  </a:txBody>
                  <a:tcPr marL="104775" marR="104775" marT="104775" marB="104775" anchor="ctr">
                    <a:lnL cmpd="sng" algn="ctr" cap="flat" w="38100">
                      <a:solidFill>
                        <a:srgbClr val="23496D"/>
                      </a:solidFill>
                      <a:prstDash val="solid"/>
                      <a:round/>
                      <a:headEnd type="none" w="med" len="med"/>
                      <a:tailEnd type="none" w="med" len="med"/>
                    </a:lnL>
                    <a:lnR cmpd="sng" algn="ctr" cap="flat" w="38100">
                      <a:solidFill>
                        <a:srgbClr val="23496D"/>
                      </a:solidFill>
                      <a:prstDash val="solid"/>
                      <a:round/>
                      <a:headEnd type="none" w="med" len="med"/>
                      <a:tailEnd type="none" w="med" len="med"/>
                    </a:lnR>
                    <a:lnT cmpd="sng" algn="ctr" cap="flat" w="38100">
                      <a:solidFill>
                        <a:srgbClr val="23496D"/>
                      </a:solidFill>
                      <a:prstDash val="solid"/>
                      <a:round/>
                      <a:headEnd type="none" w="med" len="med"/>
                      <a:tailEnd type="none" w="med" len="med"/>
                    </a:lnT>
                    <a:lnB cmpd="sng" algn="ctr" cap="flat" w="38100">
                      <a:solidFill>
                        <a:srgbClr val="23496D"/>
                      </a:solidFill>
                      <a:prstDash val="solid"/>
                      <a:round/>
                      <a:headEnd type="none" w="med" len="med"/>
                      <a:tailEnd type="none" w="med" len="med"/>
                    </a:lnB>
                  </a:tcPr>
                </a:tc>
              </a:tr>
            </a:tbl>
          </a:graphicData>
        </a:graphic>
      </p:graphicFrame>
      <p:sp>
        <p:nvSpPr>
          <p:cNvPr name="TextBox 6" id="6"/>
          <p:cNvSpPr txBox="true"/>
          <p:nvPr/>
        </p:nvSpPr>
        <p:spPr>
          <a:xfrm rot="0">
            <a:off x="66675" y="90086"/>
            <a:ext cx="15690437" cy="1226312"/>
          </a:xfrm>
          <a:prstGeom prst="rect">
            <a:avLst/>
          </a:prstGeom>
        </p:spPr>
        <p:txBody>
          <a:bodyPr anchor="t" rtlCol="false" tIns="0" lIns="0" bIns="0" rIns="0">
            <a:spAutoFit/>
          </a:bodyPr>
          <a:lstStyle/>
          <a:p>
            <a:pPr algn="l">
              <a:lnSpc>
                <a:spcPts val="10012"/>
              </a:lnSpc>
              <a:spcBef>
                <a:spcPct val="0"/>
              </a:spcBef>
            </a:pPr>
            <a:r>
              <a:rPr lang="en-US" sz="7151">
                <a:solidFill>
                  <a:srgbClr val="2D5986"/>
                </a:solidFill>
                <a:latin typeface="Anton"/>
                <a:ea typeface="Anton"/>
                <a:cs typeface="Anton"/>
                <a:sym typeface="Anton"/>
              </a:rPr>
              <a:t>Role of Each Member</a:t>
            </a:r>
          </a:p>
        </p:txBody>
      </p:sp>
      <p:grpSp>
        <p:nvGrpSpPr>
          <p:cNvPr name="Group 7" id="7"/>
          <p:cNvGrpSpPr/>
          <p:nvPr/>
        </p:nvGrpSpPr>
        <p:grpSpPr>
          <a:xfrm rot="0">
            <a:off x="157086" y="9885045"/>
            <a:ext cx="10972800" cy="411480"/>
            <a:chOff x="0" y="0"/>
            <a:chExt cx="14630400" cy="548640"/>
          </a:xfrm>
        </p:grpSpPr>
        <p:sp>
          <p:nvSpPr>
            <p:cNvPr name="Freeform 8" id="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9" id="9"/>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grpSp>
        <p:nvGrpSpPr>
          <p:cNvPr name="Group 2" id="2"/>
          <p:cNvGrpSpPr/>
          <p:nvPr/>
        </p:nvGrpSpPr>
        <p:grpSpPr>
          <a:xfrm rot="0">
            <a:off x="157086" y="9885045"/>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5" id="5"/>
          <p:cNvGrpSpPr/>
          <p:nvPr/>
        </p:nvGrpSpPr>
        <p:grpSpPr>
          <a:xfrm rot="0">
            <a:off x="17030471" y="9875520"/>
            <a:ext cx="685800" cy="411480"/>
            <a:chOff x="0" y="0"/>
            <a:chExt cx="914400" cy="548640"/>
          </a:xfrm>
        </p:grpSpPr>
        <p:sp>
          <p:nvSpPr>
            <p:cNvPr name="Freeform 6" id="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 id="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4</a:t>
              </a:r>
            </a:p>
          </p:txBody>
        </p:sp>
      </p:grpSp>
      <p:sp>
        <p:nvSpPr>
          <p:cNvPr name="Freeform 8" id="8"/>
          <p:cNvSpPr/>
          <p:nvPr/>
        </p:nvSpPr>
        <p:spPr>
          <a:xfrm flipH="false" flipV="false" rot="0">
            <a:off x="2653690" y="1028700"/>
            <a:ext cx="12980620" cy="8958054"/>
          </a:xfrm>
          <a:custGeom>
            <a:avLst/>
            <a:gdLst/>
            <a:ahLst/>
            <a:cxnLst/>
            <a:rect r="r" b="b" t="t" l="l"/>
            <a:pathLst>
              <a:path h="8958054" w="12980620">
                <a:moveTo>
                  <a:pt x="0" y="0"/>
                </a:moveTo>
                <a:lnTo>
                  <a:pt x="12980620" y="0"/>
                </a:lnTo>
                <a:lnTo>
                  <a:pt x="12980620" y="8958054"/>
                </a:lnTo>
                <a:lnTo>
                  <a:pt x="0" y="8958054"/>
                </a:lnTo>
                <a:lnTo>
                  <a:pt x="0" y="0"/>
                </a:lnTo>
                <a:close/>
              </a:path>
            </a:pathLst>
          </a:custGeom>
          <a:blipFill>
            <a:blip r:embed="rId3"/>
            <a:stretch>
              <a:fillRect l="0" t="0" r="0" b="0"/>
            </a:stretch>
          </a:blipFill>
        </p:spPr>
      </p:sp>
      <p:sp>
        <p:nvSpPr>
          <p:cNvPr name="TextBox 9" id="9"/>
          <p:cNvSpPr txBox="true"/>
          <p:nvPr/>
        </p:nvSpPr>
        <p:spPr>
          <a:xfrm rot="0">
            <a:off x="0" y="-123825"/>
            <a:ext cx="11910300" cy="1094735"/>
          </a:xfrm>
          <a:prstGeom prst="rect">
            <a:avLst/>
          </a:prstGeom>
        </p:spPr>
        <p:txBody>
          <a:bodyPr anchor="t" rtlCol="false" tIns="0" lIns="0" bIns="0" rIns="0">
            <a:spAutoFit/>
          </a:bodyPr>
          <a:lstStyle/>
          <a:p>
            <a:pPr algn="l">
              <a:lnSpc>
                <a:spcPts val="8960"/>
              </a:lnSpc>
              <a:spcBef>
                <a:spcPct val="0"/>
              </a:spcBef>
            </a:pPr>
            <a:r>
              <a:rPr lang="en-US" sz="6400">
                <a:solidFill>
                  <a:srgbClr val="2D5986"/>
                </a:solidFill>
                <a:latin typeface="Anton"/>
                <a:ea typeface="Anton"/>
                <a:cs typeface="Anton"/>
                <a:sym typeface="Anton"/>
              </a:rPr>
              <a:t>UVM Architecture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15714277" y="0"/>
            <a:ext cx="4407982" cy="1407455"/>
          </a:xfrm>
          <a:custGeom>
            <a:avLst/>
            <a:gdLst/>
            <a:ahLst/>
            <a:cxnLst/>
            <a:rect r="r" b="b" t="t" l="l"/>
            <a:pathLst>
              <a:path h="1407455" w="4407982">
                <a:moveTo>
                  <a:pt x="0" y="0"/>
                </a:moveTo>
                <a:lnTo>
                  <a:pt x="4407982" y="0"/>
                </a:lnTo>
                <a:lnTo>
                  <a:pt x="4407982" y="1407455"/>
                </a:lnTo>
                <a:lnTo>
                  <a:pt x="0" y="14074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774268" y="3029953"/>
            <a:ext cx="9144000" cy="4227095"/>
          </a:xfrm>
          <a:custGeom>
            <a:avLst/>
            <a:gdLst/>
            <a:ahLst/>
            <a:cxnLst/>
            <a:rect r="r" b="b" t="t" l="l"/>
            <a:pathLst>
              <a:path h="4227095" w="9144000">
                <a:moveTo>
                  <a:pt x="0" y="0"/>
                </a:moveTo>
                <a:lnTo>
                  <a:pt x="9144000" y="0"/>
                </a:lnTo>
                <a:lnTo>
                  <a:pt x="9144000" y="4227094"/>
                </a:lnTo>
                <a:lnTo>
                  <a:pt x="0" y="4227094"/>
                </a:lnTo>
                <a:lnTo>
                  <a:pt x="0" y="0"/>
                </a:lnTo>
                <a:close/>
              </a:path>
            </a:pathLst>
          </a:custGeom>
          <a:blipFill>
            <a:blip r:embed="rId4"/>
            <a:stretch>
              <a:fillRect l="0" t="0" r="0" b="0"/>
            </a:stretch>
          </a:blipFill>
        </p:spPr>
      </p:sp>
      <p:grpSp>
        <p:nvGrpSpPr>
          <p:cNvPr name="Group 4" id="4"/>
          <p:cNvGrpSpPr/>
          <p:nvPr/>
        </p:nvGrpSpPr>
        <p:grpSpPr>
          <a:xfrm rot="0">
            <a:off x="57150" y="1407455"/>
            <a:ext cx="8572500" cy="1428750"/>
            <a:chOff x="0" y="0"/>
            <a:chExt cx="2629989" cy="438331"/>
          </a:xfrm>
        </p:grpSpPr>
        <p:sp>
          <p:nvSpPr>
            <p:cNvPr name="Freeform 5" id="5"/>
            <p:cNvSpPr/>
            <p:nvPr/>
          </p:nvSpPr>
          <p:spPr>
            <a:xfrm flipH="false" flipV="false" rot="0">
              <a:off x="0" y="0"/>
              <a:ext cx="2629989" cy="438331"/>
            </a:xfrm>
            <a:custGeom>
              <a:avLst/>
              <a:gdLst/>
              <a:ahLst/>
              <a:cxnLst/>
              <a:rect r="r" b="b" t="t" l="l"/>
              <a:pathLst>
                <a:path h="438331" w="2629989">
                  <a:moveTo>
                    <a:pt x="2426789" y="0"/>
                  </a:moveTo>
                  <a:cubicBezTo>
                    <a:pt x="2539013" y="0"/>
                    <a:pt x="2629989" y="98124"/>
                    <a:pt x="2629989" y="219166"/>
                  </a:cubicBezTo>
                  <a:cubicBezTo>
                    <a:pt x="2629989" y="340208"/>
                    <a:pt x="2539013" y="438331"/>
                    <a:pt x="2426789" y="438331"/>
                  </a:cubicBezTo>
                  <a:lnTo>
                    <a:pt x="203200" y="438331"/>
                  </a:lnTo>
                  <a:cubicBezTo>
                    <a:pt x="90976" y="438331"/>
                    <a:pt x="0" y="340208"/>
                    <a:pt x="0" y="219166"/>
                  </a:cubicBezTo>
                  <a:cubicBezTo>
                    <a:pt x="0" y="98124"/>
                    <a:pt x="90976" y="0"/>
                    <a:pt x="203200" y="0"/>
                  </a:cubicBezTo>
                  <a:close/>
                </a:path>
              </a:pathLst>
            </a:custGeom>
            <a:solidFill>
              <a:srgbClr val="23496D"/>
            </a:solidFill>
          </p:spPr>
        </p:sp>
        <p:sp>
          <p:nvSpPr>
            <p:cNvPr name="TextBox 6" id="6"/>
            <p:cNvSpPr txBox="true"/>
            <p:nvPr/>
          </p:nvSpPr>
          <p:spPr>
            <a:xfrm>
              <a:off x="0" y="-57150"/>
              <a:ext cx="2629989" cy="495481"/>
            </a:xfrm>
            <a:prstGeom prst="rect">
              <a:avLst/>
            </a:prstGeom>
          </p:spPr>
          <p:txBody>
            <a:bodyPr anchor="ctr" rtlCol="false" tIns="50800" lIns="50800" bIns="50800" rIns="50800"/>
            <a:lstStyle/>
            <a:p>
              <a:pPr algn="ctr">
                <a:lnSpc>
                  <a:spcPts val="3240"/>
                </a:lnSpc>
              </a:pPr>
              <a:r>
                <a:rPr lang="en-US" sz="2700" b="true">
                  <a:solidFill>
                    <a:srgbClr val="F7F5F1"/>
                  </a:solidFill>
                  <a:latin typeface="Calibri (MS) Bold"/>
                  <a:ea typeface="Calibri (MS) Bold"/>
                  <a:cs typeface="Calibri (MS) Bold"/>
                  <a:sym typeface="Calibri (MS) Bold"/>
                </a:rPr>
                <a:t>1. Sequencer</a:t>
              </a:r>
            </a:p>
            <a:p>
              <a:pPr algn="ctr">
                <a:lnSpc>
                  <a:spcPts val="2520"/>
                </a:lnSpc>
              </a:pPr>
              <a:r>
                <a:rPr lang="en-US" sz="2100">
                  <a:solidFill>
                    <a:srgbClr val="F7F5F1"/>
                  </a:solidFill>
                  <a:latin typeface="Calibri (MS)"/>
                  <a:ea typeface="Calibri (MS)"/>
                  <a:cs typeface="Calibri (MS)"/>
                  <a:sym typeface="Calibri (MS)"/>
                </a:rPr>
                <a:t>Manages the delivery of AHB sequence items to the driver.</a:t>
              </a:r>
            </a:p>
          </p:txBody>
        </p:sp>
      </p:grpSp>
      <p:sp>
        <p:nvSpPr>
          <p:cNvPr name="TextBox 7" id="7"/>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3496D"/>
                </a:solidFill>
                <a:latin typeface="Anton"/>
                <a:ea typeface="Anton"/>
                <a:cs typeface="Anton"/>
                <a:sym typeface="Anton"/>
              </a:rPr>
              <a:t>AHB Master Agent</a:t>
            </a:r>
          </a:p>
        </p:txBody>
      </p:sp>
      <p:grpSp>
        <p:nvGrpSpPr>
          <p:cNvPr name="Group 8" id="8"/>
          <p:cNvGrpSpPr/>
          <p:nvPr/>
        </p:nvGrpSpPr>
        <p:grpSpPr>
          <a:xfrm rot="0">
            <a:off x="57150" y="3016769"/>
            <a:ext cx="8572500" cy="1547068"/>
            <a:chOff x="0" y="0"/>
            <a:chExt cx="2257778" cy="407458"/>
          </a:xfrm>
        </p:grpSpPr>
        <p:sp>
          <p:nvSpPr>
            <p:cNvPr name="Freeform 9" id="9"/>
            <p:cNvSpPr/>
            <p:nvPr/>
          </p:nvSpPr>
          <p:spPr>
            <a:xfrm flipH="false" flipV="false" rot="0">
              <a:off x="0" y="0"/>
              <a:ext cx="2257778" cy="407458"/>
            </a:xfrm>
            <a:custGeom>
              <a:avLst/>
              <a:gdLst/>
              <a:ahLst/>
              <a:cxnLst/>
              <a:rect r="r" b="b" t="t" l="l"/>
              <a:pathLst>
                <a:path h="407458" w="2257778">
                  <a:moveTo>
                    <a:pt x="2054578" y="0"/>
                  </a:moveTo>
                  <a:cubicBezTo>
                    <a:pt x="2166802" y="0"/>
                    <a:pt x="2257778" y="91213"/>
                    <a:pt x="2257778" y="203729"/>
                  </a:cubicBezTo>
                  <a:cubicBezTo>
                    <a:pt x="2257778" y="316246"/>
                    <a:pt x="2166802" y="407458"/>
                    <a:pt x="2054578" y="407458"/>
                  </a:cubicBezTo>
                  <a:lnTo>
                    <a:pt x="203200" y="407458"/>
                  </a:lnTo>
                  <a:cubicBezTo>
                    <a:pt x="90976" y="407458"/>
                    <a:pt x="0" y="316246"/>
                    <a:pt x="0" y="203729"/>
                  </a:cubicBezTo>
                  <a:cubicBezTo>
                    <a:pt x="0" y="91213"/>
                    <a:pt x="90976" y="0"/>
                    <a:pt x="203200" y="0"/>
                  </a:cubicBezTo>
                  <a:close/>
                </a:path>
              </a:pathLst>
            </a:custGeom>
            <a:solidFill>
              <a:srgbClr val="DCE3EC"/>
            </a:solidFill>
          </p:spPr>
        </p:sp>
        <p:sp>
          <p:nvSpPr>
            <p:cNvPr name="TextBox 10" id="10"/>
            <p:cNvSpPr txBox="true"/>
            <p:nvPr/>
          </p:nvSpPr>
          <p:spPr>
            <a:xfrm>
              <a:off x="0" y="-57150"/>
              <a:ext cx="2257778" cy="464608"/>
            </a:xfrm>
            <a:prstGeom prst="rect">
              <a:avLst/>
            </a:prstGeom>
          </p:spPr>
          <p:txBody>
            <a:bodyPr anchor="ctr" rtlCol="false" tIns="50800" lIns="50800" bIns="50800" rIns="50800"/>
            <a:lstStyle/>
            <a:p>
              <a:pPr algn="ctr">
                <a:lnSpc>
                  <a:spcPts val="3240"/>
                </a:lnSpc>
              </a:pPr>
              <a:r>
                <a:rPr lang="en-US" sz="2700" b="true">
                  <a:solidFill>
                    <a:srgbClr val="23496D"/>
                  </a:solidFill>
                  <a:latin typeface="Calibri (MS) Bold"/>
                  <a:ea typeface="Calibri (MS) Bold"/>
                  <a:cs typeface="Calibri (MS) Bold"/>
                  <a:sym typeface="Calibri (MS) Bold"/>
                </a:rPr>
                <a:t>2. Driver</a:t>
              </a:r>
            </a:p>
            <a:p>
              <a:pPr algn="ctr">
                <a:lnSpc>
                  <a:spcPts val="2520"/>
                </a:lnSpc>
              </a:pPr>
              <a:r>
                <a:rPr lang="en-US" sz="2100">
                  <a:solidFill>
                    <a:srgbClr val="23496D"/>
                  </a:solidFill>
                  <a:latin typeface="Calibri (MS)"/>
                  <a:ea typeface="Calibri (MS)"/>
                  <a:cs typeface="Calibri (MS)"/>
                  <a:sym typeface="Calibri (MS)"/>
                </a:rPr>
                <a:t>Drives AHB address &amp; control and write-data signals, handles transfer handshaking and wait states, and captures read data and response status.</a:t>
              </a:r>
            </a:p>
            <a:p>
              <a:pPr algn="ctr">
                <a:lnSpc>
                  <a:spcPts val="2520"/>
                </a:lnSpc>
              </a:pPr>
            </a:p>
          </p:txBody>
        </p:sp>
      </p:grpSp>
      <p:grpSp>
        <p:nvGrpSpPr>
          <p:cNvPr name="Group 11" id="11"/>
          <p:cNvGrpSpPr/>
          <p:nvPr/>
        </p:nvGrpSpPr>
        <p:grpSpPr>
          <a:xfrm rot="0">
            <a:off x="57150" y="4744401"/>
            <a:ext cx="8572500" cy="1547068"/>
            <a:chOff x="0" y="0"/>
            <a:chExt cx="2058868" cy="371561"/>
          </a:xfrm>
        </p:grpSpPr>
        <p:sp>
          <p:nvSpPr>
            <p:cNvPr name="Freeform 12" id="12"/>
            <p:cNvSpPr/>
            <p:nvPr/>
          </p:nvSpPr>
          <p:spPr>
            <a:xfrm flipH="false" flipV="false" rot="0">
              <a:off x="0" y="0"/>
              <a:ext cx="2058868" cy="371561"/>
            </a:xfrm>
            <a:custGeom>
              <a:avLst/>
              <a:gdLst/>
              <a:ahLst/>
              <a:cxnLst/>
              <a:rect r="r" b="b" t="t" l="l"/>
              <a:pathLst>
                <a:path h="371561" w="2058868">
                  <a:moveTo>
                    <a:pt x="1855668" y="0"/>
                  </a:moveTo>
                  <a:cubicBezTo>
                    <a:pt x="1967893" y="0"/>
                    <a:pt x="2058868" y="83177"/>
                    <a:pt x="2058868" y="185781"/>
                  </a:cubicBezTo>
                  <a:cubicBezTo>
                    <a:pt x="2058868" y="288384"/>
                    <a:pt x="1967893" y="371561"/>
                    <a:pt x="1855668" y="371561"/>
                  </a:cubicBezTo>
                  <a:lnTo>
                    <a:pt x="203200" y="371561"/>
                  </a:lnTo>
                  <a:cubicBezTo>
                    <a:pt x="90976" y="371561"/>
                    <a:pt x="0" y="288384"/>
                    <a:pt x="0" y="185781"/>
                  </a:cubicBezTo>
                  <a:cubicBezTo>
                    <a:pt x="0" y="83177"/>
                    <a:pt x="90976" y="0"/>
                    <a:pt x="203200" y="0"/>
                  </a:cubicBezTo>
                  <a:close/>
                </a:path>
              </a:pathLst>
            </a:custGeom>
            <a:solidFill>
              <a:srgbClr val="23496D"/>
            </a:solidFill>
          </p:spPr>
        </p:sp>
        <p:sp>
          <p:nvSpPr>
            <p:cNvPr name="TextBox 13" id="13"/>
            <p:cNvSpPr txBox="true"/>
            <p:nvPr/>
          </p:nvSpPr>
          <p:spPr>
            <a:xfrm>
              <a:off x="0" y="-57150"/>
              <a:ext cx="2058868" cy="428711"/>
            </a:xfrm>
            <a:prstGeom prst="rect">
              <a:avLst/>
            </a:prstGeom>
          </p:spPr>
          <p:txBody>
            <a:bodyPr anchor="ctr" rtlCol="false" tIns="50800" lIns="50800" bIns="50800" rIns="50800"/>
            <a:lstStyle/>
            <a:p>
              <a:pPr algn="ctr">
                <a:lnSpc>
                  <a:spcPts val="3239"/>
                </a:lnSpc>
              </a:pPr>
              <a:r>
                <a:rPr lang="en-US" sz="2699" b="true">
                  <a:solidFill>
                    <a:srgbClr val="F7F5F1"/>
                  </a:solidFill>
                  <a:latin typeface="Calibri (MS) Bold"/>
                  <a:ea typeface="Calibri (MS) Bold"/>
                  <a:cs typeface="Calibri (MS) Bold"/>
                  <a:sym typeface="Calibri (MS) Bold"/>
                </a:rPr>
                <a:t>3. Monitor</a:t>
              </a:r>
            </a:p>
            <a:p>
              <a:pPr algn="ctr">
                <a:lnSpc>
                  <a:spcPts val="2520"/>
                </a:lnSpc>
              </a:pPr>
              <a:r>
                <a:rPr lang="en-US" sz="2100">
                  <a:solidFill>
                    <a:srgbClr val="F7F5F1"/>
                  </a:solidFill>
                  <a:latin typeface="Calibri (MS)"/>
                  <a:ea typeface="Calibri (MS)"/>
                  <a:cs typeface="Calibri (MS)"/>
                  <a:sym typeface="Calibri (MS)"/>
                </a:rPr>
                <a:t>Passively detects accepted AHB transfers, collects address/control and data/response information, counts wait states, and publishes completed transactions.</a:t>
              </a:r>
            </a:p>
          </p:txBody>
        </p:sp>
      </p:grpSp>
      <p:grpSp>
        <p:nvGrpSpPr>
          <p:cNvPr name="Group 14" id="14"/>
          <p:cNvGrpSpPr/>
          <p:nvPr/>
        </p:nvGrpSpPr>
        <p:grpSpPr>
          <a:xfrm rot="0">
            <a:off x="57150" y="6472444"/>
            <a:ext cx="8572500" cy="1428750"/>
            <a:chOff x="0" y="0"/>
            <a:chExt cx="2257778" cy="376296"/>
          </a:xfrm>
        </p:grpSpPr>
        <p:sp>
          <p:nvSpPr>
            <p:cNvPr name="Freeform 15" id="15"/>
            <p:cNvSpPr/>
            <p:nvPr/>
          </p:nvSpPr>
          <p:spPr>
            <a:xfrm flipH="false" flipV="false" rot="0">
              <a:off x="0" y="0"/>
              <a:ext cx="2257778" cy="376296"/>
            </a:xfrm>
            <a:custGeom>
              <a:avLst/>
              <a:gdLst/>
              <a:ahLst/>
              <a:cxnLst/>
              <a:rect r="r" b="b" t="t" l="l"/>
              <a:pathLst>
                <a:path h="376296" w="2257778">
                  <a:moveTo>
                    <a:pt x="2054578" y="0"/>
                  </a:moveTo>
                  <a:cubicBezTo>
                    <a:pt x="2166802" y="0"/>
                    <a:pt x="2257778" y="84237"/>
                    <a:pt x="2257778" y="188148"/>
                  </a:cubicBezTo>
                  <a:cubicBezTo>
                    <a:pt x="2257778" y="292059"/>
                    <a:pt x="2166802" y="376296"/>
                    <a:pt x="2054578" y="376296"/>
                  </a:cubicBezTo>
                  <a:lnTo>
                    <a:pt x="203200" y="376296"/>
                  </a:lnTo>
                  <a:cubicBezTo>
                    <a:pt x="90976" y="376296"/>
                    <a:pt x="0" y="292059"/>
                    <a:pt x="0" y="188148"/>
                  </a:cubicBezTo>
                  <a:cubicBezTo>
                    <a:pt x="0" y="84237"/>
                    <a:pt x="90976" y="0"/>
                    <a:pt x="203200" y="0"/>
                  </a:cubicBezTo>
                  <a:close/>
                </a:path>
              </a:pathLst>
            </a:custGeom>
            <a:solidFill>
              <a:srgbClr val="DCE3EC"/>
            </a:solidFill>
          </p:spPr>
        </p:sp>
        <p:sp>
          <p:nvSpPr>
            <p:cNvPr name="TextBox 16" id="16"/>
            <p:cNvSpPr txBox="true"/>
            <p:nvPr/>
          </p:nvSpPr>
          <p:spPr>
            <a:xfrm>
              <a:off x="0" y="-57150"/>
              <a:ext cx="2257778" cy="433446"/>
            </a:xfrm>
            <a:prstGeom prst="rect">
              <a:avLst/>
            </a:prstGeom>
          </p:spPr>
          <p:txBody>
            <a:bodyPr anchor="ctr" rtlCol="false" tIns="50800" lIns="50800" bIns="50800" rIns="50800"/>
            <a:lstStyle/>
            <a:p>
              <a:pPr algn="ctr">
                <a:lnSpc>
                  <a:spcPts val="3240"/>
                </a:lnSpc>
              </a:pPr>
              <a:r>
                <a:rPr lang="en-US" sz="2700" b="true">
                  <a:solidFill>
                    <a:srgbClr val="23496D"/>
                  </a:solidFill>
                  <a:latin typeface="Calibri (MS) Bold"/>
                  <a:ea typeface="Calibri (MS) Bold"/>
                  <a:cs typeface="Calibri (MS) Bold"/>
                  <a:sym typeface="Calibri (MS) Bold"/>
                </a:rPr>
                <a:t>4. Configuration</a:t>
              </a:r>
            </a:p>
            <a:p>
              <a:pPr algn="ctr">
                <a:lnSpc>
                  <a:spcPts val="2520"/>
                </a:lnSpc>
              </a:pPr>
              <a:r>
                <a:rPr lang="en-US" sz="2100">
                  <a:solidFill>
                    <a:srgbClr val="23496D"/>
                  </a:solidFill>
                  <a:latin typeface="Calibri (MS)"/>
                  <a:ea typeface="Calibri (MS)"/>
                  <a:cs typeface="Calibri (MS)"/>
                  <a:sym typeface="Calibri (MS)"/>
                </a:rPr>
                <a:t>Stores the AHB virtual interface and the active/passive mode, allowing the agent and its components to access shared configuration.</a:t>
              </a:r>
            </a:p>
          </p:txBody>
        </p:sp>
      </p:grpSp>
      <p:grpSp>
        <p:nvGrpSpPr>
          <p:cNvPr name="Group 17" id="17"/>
          <p:cNvGrpSpPr/>
          <p:nvPr/>
        </p:nvGrpSpPr>
        <p:grpSpPr>
          <a:xfrm rot="0">
            <a:off x="57150" y="8082169"/>
            <a:ext cx="8572500" cy="1428750"/>
            <a:chOff x="0" y="0"/>
            <a:chExt cx="2257778" cy="376296"/>
          </a:xfrm>
        </p:grpSpPr>
        <p:sp>
          <p:nvSpPr>
            <p:cNvPr name="Freeform 18" id="18"/>
            <p:cNvSpPr/>
            <p:nvPr/>
          </p:nvSpPr>
          <p:spPr>
            <a:xfrm flipH="false" flipV="false" rot="0">
              <a:off x="0" y="0"/>
              <a:ext cx="2257778" cy="376296"/>
            </a:xfrm>
            <a:custGeom>
              <a:avLst/>
              <a:gdLst/>
              <a:ahLst/>
              <a:cxnLst/>
              <a:rect r="r" b="b" t="t" l="l"/>
              <a:pathLst>
                <a:path h="376296" w="2257778">
                  <a:moveTo>
                    <a:pt x="2054578" y="0"/>
                  </a:moveTo>
                  <a:cubicBezTo>
                    <a:pt x="2166802" y="0"/>
                    <a:pt x="2257778" y="84237"/>
                    <a:pt x="2257778" y="188148"/>
                  </a:cubicBezTo>
                  <a:cubicBezTo>
                    <a:pt x="2257778" y="292059"/>
                    <a:pt x="2166802" y="376296"/>
                    <a:pt x="2054578" y="376296"/>
                  </a:cubicBezTo>
                  <a:lnTo>
                    <a:pt x="203200" y="376296"/>
                  </a:lnTo>
                  <a:cubicBezTo>
                    <a:pt x="90976" y="376296"/>
                    <a:pt x="0" y="292059"/>
                    <a:pt x="0" y="188148"/>
                  </a:cubicBezTo>
                  <a:cubicBezTo>
                    <a:pt x="0" y="84237"/>
                    <a:pt x="90976" y="0"/>
                    <a:pt x="203200" y="0"/>
                  </a:cubicBezTo>
                  <a:close/>
                </a:path>
              </a:pathLst>
            </a:custGeom>
            <a:solidFill>
              <a:srgbClr val="23496D"/>
            </a:solidFill>
          </p:spPr>
        </p:sp>
        <p:sp>
          <p:nvSpPr>
            <p:cNvPr name="TextBox 19" id="19"/>
            <p:cNvSpPr txBox="true"/>
            <p:nvPr/>
          </p:nvSpPr>
          <p:spPr>
            <a:xfrm>
              <a:off x="0" y="-57150"/>
              <a:ext cx="2257778" cy="433446"/>
            </a:xfrm>
            <a:prstGeom prst="rect">
              <a:avLst/>
            </a:prstGeom>
          </p:spPr>
          <p:txBody>
            <a:bodyPr anchor="ctr" rtlCol="false" tIns="50800" lIns="50800" bIns="50800" rIns="50800"/>
            <a:lstStyle/>
            <a:p>
              <a:pPr algn="ctr">
                <a:lnSpc>
                  <a:spcPts val="3240"/>
                </a:lnSpc>
              </a:pPr>
              <a:r>
                <a:rPr lang="en-US" sz="2700" b="true">
                  <a:solidFill>
                    <a:srgbClr val="F7F5F1"/>
                  </a:solidFill>
                  <a:latin typeface="Calibri (MS) Bold"/>
                  <a:ea typeface="Calibri (MS) Bold"/>
                  <a:cs typeface="Calibri (MS) Bold"/>
                  <a:sym typeface="Calibri (MS) Bold"/>
                </a:rPr>
                <a:t>5. AHB Interface</a:t>
              </a:r>
            </a:p>
            <a:p>
              <a:pPr algn="ctr">
                <a:lnSpc>
                  <a:spcPts val="2520"/>
                </a:lnSpc>
              </a:pPr>
              <a:r>
                <a:rPr lang="en-US" sz="2100">
                  <a:solidFill>
                    <a:srgbClr val="F7F5F1"/>
                  </a:solidFill>
                  <a:latin typeface="Calibri (MS)"/>
                  <a:ea typeface="Calibri (MS)"/>
                  <a:cs typeface="Calibri (MS)"/>
                  <a:sym typeface="Calibri (MS)"/>
                </a:rPr>
                <a:t>Defines the AHB signals and driver/monitor clocking blocks to coordinate signal driving and sampling on HCLK</a:t>
              </a:r>
            </a:p>
          </p:txBody>
        </p:sp>
      </p:grpSp>
      <p:grpSp>
        <p:nvGrpSpPr>
          <p:cNvPr name="Group 20" id="20"/>
          <p:cNvGrpSpPr/>
          <p:nvPr/>
        </p:nvGrpSpPr>
        <p:grpSpPr>
          <a:xfrm rot="0">
            <a:off x="157086" y="9885045"/>
            <a:ext cx="10972800" cy="411480"/>
            <a:chOff x="0" y="0"/>
            <a:chExt cx="14630400" cy="548640"/>
          </a:xfrm>
        </p:grpSpPr>
        <p:sp>
          <p:nvSpPr>
            <p:cNvPr name="Freeform 21" id="2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5">
                <a:alphaModFix amt="0"/>
              </a:blip>
              <a:stretch>
                <a:fillRect l="0" t="-469601" r="0" b="-469601"/>
              </a:stretch>
            </a:blipFill>
          </p:spPr>
        </p:sp>
        <p:sp>
          <p:nvSpPr>
            <p:cNvPr name="TextBox 22" id="22"/>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23" id="23"/>
          <p:cNvGrpSpPr/>
          <p:nvPr/>
        </p:nvGrpSpPr>
        <p:grpSpPr>
          <a:xfrm rot="0">
            <a:off x="16911828" y="9710928"/>
            <a:ext cx="685800" cy="411480"/>
            <a:chOff x="0" y="0"/>
            <a:chExt cx="914400" cy="548640"/>
          </a:xfrm>
        </p:grpSpPr>
        <p:sp>
          <p:nvSpPr>
            <p:cNvPr name="Freeform 24" id="2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5">
                <a:alphaModFix amt="0"/>
              </a:blip>
              <a:stretch>
                <a:fillRect l="-26982" t="0" r="-26982" b="0"/>
              </a:stretch>
            </a:blipFill>
          </p:spPr>
        </p:sp>
        <p:sp>
          <p:nvSpPr>
            <p:cNvPr name="TextBox 25" id="25"/>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15714277" y="0"/>
            <a:ext cx="4407982" cy="1407455"/>
          </a:xfrm>
          <a:custGeom>
            <a:avLst/>
            <a:gdLst/>
            <a:ahLst/>
            <a:cxnLst/>
            <a:rect r="r" b="b" t="t" l="l"/>
            <a:pathLst>
              <a:path h="1407455" w="4407982">
                <a:moveTo>
                  <a:pt x="0" y="0"/>
                </a:moveTo>
                <a:lnTo>
                  <a:pt x="4407982" y="0"/>
                </a:lnTo>
                <a:lnTo>
                  <a:pt x="4407982" y="1407455"/>
                </a:lnTo>
                <a:lnTo>
                  <a:pt x="0" y="14074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17050" y="1653586"/>
            <a:ext cx="5955150" cy="1394668"/>
            <a:chOff x="0" y="0"/>
            <a:chExt cx="1568435" cy="367320"/>
          </a:xfrm>
        </p:grpSpPr>
        <p:sp>
          <p:nvSpPr>
            <p:cNvPr name="Freeform 4" id="4"/>
            <p:cNvSpPr/>
            <p:nvPr/>
          </p:nvSpPr>
          <p:spPr>
            <a:xfrm flipH="false" flipV="false" rot="0">
              <a:off x="0" y="0"/>
              <a:ext cx="1568435" cy="367320"/>
            </a:xfrm>
            <a:custGeom>
              <a:avLst/>
              <a:gdLst/>
              <a:ahLst/>
              <a:cxnLst/>
              <a:rect r="r" b="b" t="t" l="l"/>
              <a:pathLst>
                <a:path h="367320" w="1568435">
                  <a:moveTo>
                    <a:pt x="1365235" y="0"/>
                  </a:moveTo>
                  <a:cubicBezTo>
                    <a:pt x="1477459" y="0"/>
                    <a:pt x="1568435" y="82227"/>
                    <a:pt x="1568435" y="183660"/>
                  </a:cubicBezTo>
                  <a:cubicBezTo>
                    <a:pt x="1568435" y="285093"/>
                    <a:pt x="1477459" y="367320"/>
                    <a:pt x="1365235" y="367320"/>
                  </a:cubicBezTo>
                  <a:lnTo>
                    <a:pt x="203200" y="367320"/>
                  </a:lnTo>
                  <a:cubicBezTo>
                    <a:pt x="90976" y="367320"/>
                    <a:pt x="0" y="285093"/>
                    <a:pt x="0" y="183660"/>
                  </a:cubicBezTo>
                  <a:cubicBezTo>
                    <a:pt x="0" y="82227"/>
                    <a:pt x="90976" y="0"/>
                    <a:pt x="203200" y="0"/>
                  </a:cubicBezTo>
                  <a:close/>
                </a:path>
              </a:pathLst>
            </a:custGeom>
            <a:solidFill>
              <a:srgbClr val="23496D"/>
            </a:solidFill>
          </p:spPr>
        </p:sp>
        <p:sp>
          <p:nvSpPr>
            <p:cNvPr name="TextBox 5" id="5"/>
            <p:cNvSpPr txBox="true"/>
            <p:nvPr/>
          </p:nvSpPr>
          <p:spPr>
            <a:xfrm>
              <a:off x="0" y="-133350"/>
              <a:ext cx="1568435" cy="500670"/>
            </a:xfrm>
            <a:prstGeom prst="rect">
              <a:avLst/>
            </a:prstGeom>
          </p:spPr>
          <p:txBody>
            <a:bodyPr anchor="ctr" rtlCol="false" tIns="50800" lIns="50800" bIns="50800" rIns="50800"/>
            <a:lstStyle/>
            <a:p>
              <a:pPr algn="ctr">
                <a:lnSpc>
                  <a:spcPts val="7199"/>
                </a:lnSpc>
              </a:pPr>
              <a:r>
                <a:rPr lang="en-US" b="true" sz="5999">
                  <a:solidFill>
                    <a:srgbClr val="F7F5F1"/>
                  </a:solidFill>
                  <a:latin typeface="Calibri (MS) Bold"/>
                  <a:ea typeface="Calibri (MS) Bold"/>
                  <a:cs typeface="Calibri (MS) Bold"/>
                  <a:sym typeface="Calibri (MS) Bold"/>
                </a:rPr>
                <a:t> Driver's Job</a:t>
              </a:r>
            </a:p>
          </p:txBody>
        </p:sp>
      </p:grpSp>
      <p:sp>
        <p:nvSpPr>
          <p:cNvPr name="TextBox 6" id="6"/>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AHB Driver</a:t>
            </a:r>
          </a:p>
        </p:txBody>
      </p:sp>
      <p:sp>
        <p:nvSpPr>
          <p:cNvPr name="TextBox 7" id="7"/>
          <p:cNvSpPr txBox="true"/>
          <p:nvPr/>
        </p:nvSpPr>
        <p:spPr>
          <a:xfrm rot="0">
            <a:off x="391548" y="3238754"/>
            <a:ext cx="16365923" cy="1257300"/>
          </a:xfrm>
          <a:prstGeom prst="rect">
            <a:avLst/>
          </a:prstGeom>
        </p:spPr>
        <p:txBody>
          <a:bodyPr anchor="t" rtlCol="false" tIns="0" lIns="0" bIns="0" rIns="0">
            <a:spAutoFit/>
          </a:bodyPr>
          <a:lstStyle/>
          <a:p>
            <a:pPr algn="ctr">
              <a:lnSpc>
                <a:spcPts val="3187"/>
              </a:lnSpc>
              <a:spcBef>
                <a:spcPct val="0"/>
              </a:spcBef>
            </a:pPr>
            <a:r>
              <a:rPr lang="en-US" b="true" sz="2656">
                <a:solidFill>
                  <a:srgbClr val="23496D"/>
                </a:solidFill>
                <a:latin typeface="Calibri (MS) Bold"/>
                <a:ea typeface="Calibri (MS) Bold"/>
                <a:cs typeface="Calibri (MS) Bold"/>
                <a:sym typeface="Calibri (MS) Bold"/>
              </a:rPr>
              <a:t>The driver takes ahb_item transactions from the sequencer and drive them on the ahb interface.It keeps the AHB pipeline full, so the address of the next transfer goes out while the data of the current one is still on the bus. It holds everything when the slave pulls HREADY low, stores HRDATA and HRESP back into the item, and handles reset</a:t>
            </a:r>
          </a:p>
        </p:txBody>
      </p:sp>
      <p:grpSp>
        <p:nvGrpSpPr>
          <p:cNvPr name="Group 8" id="8"/>
          <p:cNvGrpSpPr/>
          <p:nvPr/>
        </p:nvGrpSpPr>
        <p:grpSpPr>
          <a:xfrm rot="0">
            <a:off x="1361707" y="5905957"/>
            <a:ext cx="13335000" cy="3762375"/>
            <a:chOff x="0" y="0"/>
            <a:chExt cx="17780000" cy="5016500"/>
          </a:xfrm>
        </p:grpSpPr>
        <p:sp>
          <p:nvSpPr>
            <p:cNvPr name="Freeform 9" id="9" descr="Timing diagram over three clock cycles. Cycle 1: address bus carries A addr. Cycle 2: address bus carries B addr while data bus carries A data. Cycle 3: address bus is idle while data bus carries B data."/>
            <p:cNvSpPr/>
            <p:nvPr/>
          </p:nvSpPr>
          <p:spPr>
            <a:xfrm flipH="false" flipV="false" rot="0">
              <a:off x="0" y="0"/>
              <a:ext cx="17780000" cy="5016500"/>
            </a:xfrm>
            <a:custGeom>
              <a:avLst/>
              <a:gdLst/>
              <a:ahLst/>
              <a:cxnLst/>
              <a:rect r="r" b="b" t="t" l="l"/>
              <a:pathLst>
                <a:path h="5016500" w="17780000">
                  <a:moveTo>
                    <a:pt x="0" y="0"/>
                  </a:moveTo>
                  <a:lnTo>
                    <a:pt x="17780000" y="0"/>
                  </a:lnTo>
                  <a:lnTo>
                    <a:pt x="17780000" y="5016500"/>
                  </a:lnTo>
                  <a:lnTo>
                    <a:pt x="0" y="5016500"/>
                  </a:lnTo>
                  <a:lnTo>
                    <a:pt x="0" y="0"/>
                  </a:lnTo>
                  <a:close/>
                </a:path>
              </a:pathLst>
            </a:custGeom>
            <a:blipFill>
              <a:blip r:embed="rId4"/>
              <a:stretch>
                <a:fillRect l="14" t="0" r="14" b="0"/>
              </a:stretch>
            </a:blipFill>
          </p:spPr>
        </p:sp>
      </p:grpSp>
      <p:sp>
        <p:nvSpPr>
          <p:cNvPr name="TextBox 10" id="10"/>
          <p:cNvSpPr txBox="true"/>
          <p:nvPr/>
        </p:nvSpPr>
        <p:spPr>
          <a:xfrm rot="0">
            <a:off x="391548" y="4968697"/>
            <a:ext cx="16796004" cy="849630"/>
          </a:xfrm>
          <a:prstGeom prst="rect">
            <a:avLst/>
          </a:prstGeom>
        </p:spPr>
        <p:txBody>
          <a:bodyPr anchor="t" rtlCol="false" tIns="0" lIns="0" bIns="0" rIns="0">
            <a:spAutoFit/>
          </a:bodyPr>
          <a:lstStyle/>
          <a:p>
            <a:pPr algn="ctr">
              <a:lnSpc>
                <a:spcPts val="3240"/>
              </a:lnSpc>
            </a:pPr>
            <a:r>
              <a:rPr lang="en-US" sz="2400" b="true">
                <a:solidFill>
                  <a:srgbClr val="23496D"/>
                </a:solidFill>
                <a:latin typeface="Carlito Bold"/>
                <a:ea typeface="Carlito Bold"/>
                <a:cs typeface="Carlito Bold"/>
                <a:sym typeface="Carlito Bold"/>
              </a:rPr>
              <a:t>Two transfers, A then B. In cycle 2 the bus carries B's address while A's data is still on the bus, so the driver keeps track of two transfers at once.</a:t>
            </a:r>
          </a:p>
        </p:txBody>
      </p:sp>
      <p:grpSp>
        <p:nvGrpSpPr>
          <p:cNvPr name="Group 11" id="11"/>
          <p:cNvGrpSpPr/>
          <p:nvPr/>
        </p:nvGrpSpPr>
        <p:grpSpPr>
          <a:xfrm rot="0">
            <a:off x="157086" y="9885045"/>
            <a:ext cx="10972800" cy="411480"/>
            <a:chOff x="0" y="0"/>
            <a:chExt cx="14630400" cy="548640"/>
          </a:xfrm>
        </p:grpSpPr>
        <p:sp>
          <p:nvSpPr>
            <p:cNvPr name="Freeform 12" id="1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5">
                <a:alphaModFix amt="0"/>
              </a:blip>
              <a:stretch>
                <a:fillRect l="0" t="-469601" r="0" b="-469601"/>
              </a:stretch>
            </a:blipFill>
          </p:spPr>
        </p:sp>
        <p:sp>
          <p:nvSpPr>
            <p:cNvPr name="TextBox 13" id="13"/>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14" id="14"/>
          <p:cNvGrpSpPr/>
          <p:nvPr/>
        </p:nvGrpSpPr>
        <p:grpSpPr>
          <a:xfrm rot="0">
            <a:off x="16911828" y="9710928"/>
            <a:ext cx="685800" cy="411480"/>
            <a:chOff x="0" y="0"/>
            <a:chExt cx="914400" cy="548640"/>
          </a:xfrm>
        </p:grpSpPr>
        <p:sp>
          <p:nvSpPr>
            <p:cNvPr name="Freeform 15" id="1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5">
                <a:alphaModFix amt="0"/>
              </a:blip>
              <a:stretch>
                <a:fillRect l="-26982" t="0" r="-26982" b="0"/>
              </a:stretch>
            </a:blipFill>
          </p:spPr>
        </p:sp>
        <p:sp>
          <p:nvSpPr>
            <p:cNvPr name="TextBox 16" id="16"/>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15714277" y="0"/>
            <a:ext cx="4407982" cy="1407455"/>
          </a:xfrm>
          <a:custGeom>
            <a:avLst/>
            <a:gdLst/>
            <a:ahLst/>
            <a:cxnLst/>
            <a:rect r="r" b="b" t="t" l="l"/>
            <a:pathLst>
              <a:path h="1407455" w="4407982">
                <a:moveTo>
                  <a:pt x="0" y="0"/>
                </a:moveTo>
                <a:lnTo>
                  <a:pt x="4407982" y="0"/>
                </a:lnTo>
                <a:lnTo>
                  <a:pt x="4407982" y="1407455"/>
                </a:lnTo>
                <a:lnTo>
                  <a:pt x="0" y="14074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92033" y="1678373"/>
            <a:ext cx="1576942" cy="1203860"/>
            <a:chOff x="0" y="0"/>
            <a:chExt cx="415326" cy="317066"/>
          </a:xfrm>
        </p:grpSpPr>
        <p:sp>
          <p:nvSpPr>
            <p:cNvPr name="Freeform 4" id="4"/>
            <p:cNvSpPr/>
            <p:nvPr/>
          </p:nvSpPr>
          <p:spPr>
            <a:xfrm flipH="false" flipV="false" rot="0">
              <a:off x="0" y="0"/>
              <a:ext cx="415326" cy="317066"/>
            </a:xfrm>
            <a:custGeom>
              <a:avLst/>
              <a:gdLst/>
              <a:ahLst/>
              <a:cxnLst/>
              <a:rect r="r" b="b" t="t" l="l"/>
              <a:pathLst>
                <a:path h="317066" w="415326">
                  <a:moveTo>
                    <a:pt x="158533" y="0"/>
                  </a:moveTo>
                  <a:lnTo>
                    <a:pt x="256793" y="0"/>
                  </a:lnTo>
                  <a:cubicBezTo>
                    <a:pt x="344349" y="0"/>
                    <a:pt x="415326" y="70978"/>
                    <a:pt x="415326" y="158533"/>
                  </a:cubicBezTo>
                  <a:lnTo>
                    <a:pt x="415326" y="158533"/>
                  </a:lnTo>
                  <a:cubicBezTo>
                    <a:pt x="415326" y="246088"/>
                    <a:pt x="344349" y="317066"/>
                    <a:pt x="256793" y="317066"/>
                  </a:cubicBezTo>
                  <a:lnTo>
                    <a:pt x="158533" y="317066"/>
                  </a:lnTo>
                  <a:cubicBezTo>
                    <a:pt x="70978" y="317066"/>
                    <a:pt x="0" y="246088"/>
                    <a:pt x="0" y="158533"/>
                  </a:cubicBezTo>
                  <a:lnTo>
                    <a:pt x="0" y="158533"/>
                  </a:lnTo>
                  <a:cubicBezTo>
                    <a:pt x="0" y="70978"/>
                    <a:pt x="70978" y="0"/>
                    <a:pt x="158533" y="0"/>
                  </a:cubicBezTo>
                  <a:close/>
                </a:path>
              </a:pathLst>
            </a:custGeom>
            <a:solidFill>
              <a:srgbClr val="DCE3EC"/>
            </a:solidFill>
          </p:spPr>
        </p:sp>
        <p:sp>
          <p:nvSpPr>
            <p:cNvPr name="TextBox 5" id="5"/>
            <p:cNvSpPr txBox="true"/>
            <p:nvPr/>
          </p:nvSpPr>
          <p:spPr>
            <a:xfrm>
              <a:off x="0" y="-38100"/>
              <a:ext cx="415326" cy="355166"/>
            </a:xfrm>
            <a:prstGeom prst="rect">
              <a:avLst/>
            </a:prstGeom>
          </p:spPr>
          <p:txBody>
            <a:bodyPr anchor="ctr" rtlCol="false" tIns="50800" lIns="50800" bIns="50800" rIns="50800"/>
            <a:lstStyle/>
            <a:p>
              <a:pPr algn="ctr">
                <a:lnSpc>
                  <a:spcPts val="2467"/>
                </a:lnSpc>
              </a:pPr>
              <a:r>
                <a:rPr lang="en-US" sz="2056">
                  <a:solidFill>
                    <a:srgbClr val="23496D"/>
                  </a:solidFill>
                  <a:latin typeface="Calibri (MS)"/>
                  <a:ea typeface="Calibri (MS)"/>
                  <a:cs typeface="Calibri (MS)"/>
                  <a:sym typeface="Calibri (MS)"/>
                </a:rPr>
                <a:t>addr_item</a:t>
              </a:r>
            </a:p>
          </p:txBody>
        </p:sp>
      </p:grpSp>
      <p:grpSp>
        <p:nvGrpSpPr>
          <p:cNvPr name="Group 6" id="6"/>
          <p:cNvGrpSpPr/>
          <p:nvPr/>
        </p:nvGrpSpPr>
        <p:grpSpPr>
          <a:xfrm rot="0">
            <a:off x="9489834" y="1627619"/>
            <a:ext cx="1576942" cy="1254614"/>
            <a:chOff x="0" y="0"/>
            <a:chExt cx="415326" cy="330433"/>
          </a:xfrm>
        </p:grpSpPr>
        <p:sp>
          <p:nvSpPr>
            <p:cNvPr name="Freeform 7" id="7"/>
            <p:cNvSpPr/>
            <p:nvPr/>
          </p:nvSpPr>
          <p:spPr>
            <a:xfrm flipH="false" flipV="false" rot="0">
              <a:off x="0" y="0"/>
              <a:ext cx="415326" cy="330433"/>
            </a:xfrm>
            <a:custGeom>
              <a:avLst/>
              <a:gdLst/>
              <a:ahLst/>
              <a:cxnLst/>
              <a:rect r="r" b="b" t="t" l="l"/>
              <a:pathLst>
                <a:path h="330433" w="415326">
                  <a:moveTo>
                    <a:pt x="165217" y="0"/>
                  </a:moveTo>
                  <a:lnTo>
                    <a:pt x="250110" y="0"/>
                  </a:lnTo>
                  <a:cubicBezTo>
                    <a:pt x="341356" y="0"/>
                    <a:pt x="415326" y="73970"/>
                    <a:pt x="415326" y="165217"/>
                  </a:cubicBezTo>
                  <a:lnTo>
                    <a:pt x="415326" y="165217"/>
                  </a:lnTo>
                  <a:cubicBezTo>
                    <a:pt x="415326" y="209035"/>
                    <a:pt x="397920" y="251058"/>
                    <a:pt x="366935" y="282042"/>
                  </a:cubicBezTo>
                  <a:cubicBezTo>
                    <a:pt x="335951" y="313027"/>
                    <a:pt x="293928" y="330433"/>
                    <a:pt x="250110" y="330433"/>
                  </a:cubicBezTo>
                  <a:lnTo>
                    <a:pt x="165217" y="330433"/>
                  </a:lnTo>
                  <a:cubicBezTo>
                    <a:pt x="121398" y="330433"/>
                    <a:pt x="79375" y="313027"/>
                    <a:pt x="48391" y="282042"/>
                  </a:cubicBezTo>
                  <a:cubicBezTo>
                    <a:pt x="17407" y="251058"/>
                    <a:pt x="0" y="209035"/>
                    <a:pt x="0" y="165217"/>
                  </a:cubicBezTo>
                  <a:lnTo>
                    <a:pt x="0" y="165217"/>
                  </a:lnTo>
                  <a:cubicBezTo>
                    <a:pt x="0" y="121398"/>
                    <a:pt x="17407" y="79375"/>
                    <a:pt x="48391" y="48391"/>
                  </a:cubicBezTo>
                  <a:cubicBezTo>
                    <a:pt x="79375" y="17407"/>
                    <a:pt x="121398" y="0"/>
                    <a:pt x="165217" y="0"/>
                  </a:cubicBezTo>
                  <a:close/>
                </a:path>
              </a:pathLst>
            </a:custGeom>
            <a:solidFill>
              <a:srgbClr val="DCE3EC"/>
            </a:solidFill>
          </p:spPr>
        </p:sp>
        <p:sp>
          <p:nvSpPr>
            <p:cNvPr name="TextBox 8" id="8"/>
            <p:cNvSpPr txBox="true"/>
            <p:nvPr/>
          </p:nvSpPr>
          <p:spPr>
            <a:xfrm>
              <a:off x="0" y="-38100"/>
              <a:ext cx="415326" cy="368533"/>
            </a:xfrm>
            <a:prstGeom prst="rect">
              <a:avLst/>
            </a:prstGeom>
          </p:spPr>
          <p:txBody>
            <a:bodyPr anchor="ctr" rtlCol="false" tIns="50800" lIns="50800" bIns="50800" rIns="50800"/>
            <a:lstStyle/>
            <a:p>
              <a:pPr algn="ctr">
                <a:lnSpc>
                  <a:spcPts val="2467"/>
                </a:lnSpc>
              </a:pPr>
              <a:r>
                <a:rPr lang="en-US" sz="2056">
                  <a:solidFill>
                    <a:srgbClr val="23496D"/>
                  </a:solidFill>
                  <a:latin typeface="Calibri (MS)"/>
                  <a:ea typeface="Calibri (MS)"/>
                  <a:cs typeface="Calibri (MS)"/>
                  <a:sym typeface="Calibri (MS)"/>
                </a:rPr>
                <a:t>data_item</a:t>
              </a:r>
            </a:p>
          </p:txBody>
        </p:sp>
      </p:grpSp>
      <p:sp>
        <p:nvSpPr>
          <p:cNvPr name="AutoShape 9" id="9"/>
          <p:cNvSpPr/>
          <p:nvPr/>
        </p:nvSpPr>
        <p:spPr>
          <a:xfrm>
            <a:off x="2265149" y="2324730"/>
            <a:ext cx="689057" cy="0"/>
          </a:xfrm>
          <a:prstGeom prst="line">
            <a:avLst/>
          </a:prstGeom>
          <a:ln cap="flat" w="38100">
            <a:solidFill>
              <a:srgbClr val="000000"/>
            </a:solidFill>
            <a:prstDash val="solid"/>
            <a:headEnd type="none" len="sm" w="sm"/>
            <a:tailEnd type="triangle" len="med" w="lg"/>
          </a:ln>
        </p:spPr>
      </p:sp>
      <p:grpSp>
        <p:nvGrpSpPr>
          <p:cNvPr name="Group 10" id="10"/>
          <p:cNvGrpSpPr/>
          <p:nvPr/>
        </p:nvGrpSpPr>
        <p:grpSpPr>
          <a:xfrm rot="0">
            <a:off x="3150381" y="1678373"/>
            <a:ext cx="4939278" cy="1203860"/>
            <a:chOff x="0" y="0"/>
            <a:chExt cx="1300880" cy="317066"/>
          </a:xfrm>
        </p:grpSpPr>
        <p:sp>
          <p:nvSpPr>
            <p:cNvPr name="Freeform 11" id="11"/>
            <p:cNvSpPr/>
            <p:nvPr/>
          </p:nvSpPr>
          <p:spPr>
            <a:xfrm flipH="false" flipV="false" rot="0">
              <a:off x="0" y="0"/>
              <a:ext cx="1300880" cy="317066"/>
            </a:xfrm>
            <a:custGeom>
              <a:avLst/>
              <a:gdLst/>
              <a:ahLst/>
              <a:cxnLst/>
              <a:rect r="r" b="b" t="t" l="l"/>
              <a:pathLst>
                <a:path h="317066" w="1300880">
                  <a:moveTo>
                    <a:pt x="79938" y="0"/>
                  </a:moveTo>
                  <a:lnTo>
                    <a:pt x="1220941" y="0"/>
                  </a:lnTo>
                  <a:cubicBezTo>
                    <a:pt x="1265090" y="0"/>
                    <a:pt x="1300880" y="35790"/>
                    <a:pt x="1300880" y="79938"/>
                  </a:cubicBezTo>
                  <a:lnTo>
                    <a:pt x="1300880" y="237128"/>
                  </a:lnTo>
                  <a:cubicBezTo>
                    <a:pt x="1300880" y="281276"/>
                    <a:pt x="1265090" y="317066"/>
                    <a:pt x="1220941" y="317066"/>
                  </a:cubicBezTo>
                  <a:lnTo>
                    <a:pt x="79938" y="317066"/>
                  </a:lnTo>
                  <a:cubicBezTo>
                    <a:pt x="35790" y="317066"/>
                    <a:pt x="0" y="281276"/>
                    <a:pt x="0" y="237128"/>
                  </a:cubicBezTo>
                  <a:lnTo>
                    <a:pt x="0" y="79938"/>
                  </a:lnTo>
                  <a:cubicBezTo>
                    <a:pt x="0" y="35790"/>
                    <a:pt x="35790" y="0"/>
                    <a:pt x="79938" y="0"/>
                  </a:cubicBezTo>
                  <a:close/>
                </a:path>
              </a:pathLst>
            </a:custGeom>
            <a:solidFill>
              <a:srgbClr val="DCE3EC"/>
            </a:solidFill>
          </p:spPr>
        </p:sp>
        <p:sp>
          <p:nvSpPr>
            <p:cNvPr name="TextBox 12" id="12"/>
            <p:cNvSpPr txBox="true"/>
            <p:nvPr/>
          </p:nvSpPr>
          <p:spPr>
            <a:xfrm>
              <a:off x="0" y="-38100"/>
              <a:ext cx="1300880" cy="355166"/>
            </a:xfrm>
            <a:prstGeom prst="rect">
              <a:avLst/>
            </a:prstGeom>
          </p:spPr>
          <p:txBody>
            <a:bodyPr anchor="ctr" rtlCol="false" tIns="50800" lIns="50800" bIns="50800" rIns="50800"/>
            <a:lstStyle/>
            <a:p>
              <a:pPr algn="ctr">
                <a:lnSpc>
                  <a:spcPts val="2467"/>
                </a:lnSpc>
              </a:pPr>
              <a:r>
                <a:rPr lang="en-US" sz="2056">
                  <a:solidFill>
                    <a:srgbClr val="23496D"/>
                  </a:solidFill>
                  <a:latin typeface="Calibri (MS)"/>
                  <a:ea typeface="Calibri (MS)"/>
                  <a:cs typeface="Calibri (MS)"/>
                  <a:sym typeface="Calibri (MS)"/>
                </a:rPr>
                <a:t>The transfer whose address is on the bus now</a:t>
              </a:r>
            </a:p>
          </p:txBody>
        </p:sp>
      </p:grpSp>
      <p:sp>
        <p:nvSpPr>
          <p:cNvPr name="AutoShape 13" id="13"/>
          <p:cNvSpPr/>
          <p:nvPr/>
        </p:nvSpPr>
        <p:spPr>
          <a:xfrm>
            <a:off x="11252534" y="2273976"/>
            <a:ext cx="689057" cy="0"/>
          </a:xfrm>
          <a:prstGeom prst="line">
            <a:avLst/>
          </a:prstGeom>
          <a:ln cap="flat" w="38100">
            <a:solidFill>
              <a:srgbClr val="000000"/>
            </a:solidFill>
            <a:prstDash val="solid"/>
            <a:headEnd type="none" len="sm" w="sm"/>
            <a:tailEnd type="triangle" len="med" w="lg"/>
          </a:ln>
        </p:spPr>
      </p:sp>
      <p:grpSp>
        <p:nvGrpSpPr>
          <p:cNvPr name="Group 14" id="14"/>
          <p:cNvGrpSpPr/>
          <p:nvPr/>
        </p:nvGrpSpPr>
        <p:grpSpPr>
          <a:xfrm rot="0">
            <a:off x="12127350" y="1627619"/>
            <a:ext cx="4939278" cy="1254614"/>
            <a:chOff x="0" y="0"/>
            <a:chExt cx="1300880" cy="330433"/>
          </a:xfrm>
        </p:grpSpPr>
        <p:sp>
          <p:nvSpPr>
            <p:cNvPr name="Freeform 15" id="15"/>
            <p:cNvSpPr/>
            <p:nvPr/>
          </p:nvSpPr>
          <p:spPr>
            <a:xfrm flipH="false" flipV="false" rot="0">
              <a:off x="0" y="0"/>
              <a:ext cx="1300880" cy="330433"/>
            </a:xfrm>
            <a:custGeom>
              <a:avLst/>
              <a:gdLst/>
              <a:ahLst/>
              <a:cxnLst/>
              <a:rect r="r" b="b" t="t" l="l"/>
              <a:pathLst>
                <a:path h="330433" w="1300880">
                  <a:moveTo>
                    <a:pt x="79938" y="0"/>
                  </a:moveTo>
                  <a:lnTo>
                    <a:pt x="1220941" y="0"/>
                  </a:lnTo>
                  <a:cubicBezTo>
                    <a:pt x="1265090" y="0"/>
                    <a:pt x="1300880" y="35790"/>
                    <a:pt x="1300880" y="79938"/>
                  </a:cubicBezTo>
                  <a:lnTo>
                    <a:pt x="1300880" y="250495"/>
                  </a:lnTo>
                  <a:cubicBezTo>
                    <a:pt x="1300880" y="294644"/>
                    <a:pt x="1265090" y="330433"/>
                    <a:pt x="1220941" y="330433"/>
                  </a:cubicBezTo>
                  <a:lnTo>
                    <a:pt x="79938" y="330433"/>
                  </a:lnTo>
                  <a:cubicBezTo>
                    <a:pt x="35790" y="330433"/>
                    <a:pt x="0" y="294644"/>
                    <a:pt x="0" y="250495"/>
                  </a:cubicBezTo>
                  <a:lnTo>
                    <a:pt x="0" y="79938"/>
                  </a:lnTo>
                  <a:cubicBezTo>
                    <a:pt x="0" y="35790"/>
                    <a:pt x="35790" y="0"/>
                    <a:pt x="79938" y="0"/>
                  </a:cubicBezTo>
                  <a:close/>
                </a:path>
              </a:pathLst>
            </a:custGeom>
            <a:solidFill>
              <a:srgbClr val="DCE3EC"/>
            </a:solidFill>
          </p:spPr>
        </p:sp>
        <p:sp>
          <p:nvSpPr>
            <p:cNvPr name="TextBox 16" id="16"/>
            <p:cNvSpPr txBox="true"/>
            <p:nvPr/>
          </p:nvSpPr>
          <p:spPr>
            <a:xfrm>
              <a:off x="0" y="-38100"/>
              <a:ext cx="1300880" cy="368533"/>
            </a:xfrm>
            <a:prstGeom prst="rect">
              <a:avLst/>
            </a:prstGeom>
          </p:spPr>
          <p:txBody>
            <a:bodyPr anchor="ctr" rtlCol="false" tIns="50800" lIns="50800" bIns="50800" rIns="50800"/>
            <a:lstStyle/>
            <a:p>
              <a:pPr algn="ctr">
                <a:lnSpc>
                  <a:spcPts val="2467"/>
                </a:lnSpc>
              </a:pPr>
              <a:r>
                <a:rPr lang="en-US" sz="2056">
                  <a:solidFill>
                    <a:srgbClr val="23496D"/>
                  </a:solidFill>
                  <a:latin typeface="Calibri (MS)"/>
                  <a:ea typeface="Calibri (MS)"/>
                  <a:cs typeface="Calibri (MS)"/>
                  <a:sym typeface="Calibri (MS)"/>
                </a:rPr>
                <a:t>The transfer whose datais on the bus now</a:t>
              </a:r>
            </a:p>
          </p:txBody>
        </p:sp>
      </p:grpSp>
      <p:grpSp>
        <p:nvGrpSpPr>
          <p:cNvPr name="Group 17" id="17"/>
          <p:cNvGrpSpPr/>
          <p:nvPr/>
        </p:nvGrpSpPr>
        <p:grpSpPr>
          <a:xfrm rot="0">
            <a:off x="217050" y="3395874"/>
            <a:ext cx="7239000" cy="914400"/>
            <a:chOff x="0" y="0"/>
            <a:chExt cx="9652000" cy="1219200"/>
          </a:xfrm>
        </p:grpSpPr>
        <p:sp>
          <p:nvSpPr>
            <p:cNvPr name="Freeform 18" id="18"/>
            <p:cNvSpPr/>
            <p:nvPr/>
          </p:nvSpPr>
          <p:spPr>
            <a:xfrm flipH="false" flipV="false" rot="0">
              <a:off x="0" y="0"/>
              <a:ext cx="9652000" cy="1219200"/>
            </a:xfrm>
            <a:custGeom>
              <a:avLst/>
              <a:gdLst/>
              <a:ahLst/>
              <a:cxnLst/>
              <a:rect r="r" b="b" t="t" l="l"/>
              <a:pathLst>
                <a:path h="1219200" w="9652000">
                  <a:moveTo>
                    <a:pt x="0" y="609600"/>
                  </a:moveTo>
                  <a:cubicBezTo>
                    <a:pt x="0" y="272923"/>
                    <a:pt x="272923" y="0"/>
                    <a:pt x="609600" y="0"/>
                  </a:cubicBezTo>
                  <a:lnTo>
                    <a:pt x="9042400" y="0"/>
                  </a:lnTo>
                  <a:cubicBezTo>
                    <a:pt x="9379077" y="0"/>
                    <a:pt x="9652000" y="272923"/>
                    <a:pt x="9652000" y="609600"/>
                  </a:cubicBezTo>
                  <a:cubicBezTo>
                    <a:pt x="9652000" y="946277"/>
                    <a:pt x="9379077" y="1219200"/>
                    <a:pt x="9042400" y="1219200"/>
                  </a:cubicBezTo>
                  <a:lnTo>
                    <a:pt x="609600" y="1219200"/>
                  </a:lnTo>
                  <a:cubicBezTo>
                    <a:pt x="272923" y="1219200"/>
                    <a:pt x="0" y="946277"/>
                    <a:pt x="0" y="609600"/>
                  </a:cubicBezTo>
                  <a:close/>
                </a:path>
              </a:pathLst>
            </a:custGeom>
            <a:solidFill>
              <a:srgbClr val="23496D"/>
            </a:solidFill>
          </p:spPr>
        </p:sp>
        <p:sp>
          <p:nvSpPr>
            <p:cNvPr name="TextBox 19" id="19"/>
            <p:cNvSpPr txBox="true"/>
            <p:nvPr/>
          </p:nvSpPr>
          <p:spPr>
            <a:xfrm>
              <a:off x="0" y="-38100"/>
              <a:ext cx="9652000" cy="1257300"/>
            </a:xfrm>
            <a:prstGeom prst="rect">
              <a:avLst/>
            </a:prstGeom>
          </p:spPr>
          <p:txBody>
            <a:bodyPr anchor="ctr" rtlCol="false" tIns="50800" lIns="50800" bIns="50800" rIns="50800"/>
            <a:lstStyle/>
            <a:p>
              <a:pPr algn="ctr">
                <a:lnSpc>
                  <a:spcPts val="4455"/>
                </a:lnSpc>
              </a:pPr>
              <a:r>
                <a:rPr lang="en-US" sz="4050" b="true">
                  <a:solidFill>
                    <a:srgbClr val="FFFFFF"/>
                  </a:solidFill>
                  <a:latin typeface="Carlito Bold"/>
                  <a:ea typeface="Carlito Bold"/>
                  <a:cs typeface="Carlito Bold"/>
                  <a:sym typeface="Carlito Bold"/>
                </a:rPr>
                <a:t>Every clock cycle</a:t>
              </a:r>
            </a:p>
          </p:txBody>
        </p:sp>
      </p:grpSp>
      <p:grpSp>
        <p:nvGrpSpPr>
          <p:cNvPr name="Group 20" id="20"/>
          <p:cNvGrpSpPr/>
          <p:nvPr/>
        </p:nvGrpSpPr>
        <p:grpSpPr>
          <a:xfrm rot="0">
            <a:off x="292622" y="4823915"/>
            <a:ext cx="4027722" cy="2898637"/>
            <a:chOff x="0" y="0"/>
            <a:chExt cx="1060799" cy="763427"/>
          </a:xfrm>
        </p:grpSpPr>
        <p:sp>
          <p:nvSpPr>
            <p:cNvPr name="Freeform 21" id="21"/>
            <p:cNvSpPr/>
            <p:nvPr/>
          </p:nvSpPr>
          <p:spPr>
            <a:xfrm flipH="false" flipV="false" rot="0">
              <a:off x="0" y="0"/>
              <a:ext cx="1060799" cy="763427"/>
            </a:xfrm>
            <a:custGeom>
              <a:avLst/>
              <a:gdLst/>
              <a:ahLst/>
              <a:cxnLst/>
              <a:rect r="r" b="b" t="t" l="l"/>
              <a:pathLst>
                <a:path h="763427" w="1060799">
                  <a:moveTo>
                    <a:pt x="98030" y="0"/>
                  </a:moveTo>
                  <a:lnTo>
                    <a:pt x="962769" y="0"/>
                  </a:lnTo>
                  <a:cubicBezTo>
                    <a:pt x="988768" y="0"/>
                    <a:pt x="1013703" y="10328"/>
                    <a:pt x="1032087" y="28712"/>
                  </a:cubicBezTo>
                  <a:cubicBezTo>
                    <a:pt x="1050471" y="47097"/>
                    <a:pt x="1060799" y="72031"/>
                    <a:pt x="1060799" y="98030"/>
                  </a:cubicBezTo>
                  <a:lnTo>
                    <a:pt x="1060799" y="665397"/>
                  </a:lnTo>
                  <a:cubicBezTo>
                    <a:pt x="1060799" y="691396"/>
                    <a:pt x="1050471" y="716330"/>
                    <a:pt x="1032087" y="734715"/>
                  </a:cubicBezTo>
                  <a:cubicBezTo>
                    <a:pt x="1013703" y="753099"/>
                    <a:pt x="988768" y="763427"/>
                    <a:pt x="962769" y="763427"/>
                  </a:cubicBezTo>
                  <a:lnTo>
                    <a:pt x="98030" y="763427"/>
                  </a:lnTo>
                  <a:cubicBezTo>
                    <a:pt x="43890" y="763427"/>
                    <a:pt x="0" y="719537"/>
                    <a:pt x="0" y="665397"/>
                  </a:cubicBezTo>
                  <a:lnTo>
                    <a:pt x="0" y="98030"/>
                  </a:lnTo>
                  <a:cubicBezTo>
                    <a:pt x="0" y="72031"/>
                    <a:pt x="10328" y="47097"/>
                    <a:pt x="28712" y="28712"/>
                  </a:cubicBezTo>
                  <a:cubicBezTo>
                    <a:pt x="47097" y="10328"/>
                    <a:pt x="72031" y="0"/>
                    <a:pt x="98030" y="0"/>
                  </a:cubicBezTo>
                  <a:close/>
                </a:path>
              </a:pathLst>
            </a:custGeom>
            <a:solidFill>
              <a:srgbClr val="23496D"/>
            </a:solidFill>
          </p:spPr>
        </p:sp>
        <p:sp>
          <p:nvSpPr>
            <p:cNvPr name="TextBox 22" id="22"/>
            <p:cNvSpPr txBox="true"/>
            <p:nvPr/>
          </p:nvSpPr>
          <p:spPr>
            <a:xfrm>
              <a:off x="0" y="-66675"/>
              <a:ext cx="1060799" cy="830102"/>
            </a:xfrm>
            <a:prstGeom prst="rect">
              <a:avLst/>
            </a:prstGeom>
          </p:spPr>
          <p:txBody>
            <a:bodyPr anchor="ctr" rtlCol="false" tIns="50800" lIns="50800" bIns="50800" rIns="50800"/>
            <a:lstStyle/>
            <a:p>
              <a:pPr algn="ctr">
                <a:lnSpc>
                  <a:spcPts val="3359"/>
                </a:lnSpc>
              </a:pPr>
              <a:r>
                <a:rPr lang="en-US" sz="2799" b="true">
                  <a:solidFill>
                    <a:srgbClr val="F7F5F1"/>
                  </a:solidFill>
                  <a:latin typeface="Calibri (MS) Bold"/>
                  <a:ea typeface="Calibri (MS) Bold"/>
                  <a:cs typeface="Calibri (MS) Bold"/>
                  <a:sym typeface="Calibri (MS) Bold"/>
                </a:rPr>
                <a:t>Reset?</a:t>
              </a:r>
            </a:p>
            <a:p>
              <a:pPr algn="ctr">
                <a:lnSpc>
                  <a:spcPts val="2347"/>
                </a:lnSpc>
              </a:pPr>
              <a:r>
                <a:rPr lang="en-US" sz="1956">
                  <a:solidFill>
                    <a:srgbClr val="F7F5F1"/>
                  </a:solidFill>
                  <a:latin typeface="Calibri (MS)"/>
                  <a:ea typeface="Calibri (MS)"/>
                  <a:cs typeface="Calibri (MS)"/>
                  <a:sym typeface="Calibri (MS)"/>
                </a:rPr>
                <a:t>Abort: item_done on the open item, clear both boxes, initialize the bus.</a:t>
              </a:r>
            </a:p>
          </p:txBody>
        </p:sp>
      </p:grpSp>
      <p:grpSp>
        <p:nvGrpSpPr>
          <p:cNvPr name="Group 23" id="23"/>
          <p:cNvGrpSpPr/>
          <p:nvPr/>
        </p:nvGrpSpPr>
        <p:grpSpPr>
          <a:xfrm rot="0">
            <a:off x="4672769" y="4823915"/>
            <a:ext cx="4027722" cy="2898637"/>
            <a:chOff x="0" y="0"/>
            <a:chExt cx="1060799" cy="763427"/>
          </a:xfrm>
        </p:grpSpPr>
        <p:sp>
          <p:nvSpPr>
            <p:cNvPr name="Freeform 24" id="24"/>
            <p:cNvSpPr/>
            <p:nvPr/>
          </p:nvSpPr>
          <p:spPr>
            <a:xfrm flipH="false" flipV="false" rot="0">
              <a:off x="0" y="0"/>
              <a:ext cx="1060799" cy="763427"/>
            </a:xfrm>
            <a:custGeom>
              <a:avLst/>
              <a:gdLst/>
              <a:ahLst/>
              <a:cxnLst/>
              <a:rect r="r" b="b" t="t" l="l"/>
              <a:pathLst>
                <a:path h="763427" w="1060799">
                  <a:moveTo>
                    <a:pt x="98030" y="0"/>
                  </a:moveTo>
                  <a:lnTo>
                    <a:pt x="962769" y="0"/>
                  </a:lnTo>
                  <a:cubicBezTo>
                    <a:pt x="988768" y="0"/>
                    <a:pt x="1013703" y="10328"/>
                    <a:pt x="1032087" y="28712"/>
                  </a:cubicBezTo>
                  <a:cubicBezTo>
                    <a:pt x="1050471" y="47097"/>
                    <a:pt x="1060799" y="72031"/>
                    <a:pt x="1060799" y="98030"/>
                  </a:cubicBezTo>
                  <a:lnTo>
                    <a:pt x="1060799" y="665397"/>
                  </a:lnTo>
                  <a:cubicBezTo>
                    <a:pt x="1060799" y="691396"/>
                    <a:pt x="1050471" y="716330"/>
                    <a:pt x="1032087" y="734715"/>
                  </a:cubicBezTo>
                  <a:cubicBezTo>
                    <a:pt x="1013703" y="753099"/>
                    <a:pt x="988768" y="763427"/>
                    <a:pt x="962769" y="763427"/>
                  </a:cubicBezTo>
                  <a:lnTo>
                    <a:pt x="98030" y="763427"/>
                  </a:lnTo>
                  <a:cubicBezTo>
                    <a:pt x="43890" y="763427"/>
                    <a:pt x="0" y="719537"/>
                    <a:pt x="0" y="665397"/>
                  </a:cubicBezTo>
                  <a:lnTo>
                    <a:pt x="0" y="98030"/>
                  </a:lnTo>
                  <a:cubicBezTo>
                    <a:pt x="0" y="72031"/>
                    <a:pt x="10328" y="47097"/>
                    <a:pt x="28712" y="28712"/>
                  </a:cubicBezTo>
                  <a:cubicBezTo>
                    <a:pt x="47097" y="10328"/>
                    <a:pt x="72031" y="0"/>
                    <a:pt x="98030" y="0"/>
                  </a:cubicBezTo>
                  <a:close/>
                </a:path>
              </a:pathLst>
            </a:custGeom>
            <a:solidFill>
              <a:srgbClr val="DCE3EC"/>
            </a:solidFill>
          </p:spPr>
        </p:sp>
        <p:sp>
          <p:nvSpPr>
            <p:cNvPr name="TextBox 25" id="25"/>
            <p:cNvSpPr txBox="true"/>
            <p:nvPr/>
          </p:nvSpPr>
          <p:spPr>
            <a:xfrm>
              <a:off x="0" y="-66675"/>
              <a:ext cx="1060799" cy="830102"/>
            </a:xfrm>
            <a:prstGeom prst="rect">
              <a:avLst/>
            </a:prstGeom>
          </p:spPr>
          <p:txBody>
            <a:bodyPr anchor="ctr" rtlCol="false" tIns="50800" lIns="50800" bIns="50800" rIns="50800"/>
            <a:lstStyle/>
            <a:p>
              <a:pPr algn="ctr">
                <a:lnSpc>
                  <a:spcPts val="3359"/>
                </a:lnSpc>
              </a:pPr>
              <a:r>
                <a:rPr lang="en-US" sz="2799" b="true">
                  <a:solidFill>
                    <a:srgbClr val="23496D"/>
                  </a:solidFill>
                  <a:latin typeface="Calibri (MS) Bold"/>
                  <a:ea typeface="Calibri (MS) Bold"/>
                  <a:cs typeface="Calibri (MS) Bold"/>
                  <a:sym typeface="Calibri (MS) Bold"/>
                </a:rPr>
                <a:t>Drive the address</a:t>
              </a:r>
            </a:p>
            <a:p>
              <a:pPr algn="ctr">
                <a:lnSpc>
                  <a:spcPts val="2347"/>
                </a:lnSpc>
              </a:pPr>
              <a:r>
                <a:rPr lang="en-US" sz="1956">
                  <a:solidFill>
                    <a:srgbClr val="23496D"/>
                  </a:solidFill>
                  <a:latin typeface="Calibri (MS)"/>
                  <a:ea typeface="Calibri (MS)"/>
                  <a:cs typeface="Calibri (MS)"/>
                  <a:sym typeface="Calibri (MS)"/>
                </a:rPr>
                <a:t>t</a:t>
              </a:r>
              <a:r>
                <a:rPr lang="en-US" sz="1956">
                  <a:solidFill>
                    <a:srgbClr val="23496D"/>
                  </a:solidFill>
                  <a:latin typeface="Calibri (MS)"/>
                  <a:ea typeface="Calibri (MS)"/>
                  <a:cs typeface="Calibri (MS)"/>
                  <a:sym typeface="Calibri (MS)"/>
                </a:rPr>
                <a:t>ry_next_item, then drive_addr. </a:t>
              </a:r>
            </a:p>
            <a:p>
              <a:pPr algn="ctr">
                <a:lnSpc>
                  <a:spcPts val="2347"/>
                </a:lnSpc>
              </a:pPr>
              <a:r>
                <a:rPr lang="en-US" sz="1956">
                  <a:solidFill>
                    <a:srgbClr val="23496D"/>
                  </a:solidFill>
                  <a:latin typeface="Calibri (MS)"/>
                  <a:ea typeface="Calibri (MS)"/>
                  <a:cs typeface="Calibri (MS)"/>
                  <a:sym typeface="Calibri (MS)"/>
                </a:rPr>
                <a:t>No item? drive_idle.</a:t>
              </a:r>
            </a:p>
          </p:txBody>
        </p:sp>
      </p:grpSp>
      <p:grpSp>
        <p:nvGrpSpPr>
          <p:cNvPr name="Group 26" id="26"/>
          <p:cNvGrpSpPr/>
          <p:nvPr/>
        </p:nvGrpSpPr>
        <p:grpSpPr>
          <a:xfrm rot="0">
            <a:off x="9052915" y="4823915"/>
            <a:ext cx="4027722" cy="2898637"/>
            <a:chOff x="0" y="0"/>
            <a:chExt cx="1060799" cy="763427"/>
          </a:xfrm>
        </p:grpSpPr>
        <p:sp>
          <p:nvSpPr>
            <p:cNvPr name="Freeform 27" id="27"/>
            <p:cNvSpPr/>
            <p:nvPr/>
          </p:nvSpPr>
          <p:spPr>
            <a:xfrm flipH="false" flipV="false" rot="0">
              <a:off x="0" y="0"/>
              <a:ext cx="1060799" cy="763427"/>
            </a:xfrm>
            <a:custGeom>
              <a:avLst/>
              <a:gdLst/>
              <a:ahLst/>
              <a:cxnLst/>
              <a:rect r="r" b="b" t="t" l="l"/>
              <a:pathLst>
                <a:path h="763427" w="1060799">
                  <a:moveTo>
                    <a:pt x="98030" y="0"/>
                  </a:moveTo>
                  <a:lnTo>
                    <a:pt x="962769" y="0"/>
                  </a:lnTo>
                  <a:cubicBezTo>
                    <a:pt x="988768" y="0"/>
                    <a:pt x="1013703" y="10328"/>
                    <a:pt x="1032087" y="28712"/>
                  </a:cubicBezTo>
                  <a:cubicBezTo>
                    <a:pt x="1050471" y="47097"/>
                    <a:pt x="1060799" y="72031"/>
                    <a:pt x="1060799" y="98030"/>
                  </a:cubicBezTo>
                  <a:lnTo>
                    <a:pt x="1060799" y="665397"/>
                  </a:lnTo>
                  <a:cubicBezTo>
                    <a:pt x="1060799" y="691396"/>
                    <a:pt x="1050471" y="716330"/>
                    <a:pt x="1032087" y="734715"/>
                  </a:cubicBezTo>
                  <a:cubicBezTo>
                    <a:pt x="1013703" y="753099"/>
                    <a:pt x="988768" y="763427"/>
                    <a:pt x="962769" y="763427"/>
                  </a:cubicBezTo>
                  <a:lnTo>
                    <a:pt x="98030" y="763427"/>
                  </a:lnTo>
                  <a:cubicBezTo>
                    <a:pt x="43890" y="763427"/>
                    <a:pt x="0" y="719537"/>
                    <a:pt x="0" y="665397"/>
                  </a:cubicBezTo>
                  <a:lnTo>
                    <a:pt x="0" y="98030"/>
                  </a:lnTo>
                  <a:cubicBezTo>
                    <a:pt x="0" y="72031"/>
                    <a:pt x="10328" y="47097"/>
                    <a:pt x="28712" y="28712"/>
                  </a:cubicBezTo>
                  <a:cubicBezTo>
                    <a:pt x="47097" y="10328"/>
                    <a:pt x="72031" y="0"/>
                    <a:pt x="98030" y="0"/>
                  </a:cubicBezTo>
                  <a:close/>
                </a:path>
              </a:pathLst>
            </a:custGeom>
            <a:solidFill>
              <a:srgbClr val="23496D"/>
            </a:solidFill>
          </p:spPr>
        </p:sp>
        <p:sp>
          <p:nvSpPr>
            <p:cNvPr name="TextBox 28" id="28"/>
            <p:cNvSpPr txBox="true"/>
            <p:nvPr/>
          </p:nvSpPr>
          <p:spPr>
            <a:xfrm>
              <a:off x="0" y="-66675"/>
              <a:ext cx="1060799" cy="830102"/>
            </a:xfrm>
            <a:prstGeom prst="rect">
              <a:avLst/>
            </a:prstGeom>
          </p:spPr>
          <p:txBody>
            <a:bodyPr anchor="ctr" rtlCol="false" tIns="50800" lIns="50800" bIns="50800" rIns="50800"/>
            <a:lstStyle/>
            <a:p>
              <a:pPr algn="ctr">
                <a:lnSpc>
                  <a:spcPts val="3359"/>
                </a:lnSpc>
              </a:pPr>
              <a:r>
                <a:rPr lang="en-US" sz="2799" b="true">
                  <a:solidFill>
                    <a:srgbClr val="F7F5F1"/>
                  </a:solidFill>
                  <a:latin typeface="Calibri (MS) Bold"/>
                  <a:ea typeface="Calibri (MS) Bold"/>
                  <a:cs typeface="Calibri (MS) Bold"/>
                  <a:sym typeface="Calibri (MS) Bold"/>
                </a:rPr>
                <a:t>Drive the data</a:t>
              </a:r>
            </a:p>
            <a:p>
              <a:pPr algn="ctr">
                <a:lnSpc>
                  <a:spcPts val="2347"/>
                </a:lnSpc>
              </a:pPr>
              <a:r>
                <a:rPr lang="en-US" sz="1956">
                  <a:solidFill>
                    <a:srgbClr val="F7F5F1"/>
                  </a:solidFill>
                  <a:latin typeface="Calibri (MS)"/>
                  <a:ea typeface="Calibri (MS)"/>
                  <a:cs typeface="Calibri (MS)"/>
                  <a:sym typeface="Calibri (MS)"/>
                </a:rPr>
                <a:t>If da</a:t>
              </a:r>
              <a:r>
                <a:rPr lang="en-US" sz="1956">
                  <a:solidFill>
                    <a:srgbClr val="F7F5F1"/>
                  </a:solidFill>
                  <a:latin typeface="Calibri (MS)"/>
                  <a:ea typeface="Calibri (MS)"/>
                  <a:cs typeface="Calibri (MS)"/>
                  <a:sym typeface="Calibri (MS)"/>
                </a:rPr>
                <a:t>ta_item is a write, put its HWDATA on the bus.</a:t>
              </a:r>
            </a:p>
          </p:txBody>
        </p:sp>
      </p:grpSp>
      <p:grpSp>
        <p:nvGrpSpPr>
          <p:cNvPr name="Group 29" id="29"/>
          <p:cNvGrpSpPr/>
          <p:nvPr/>
        </p:nvGrpSpPr>
        <p:grpSpPr>
          <a:xfrm rot="0">
            <a:off x="13433062" y="4823915"/>
            <a:ext cx="4027722" cy="2898637"/>
            <a:chOff x="0" y="0"/>
            <a:chExt cx="1060799" cy="763427"/>
          </a:xfrm>
        </p:grpSpPr>
        <p:sp>
          <p:nvSpPr>
            <p:cNvPr name="Freeform 30" id="30"/>
            <p:cNvSpPr/>
            <p:nvPr/>
          </p:nvSpPr>
          <p:spPr>
            <a:xfrm flipH="false" flipV="false" rot="0">
              <a:off x="0" y="0"/>
              <a:ext cx="1060799" cy="763427"/>
            </a:xfrm>
            <a:custGeom>
              <a:avLst/>
              <a:gdLst/>
              <a:ahLst/>
              <a:cxnLst/>
              <a:rect r="r" b="b" t="t" l="l"/>
              <a:pathLst>
                <a:path h="763427" w="1060799">
                  <a:moveTo>
                    <a:pt x="98030" y="0"/>
                  </a:moveTo>
                  <a:lnTo>
                    <a:pt x="962769" y="0"/>
                  </a:lnTo>
                  <a:cubicBezTo>
                    <a:pt x="988768" y="0"/>
                    <a:pt x="1013703" y="10328"/>
                    <a:pt x="1032087" y="28712"/>
                  </a:cubicBezTo>
                  <a:cubicBezTo>
                    <a:pt x="1050471" y="47097"/>
                    <a:pt x="1060799" y="72031"/>
                    <a:pt x="1060799" y="98030"/>
                  </a:cubicBezTo>
                  <a:lnTo>
                    <a:pt x="1060799" y="665397"/>
                  </a:lnTo>
                  <a:cubicBezTo>
                    <a:pt x="1060799" y="691396"/>
                    <a:pt x="1050471" y="716330"/>
                    <a:pt x="1032087" y="734715"/>
                  </a:cubicBezTo>
                  <a:cubicBezTo>
                    <a:pt x="1013703" y="753099"/>
                    <a:pt x="988768" y="763427"/>
                    <a:pt x="962769" y="763427"/>
                  </a:cubicBezTo>
                  <a:lnTo>
                    <a:pt x="98030" y="763427"/>
                  </a:lnTo>
                  <a:cubicBezTo>
                    <a:pt x="43890" y="763427"/>
                    <a:pt x="0" y="719537"/>
                    <a:pt x="0" y="665397"/>
                  </a:cubicBezTo>
                  <a:lnTo>
                    <a:pt x="0" y="98030"/>
                  </a:lnTo>
                  <a:cubicBezTo>
                    <a:pt x="0" y="72031"/>
                    <a:pt x="10328" y="47097"/>
                    <a:pt x="28712" y="28712"/>
                  </a:cubicBezTo>
                  <a:cubicBezTo>
                    <a:pt x="47097" y="10328"/>
                    <a:pt x="72031" y="0"/>
                    <a:pt x="98030" y="0"/>
                  </a:cubicBezTo>
                  <a:close/>
                </a:path>
              </a:pathLst>
            </a:custGeom>
            <a:solidFill>
              <a:srgbClr val="DCE3EC"/>
            </a:solidFill>
          </p:spPr>
        </p:sp>
        <p:sp>
          <p:nvSpPr>
            <p:cNvPr name="TextBox 31" id="31"/>
            <p:cNvSpPr txBox="true"/>
            <p:nvPr/>
          </p:nvSpPr>
          <p:spPr>
            <a:xfrm>
              <a:off x="0" y="-66675"/>
              <a:ext cx="1060799" cy="830102"/>
            </a:xfrm>
            <a:prstGeom prst="rect">
              <a:avLst/>
            </a:prstGeom>
          </p:spPr>
          <p:txBody>
            <a:bodyPr anchor="ctr" rtlCol="false" tIns="50800" lIns="50800" bIns="50800" rIns="50800"/>
            <a:lstStyle/>
            <a:p>
              <a:pPr algn="ctr">
                <a:lnSpc>
                  <a:spcPts val="3359"/>
                </a:lnSpc>
              </a:pPr>
              <a:r>
                <a:rPr lang="en-US" sz="2799" b="true">
                  <a:solidFill>
                    <a:srgbClr val="23496D"/>
                  </a:solidFill>
                  <a:latin typeface="Calibri (MS) Bold"/>
                  <a:ea typeface="Calibri (MS) Bold"/>
                  <a:cs typeface="Calibri (MS) Bold"/>
                  <a:sym typeface="Calibri (MS) Bold"/>
                </a:rPr>
                <a:t>Wait for the clock</a:t>
              </a:r>
            </a:p>
            <a:p>
              <a:pPr algn="ctr">
                <a:lnSpc>
                  <a:spcPts val="2347"/>
                </a:lnSpc>
              </a:pPr>
              <a:r>
                <a:rPr lang="en-US" sz="1956">
                  <a:solidFill>
                    <a:srgbClr val="23496D"/>
                  </a:solidFill>
                  <a:latin typeface="Calibri (MS)"/>
                  <a:ea typeface="Calibri (MS)"/>
                  <a:cs typeface="Calibri (MS)"/>
                  <a:sym typeface="Calibri (MS)"/>
                </a:rPr>
                <a:t>@(d</a:t>
              </a:r>
              <a:r>
                <a:rPr lang="en-US" sz="1956">
                  <a:solidFill>
                    <a:srgbClr val="23496D"/>
                  </a:solidFill>
                  <a:latin typeface="Calibri (MS)"/>
                  <a:ea typeface="Calibri (MS)"/>
                  <a:cs typeface="Calibri (MS)"/>
                  <a:sym typeface="Calibri (MS)"/>
                </a:rPr>
                <a:t>rv_cb), then look at HREAD</a:t>
              </a:r>
              <a:r>
                <a:rPr lang="en-US" sz="1956">
                  <a:solidFill>
                    <a:srgbClr val="F7F5F1"/>
                  </a:solidFill>
                  <a:latin typeface="Calibri (MS)"/>
                  <a:ea typeface="Calibri (MS)"/>
                  <a:cs typeface="Calibri (MS)"/>
                  <a:sym typeface="Calibri (MS)"/>
                </a:rPr>
                <a:t>Y.</a:t>
              </a:r>
            </a:p>
          </p:txBody>
        </p:sp>
      </p:grpSp>
      <p:grpSp>
        <p:nvGrpSpPr>
          <p:cNvPr name="Group 32" id="32"/>
          <p:cNvGrpSpPr/>
          <p:nvPr/>
        </p:nvGrpSpPr>
        <p:grpSpPr>
          <a:xfrm rot="0">
            <a:off x="3664210" y="8289430"/>
            <a:ext cx="9768852" cy="834783"/>
            <a:chOff x="0" y="0"/>
            <a:chExt cx="13025136" cy="1113045"/>
          </a:xfrm>
        </p:grpSpPr>
        <p:sp>
          <p:nvSpPr>
            <p:cNvPr name="Freeform 33" id="33"/>
            <p:cNvSpPr/>
            <p:nvPr/>
          </p:nvSpPr>
          <p:spPr>
            <a:xfrm flipH="false" flipV="false" rot="0">
              <a:off x="0" y="0"/>
              <a:ext cx="13025135" cy="1113045"/>
            </a:xfrm>
            <a:custGeom>
              <a:avLst/>
              <a:gdLst/>
              <a:ahLst/>
              <a:cxnLst/>
              <a:rect r="r" b="b" t="t" l="l"/>
              <a:pathLst>
                <a:path h="1113045" w="13025135">
                  <a:moveTo>
                    <a:pt x="0" y="556522"/>
                  </a:moveTo>
                  <a:cubicBezTo>
                    <a:pt x="0" y="249160"/>
                    <a:pt x="368303" y="0"/>
                    <a:pt x="822640" y="0"/>
                  </a:cubicBezTo>
                  <a:lnTo>
                    <a:pt x="12202495" y="0"/>
                  </a:lnTo>
                  <a:cubicBezTo>
                    <a:pt x="12656833" y="0"/>
                    <a:pt x="13025135" y="249160"/>
                    <a:pt x="13025135" y="556522"/>
                  </a:cubicBezTo>
                  <a:cubicBezTo>
                    <a:pt x="13025135" y="863885"/>
                    <a:pt x="12656833" y="1113045"/>
                    <a:pt x="12202495" y="1113045"/>
                  </a:cubicBezTo>
                  <a:lnTo>
                    <a:pt x="822640" y="1113045"/>
                  </a:lnTo>
                  <a:cubicBezTo>
                    <a:pt x="368303" y="1113045"/>
                    <a:pt x="0" y="863885"/>
                    <a:pt x="0" y="556522"/>
                  </a:cubicBezTo>
                  <a:close/>
                </a:path>
              </a:pathLst>
            </a:custGeom>
            <a:solidFill>
              <a:srgbClr val="23496D"/>
            </a:solidFill>
          </p:spPr>
        </p:sp>
        <p:sp>
          <p:nvSpPr>
            <p:cNvPr name="TextBox 34" id="34"/>
            <p:cNvSpPr txBox="true"/>
            <p:nvPr/>
          </p:nvSpPr>
          <p:spPr>
            <a:xfrm>
              <a:off x="0" y="-28575"/>
              <a:ext cx="13025136" cy="1141620"/>
            </a:xfrm>
            <a:prstGeom prst="rect">
              <a:avLst/>
            </a:prstGeom>
          </p:spPr>
          <p:txBody>
            <a:bodyPr anchor="ctr" rtlCol="false" tIns="50800" lIns="50800" bIns="50800" rIns="50800"/>
            <a:lstStyle/>
            <a:p>
              <a:pPr algn="ctr">
                <a:lnSpc>
                  <a:spcPts val="2155"/>
                </a:lnSpc>
              </a:pPr>
              <a:r>
                <a:rPr lang="en-US" sz="1959" b="true">
                  <a:solidFill>
                    <a:srgbClr val="FFFFFF"/>
                  </a:solidFill>
                  <a:latin typeface="Carlito Bold"/>
                  <a:ea typeface="Carlito Bold"/>
                  <a:cs typeface="Carlito Bold"/>
                  <a:sym typeface="Carlito Bold"/>
                </a:rPr>
                <a:t>need an item?? try_next_item never blocks, so the bus sees an idle cycle instead of a stall</a:t>
              </a:r>
            </a:p>
          </p:txBody>
        </p:sp>
      </p:grpSp>
      <p:sp>
        <p:nvSpPr>
          <p:cNvPr name="TextBox 35" id="35"/>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AHB Driver</a:t>
            </a:r>
          </a:p>
        </p:txBody>
      </p:sp>
      <p:grpSp>
        <p:nvGrpSpPr>
          <p:cNvPr name="Group 36" id="36"/>
          <p:cNvGrpSpPr/>
          <p:nvPr/>
        </p:nvGrpSpPr>
        <p:grpSpPr>
          <a:xfrm rot="0">
            <a:off x="157086" y="9885045"/>
            <a:ext cx="10972800" cy="411480"/>
            <a:chOff x="0" y="0"/>
            <a:chExt cx="14630400" cy="548640"/>
          </a:xfrm>
        </p:grpSpPr>
        <p:sp>
          <p:nvSpPr>
            <p:cNvPr name="Freeform 37" id="3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38" id="3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39" id="39"/>
          <p:cNvGrpSpPr/>
          <p:nvPr/>
        </p:nvGrpSpPr>
        <p:grpSpPr>
          <a:xfrm rot="0">
            <a:off x="16911828" y="9710928"/>
            <a:ext cx="685800" cy="411480"/>
            <a:chOff x="0" y="0"/>
            <a:chExt cx="914400" cy="548640"/>
          </a:xfrm>
        </p:grpSpPr>
        <p:sp>
          <p:nvSpPr>
            <p:cNvPr name="Freeform 40" id="4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41" id="4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15714277" y="0"/>
            <a:ext cx="4407982" cy="1407455"/>
          </a:xfrm>
          <a:custGeom>
            <a:avLst/>
            <a:gdLst/>
            <a:ahLst/>
            <a:cxnLst/>
            <a:rect r="r" b="b" t="t" l="l"/>
            <a:pathLst>
              <a:path h="1407455" w="4407982">
                <a:moveTo>
                  <a:pt x="0" y="0"/>
                </a:moveTo>
                <a:lnTo>
                  <a:pt x="4407982" y="0"/>
                </a:lnTo>
                <a:lnTo>
                  <a:pt x="4407982" y="1407455"/>
                </a:lnTo>
                <a:lnTo>
                  <a:pt x="0" y="14074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AHB Driver</a:t>
            </a:r>
          </a:p>
        </p:txBody>
      </p:sp>
      <p:grpSp>
        <p:nvGrpSpPr>
          <p:cNvPr name="Group 4" id="4"/>
          <p:cNvGrpSpPr/>
          <p:nvPr/>
        </p:nvGrpSpPr>
        <p:grpSpPr>
          <a:xfrm rot="0">
            <a:off x="217050" y="2417570"/>
            <a:ext cx="7239000" cy="914400"/>
            <a:chOff x="0" y="0"/>
            <a:chExt cx="9652000" cy="1219200"/>
          </a:xfrm>
        </p:grpSpPr>
        <p:sp>
          <p:nvSpPr>
            <p:cNvPr name="Freeform 5" id="5"/>
            <p:cNvSpPr/>
            <p:nvPr/>
          </p:nvSpPr>
          <p:spPr>
            <a:xfrm flipH="false" flipV="false" rot="0">
              <a:off x="0" y="0"/>
              <a:ext cx="9652000" cy="1219200"/>
            </a:xfrm>
            <a:custGeom>
              <a:avLst/>
              <a:gdLst/>
              <a:ahLst/>
              <a:cxnLst/>
              <a:rect r="r" b="b" t="t" l="l"/>
              <a:pathLst>
                <a:path h="1219200" w="9652000">
                  <a:moveTo>
                    <a:pt x="0" y="609600"/>
                  </a:moveTo>
                  <a:cubicBezTo>
                    <a:pt x="0" y="272923"/>
                    <a:pt x="272923" y="0"/>
                    <a:pt x="609600" y="0"/>
                  </a:cubicBezTo>
                  <a:lnTo>
                    <a:pt x="9042400" y="0"/>
                  </a:lnTo>
                  <a:cubicBezTo>
                    <a:pt x="9379077" y="0"/>
                    <a:pt x="9652000" y="272923"/>
                    <a:pt x="9652000" y="609600"/>
                  </a:cubicBezTo>
                  <a:cubicBezTo>
                    <a:pt x="9652000" y="946277"/>
                    <a:pt x="9379077" y="1219200"/>
                    <a:pt x="9042400" y="1219200"/>
                  </a:cubicBezTo>
                  <a:lnTo>
                    <a:pt x="609600" y="1219200"/>
                  </a:lnTo>
                  <a:cubicBezTo>
                    <a:pt x="272923" y="1219200"/>
                    <a:pt x="0" y="946277"/>
                    <a:pt x="0" y="609600"/>
                  </a:cubicBezTo>
                  <a:close/>
                </a:path>
              </a:pathLst>
            </a:custGeom>
            <a:solidFill>
              <a:srgbClr val="23496D"/>
            </a:solidFill>
          </p:spPr>
        </p:sp>
        <p:sp>
          <p:nvSpPr>
            <p:cNvPr name="TextBox 6" id="6"/>
            <p:cNvSpPr txBox="true"/>
            <p:nvPr/>
          </p:nvSpPr>
          <p:spPr>
            <a:xfrm>
              <a:off x="0" y="-38100"/>
              <a:ext cx="9652000" cy="1257300"/>
            </a:xfrm>
            <a:prstGeom prst="rect">
              <a:avLst/>
            </a:prstGeom>
          </p:spPr>
          <p:txBody>
            <a:bodyPr anchor="ctr" rtlCol="false" tIns="50800" lIns="50800" bIns="50800" rIns="50800"/>
            <a:lstStyle/>
            <a:p>
              <a:pPr algn="ctr">
                <a:lnSpc>
                  <a:spcPts val="4455"/>
                </a:lnSpc>
              </a:pPr>
              <a:r>
                <a:rPr lang="en-US" sz="4050" b="true">
                  <a:solidFill>
                    <a:srgbClr val="FFFFFF"/>
                  </a:solidFill>
                  <a:latin typeface="Carlito Bold"/>
                  <a:ea typeface="Carlito Bold"/>
                  <a:cs typeface="Carlito Bold"/>
                  <a:sym typeface="Carlito Bold"/>
                </a:rPr>
                <a:t>HREADY decides</a:t>
              </a:r>
            </a:p>
          </p:txBody>
        </p:sp>
      </p:grpSp>
      <p:grpSp>
        <p:nvGrpSpPr>
          <p:cNvPr name="Group 7" id="7"/>
          <p:cNvGrpSpPr/>
          <p:nvPr/>
        </p:nvGrpSpPr>
        <p:grpSpPr>
          <a:xfrm rot="0">
            <a:off x="217050" y="4344296"/>
            <a:ext cx="7519936" cy="2898637"/>
            <a:chOff x="0" y="0"/>
            <a:chExt cx="1980559" cy="763427"/>
          </a:xfrm>
        </p:grpSpPr>
        <p:sp>
          <p:nvSpPr>
            <p:cNvPr name="Freeform 8" id="8"/>
            <p:cNvSpPr/>
            <p:nvPr/>
          </p:nvSpPr>
          <p:spPr>
            <a:xfrm flipH="false" flipV="false" rot="0">
              <a:off x="0" y="0"/>
              <a:ext cx="1980559" cy="763427"/>
            </a:xfrm>
            <a:custGeom>
              <a:avLst/>
              <a:gdLst/>
              <a:ahLst/>
              <a:cxnLst/>
              <a:rect r="r" b="b" t="t" l="l"/>
              <a:pathLst>
                <a:path h="763427" w="1980559">
                  <a:moveTo>
                    <a:pt x="52505" y="0"/>
                  </a:moveTo>
                  <a:lnTo>
                    <a:pt x="1928054" y="0"/>
                  </a:lnTo>
                  <a:cubicBezTo>
                    <a:pt x="1957052" y="0"/>
                    <a:pt x="1980559" y="23508"/>
                    <a:pt x="1980559" y="52505"/>
                  </a:cubicBezTo>
                  <a:lnTo>
                    <a:pt x="1980559" y="710922"/>
                  </a:lnTo>
                  <a:cubicBezTo>
                    <a:pt x="1980559" y="739919"/>
                    <a:pt x="1957052" y="763427"/>
                    <a:pt x="1928054" y="763427"/>
                  </a:cubicBezTo>
                  <a:lnTo>
                    <a:pt x="52505" y="763427"/>
                  </a:lnTo>
                  <a:cubicBezTo>
                    <a:pt x="23508" y="763427"/>
                    <a:pt x="0" y="739919"/>
                    <a:pt x="0" y="710922"/>
                  </a:cubicBezTo>
                  <a:lnTo>
                    <a:pt x="0" y="52505"/>
                  </a:lnTo>
                  <a:cubicBezTo>
                    <a:pt x="0" y="23508"/>
                    <a:pt x="23508" y="0"/>
                    <a:pt x="52505" y="0"/>
                  </a:cubicBezTo>
                  <a:close/>
                </a:path>
              </a:pathLst>
            </a:custGeom>
            <a:solidFill>
              <a:srgbClr val="DCE3EC"/>
            </a:solidFill>
          </p:spPr>
        </p:sp>
        <p:sp>
          <p:nvSpPr>
            <p:cNvPr name="TextBox 9" id="9"/>
            <p:cNvSpPr txBox="true"/>
            <p:nvPr/>
          </p:nvSpPr>
          <p:spPr>
            <a:xfrm>
              <a:off x="0" y="-66675"/>
              <a:ext cx="1980559" cy="830102"/>
            </a:xfrm>
            <a:prstGeom prst="rect">
              <a:avLst/>
            </a:prstGeom>
          </p:spPr>
          <p:txBody>
            <a:bodyPr anchor="ctr" rtlCol="false" tIns="50800" lIns="50800" bIns="50800" rIns="50800"/>
            <a:lstStyle/>
            <a:p>
              <a:pPr algn="ctr">
                <a:lnSpc>
                  <a:spcPts val="3359"/>
                </a:lnSpc>
              </a:pPr>
              <a:r>
                <a:rPr lang="en-US" sz="2799" b="true">
                  <a:solidFill>
                    <a:srgbClr val="23496D"/>
                  </a:solidFill>
                  <a:latin typeface="Calibri (MS) Bold"/>
                  <a:ea typeface="Calibri (MS) Bold"/>
                  <a:cs typeface="Calibri (MS) Bold"/>
                  <a:sym typeface="Calibri (MS) Bold"/>
                </a:rPr>
                <a:t>HREADY = 1</a:t>
              </a:r>
            </a:p>
            <a:p>
              <a:pPr algn="ctr">
                <a:lnSpc>
                  <a:spcPts val="2347"/>
                </a:lnSpc>
              </a:pPr>
              <a:r>
                <a:rPr lang="en-US" sz="1956">
                  <a:solidFill>
                    <a:srgbClr val="23496D"/>
                  </a:solidFill>
                  <a:latin typeface="Calibri (MS)"/>
                  <a:ea typeface="Calibri (MS)"/>
                  <a:cs typeface="Calibri (MS)"/>
                  <a:sym typeface="Calibri (MS)"/>
                </a:rPr>
                <a:t>Slave accepted the phase.</a:t>
              </a:r>
            </a:p>
            <a:p>
              <a:pPr algn="ctr">
                <a:lnSpc>
                  <a:spcPts val="2347"/>
                </a:lnSpc>
              </a:pPr>
              <a:r>
                <a:rPr lang="en-US" sz="1956">
                  <a:solidFill>
                    <a:srgbClr val="23496D"/>
                  </a:solidFill>
                  <a:latin typeface="Calibri (MS)"/>
                  <a:ea typeface="Calibri (MS)"/>
                  <a:cs typeface="Calibri (MS)"/>
                  <a:sym typeface="Calibri (MS)"/>
                </a:rPr>
                <a:t>addr_item: if HTRANS[1], it becomes data_item (wait_states = 0). item_done, clear addr_item.</a:t>
              </a:r>
            </a:p>
            <a:p>
              <a:pPr algn="ctr">
                <a:lnSpc>
                  <a:spcPts val="2347"/>
                </a:lnSpc>
              </a:pPr>
            </a:p>
            <a:p>
              <a:pPr algn="ctr">
                <a:lnSpc>
                  <a:spcPts val="2347"/>
                </a:lnSpc>
              </a:pPr>
            </a:p>
          </p:txBody>
        </p:sp>
      </p:grpSp>
      <p:grpSp>
        <p:nvGrpSpPr>
          <p:cNvPr name="Group 10" id="10"/>
          <p:cNvGrpSpPr/>
          <p:nvPr/>
        </p:nvGrpSpPr>
        <p:grpSpPr>
          <a:xfrm rot="0">
            <a:off x="9755149" y="4344296"/>
            <a:ext cx="7504151" cy="2898637"/>
            <a:chOff x="0" y="0"/>
            <a:chExt cx="1976402" cy="763427"/>
          </a:xfrm>
        </p:grpSpPr>
        <p:sp>
          <p:nvSpPr>
            <p:cNvPr name="Freeform 11" id="11"/>
            <p:cNvSpPr/>
            <p:nvPr/>
          </p:nvSpPr>
          <p:spPr>
            <a:xfrm flipH="false" flipV="false" rot="0">
              <a:off x="0" y="0"/>
              <a:ext cx="1976402" cy="763427"/>
            </a:xfrm>
            <a:custGeom>
              <a:avLst/>
              <a:gdLst/>
              <a:ahLst/>
              <a:cxnLst/>
              <a:rect r="r" b="b" t="t" l="l"/>
              <a:pathLst>
                <a:path h="763427" w="1976402">
                  <a:moveTo>
                    <a:pt x="52616" y="0"/>
                  </a:moveTo>
                  <a:lnTo>
                    <a:pt x="1923786" y="0"/>
                  </a:lnTo>
                  <a:cubicBezTo>
                    <a:pt x="1952845" y="0"/>
                    <a:pt x="1976402" y="23557"/>
                    <a:pt x="1976402" y="52616"/>
                  </a:cubicBezTo>
                  <a:lnTo>
                    <a:pt x="1976402" y="710811"/>
                  </a:lnTo>
                  <a:cubicBezTo>
                    <a:pt x="1976402" y="724766"/>
                    <a:pt x="1970858" y="738149"/>
                    <a:pt x="1960991" y="748016"/>
                  </a:cubicBezTo>
                  <a:cubicBezTo>
                    <a:pt x="1951124" y="757884"/>
                    <a:pt x="1937740" y="763427"/>
                    <a:pt x="1923786" y="763427"/>
                  </a:cubicBezTo>
                  <a:lnTo>
                    <a:pt x="52616" y="763427"/>
                  </a:lnTo>
                  <a:cubicBezTo>
                    <a:pt x="23557" y="763427"/>
                    <a:pt x="0" y="739870"/>
                    <a:pt x="0" y="710811"/>
                  </a:cubicBezTo>
                  <a:lnTo>
                    <a:pt x="0" y="52616"/>
                  </a:lnTo>
                  <a:cubicBezTo>
                    <a:pt x="0" y="38661"/>
                    <a:pt x="5543" y="25278"/>
                    <a:pt x="15411" y="15411"/>
                  </a:cubicBezTo>
                  <a:cubicBezTo>
                    <a:pt x="25278" y="5543"/>
                    <a:pt x="38661" y="0"/>
                    <a:pt x="52616" y="0"/>
                  </a:cubicBezTo>
                  <a:close/>
                </a:path>
              </a:pathLst>
            </a:custGeom>
            <a:solidFill>
              <a:srgbClr val="DCE3EC"/>
            </a:solidFill>
          </p:spPr>
        </p:sp>
        <p:sp>
          <p:nvSpPr>
            <p:cNvPr name="TextBox 12" id="12"/>
            <p:cNvSpPr txBox="true"/>
            <p:nvPr/>
          </p:nvSpPr>
          <p:spPr>
            <a:xfrm>
              <a:off x="0" y="-66675"/>
              <a:ext cx="1976402" cy="830102"/>
            </a:xfrm>
            <a:prstGeom prst="rect">
              <a:avLst/>
            </a:prstGeom>
          </p:spPr>
          <p:txBody>
            <a:bodyPr anchor="ctr" rtlCol="false" tIns="50800" lIns="50800" bIns="50800" rIns="50800"/>
            <a:lstStyle/>
            <a:p>
              <a:pPr algn="ctr">
                <a:lnSpc>
                  <a:spcPts val="3359"/>
                </a:lnSpc>
              </a:pPr>
              <a:r>
                <a:rPr lang="en-US" sz="2799" b="true">
                  <a:solidFill>
                    <a:srgbClr val="23496D"/>
                  </a:solidFill>
                  <a:latin typeface="Calibri (MS) Bold"/>
                  <a:ea typeface="Calibri (MS) Bold"/>
                  <a:cs typeface="Calibri (MS) Bold"/>
                  <a:sym typeface="Calibri (MS) Bold"/>
                </a:rPr>
                <a:t>HREADY = 0</a:t>
              </a:r>
            </a:p>
            <a:p>
              <a:pPr algn="ctr">
                <a:lnSpc>
                  <a:spcPts val="2351"/>
                </a:lnSpc>
              </a:pPr>
              <a:r>
                <a:rPr lang="en-US" sz="1959">
                  <a:solidFill>
                    <a:srgbClr val="23496D"/>
                  </a:solidFill>
                  <a:latin typeface="Calibri (MS)"/>
                  <a:ea typeface="Calibri (MS)"/>
                  <a:cs typeface="Calibri (MS)"/>
                  <a:sym typeface="Calibri (MS)"/>
                </a:rPr>
                <a:t>Slave is stalling.</a:t>
              </a:r>
            </a:p>
            <a:p>
              <a:pPr algn="ctr">
                <a:lnSpc>
                  <a:spcPts val="2351"/>
                </a:lnSpc>
              </a:pPr>
              <a:r>
                <a:rPr lang="en-US" sz="1959">
                  <a:solidFill>
                    <a:srgbClr val="23496D"/>
                  </a:solidFill>
                  <a:latin typeface="Calibri (MS)"/>
                  <a:ea typeface="Calibri (MS)"/>
                  <a:cs typeface="Calibri (MS)"/>
                  <a:sym typeface="Calibri (MS)"/>
                </a:rPr>
                <a:t>Hold everything on the bus. addr_item stays non-null, so it is driven again next cycle.</a:t>
              </a:r>
            </a:p>
            <a:p>
              <a:pPr algn="ctr">
                <a:lnSpc>
                  <a:spcPts val="2351"/>
                </a:lnSpc>
              </a:pPr>
              <a:r>
                <a:rPr lang="en-US" sz="1959">
                  <a:solidFill>
                    <a:srgbClr val="23496D"/>
                  </a:solidFill>
                  <a:latin typeface="Calibri (MS)"/>
                  <a:ea typeface="Calibri (MS)"/>
                  <a:cs typeface="Calibri (MS)"/>
                  <a:sym typeface="Calibri (MS)"/>
                </a:rPr>
                <a:t>data_item: wait_states++.</a:t>
              </a:r>
            </a:p>
            <a:p>
              <a:pPr algn="ctr">
                <a:lnSpc>
                  <a:spcPts val="2351"/>
                </a:lnSpc>
              </a:pPr>
            </a:p>
          </p:txBody>
        </p:sp>
      </p:grpSp>
      <p:grpSp>
        <p:nvGrpSpPr>
          <p:cNvPr name="Group 13" id="13"/>
          <p:cNvGrpSpPr/>
          <p:nvPr/>
        </p:nvGrpSpPr>
        <p:grpSpPr>
          <a:xfrm rot="0">
            <a:off x="3738373" y="7999529"/>
            <a:ext cx="9768852" cy="834783"/>
            <a:chOff x="0" y="0"/>
            <a:chExt cx="13025136" cy="1113045"/>
          </a:xfrm>
        </p:grpSpPr>
        <p:sp>
          <p:nvSpPr>
            <p:cNvPr name="Freeform 14" id="14"/>
            <p:cNvSpPr/>
            <p:nvPr/>
          </p:nvSpPr>
          <p:spPr>
            <a:xfrm flipH="false" flipV="false" rot="0">
              <a:off x="0" y="0"/>
              <a:ext cx="13025135" cy="1113045"/>
            </a:xfrm>
            <a:custGeom>
              <a:avLst/>
              <a:gdLst/>
              <a:ahLst/>
              <a:cxnLst/>
              <a:rect r="r" b="b" t="t" l="l"/>
              <a:pathLst>
                <a:path h="1113045" w="13025135">
                  <a:moveTo>
                    <a:pt x="0" y="556522"/>
                  </a:moveTo>
                  <a:cubicBezTo>
                    <a:pt x="0" y="249160"/>
                    <a:pt x="368303" y="0"/>
                    <a:pt x="822640" y="0"/>
                  </a:cubicBezTo>
                  <a:lnTo>
                    <a:pt x="12202495" y="0"/>
                  </a:lnTo>
                  <a:cubicBezTo>
                    <a:pt x="12656833" y="0"/>
                    <a:pt x="13025135" y="249160"/>
                    <a:pt x="13025135" y="556522"/>
                  </a:cubicBezTo>
                  <a:cubicBezTo>
                    <a:pt x="13025135" y="863885"/>
                    <a:pt x="12656833" y="1113045"/>
                    <a:pt x="12202495" y="1113045"/>
                  </a:cubicBezTo>
                  <a:lnTo>
                    <a:pt x="822640" y="1113045"/>
                  </a:lnTo>
                  <a:cubicBezTo>
                    <a:pt x="368303" y="1113045"/>
                    <a:pt x="0" y="863885"/>
                    <a:pt x="0" y="556522"/>
                  </a:cubicBezTo>
                  <a:close/>
                </a:path>
              </a:pathLst>
            </a:custGeom>
            <a:solidFill>
              <a:srgbClr val="23496D"/>
            </a:solidFill>
          </p:spPr>
        </p:sp>
        <p:sp>
          <p:nvSpPr>
            <p:cNvPr name="TextBox 15" id="15"/>
            <p:cNvSpPr txBox="true"/>
            <p:nvPr/>
          </p:nvSpPr>
          <p:spPr>
            <a:xfrm>
              <a:off x="0" y="-28575"/>
              <a:ext cx="13025136" cy="1141620"/>
            </a:xfrm>
            <a:prstGeom prst="rect">
              <a:avLst/>
            </a:prstGeom>
          </p:spPr>
          <p:txBody>
            <a:bodyPr anchor="ctr" rtlCol="false" tIns="50800" lIns="50800" bIns="50800" rIns="50800"/>
            <a:lstStyle/>
            <a:p>
              <a:pPr algn="ctr">
                <a:lnSpc>
                  <a:spcPts val="2155"/>
                </a:lnSpc>
              </a:pPr>
              <a:r>
                <a:rPr lang="en-US" sz="1959" b="true">
                  <a:solidFill>
                    <a:srgbClr val="FFFFFF"/>
                  </a:solidFill>
                  <a:latin typeface="Carlito Bold"/>
                  <a:ea typeface="Carlito Bold"/>
                  <a:cs typeface="Carlito Bold"/>
                  <a:sym typeface="Carlito Bold"/>
                </a:rPr>
                <a:t>Boxes only move forward on HREADY = 1, so a stall never loses or reorders a transfer</a:t>
              </a:r>
            </a:p>
          </p:txBody>
        </p:sp>
      </p:grpSp>
      <p:grpSp>
        <p:nvGrpSpPr>
          <p:cNvPr name="Group 16" id="16"/>
          <p:cNvGrpSpPr/>
          <p:nvPr/>
        </p:nvGrpSpPr>
        <p:grpSpPr>
          <a:xfrm rot="0">
            <a:off x="157086" y="9885045"/>
            <a:ext cx="10972800" cy="411480"/>
            <a:chOff x="0" y="0"/>
            <a:chExt cx="14630400" cy="548640"/>
          </a:xfrm>
        </p:grpSpPr>
        <p:sp>
          <p:nvSpPr>
            <p:cNvPr name="Freeform 17" id="1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18" id="1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19" id="19"/>
          <p:cNvGrpSpPr/>
          <p:nvPr/>
        </p:nvGrpSpPr>
        <p:grpSpPr>
          <a:xfrm rot="0">
            <a:off x="16911828" y="9710928"/>
            <a:ext cx="685800" cy="411480"/>
            <a:chOff x="0" y="0"/>
            <a:chExt cx="914400" cy="548640"/>
          </a:xfrm>
        </p:grpSpPr>
        <p:sp>
          <p:nvSpPr>
            <p:cNvPr name="Freeform 20" id="2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21" id="2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15714277" y="0"/>
            <a:ext cx="4407982" cy="1407455"/>
          </a:xfrm>
          <a:custGeom>
            <a:avLst/>
            <a:gdLst/>
            <a:ahLst/>
            <a:cxnLst/>
            <a:rect r="r" b="b" t="t" l="l"/>
            <a:pathLst>
              <a:path h="1407455" w="4407982">
                <a:moveTo>
                  <a:pt x="0" y="0"/>
                </a:moveTo>
                <a:lnTo>
                  <a:pt x="4407982" y="0"/>
                </a:lnTo>
                <a:lnTo>
                  <a:pt x="4407982" y="1407455"/>
                </a:lnTo>
                <a:lnTo>
                  <a:pt x="0" y="14074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7050" y="39496"/>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AHB Monitor</a:t>
            </a:r>
          </a:p>
        </p:txBody>
      </p:sp>
      <p:grpSp>
        <p:nvGrpSpPr>
          <p:cNvPr name="Group 4" id="4"/>
          <p:cNvGrpSpPr/>
          <p:nvPr/>
        </p:nvGrpSpPr>
        <p:grpSpPr>
          <a:xfrm rot="0">
            <a:off x="3093019" y="7151554"/>
            <a:ext cx="11266941" cy="1315303"/>
            <a:chOff x="0" y="0"/>
            <a:chExt cx="15022589" cy="1753737"/>
          </a:xfrm>
        </p:grpSpPr>
        <p:sp>
          <p:nvSpPr>
            <p:cNvPr name="Freeform 5" id="5"/>
            <p:cNvSpPr/>
            <p:nvPr/>
          </p:nvSpPr>
          <p:spPr>
            <a:xfrm flipH="false" flipV="false" rot="0">
              <a:off x="0" y="0"/>
              <a:ext cx="15022588" cy="1753737"/>
            </a:xfrm>
            <a:custGeom>
              <a:avLst/>
              <a:gdLst/>
              <a:ahLst/>
              <a:cxnLst/>
              <a:rect r="r" b="b" t="t" l="l"/>
              <a:pathLst>
                <a:path h="1753737" w="15022588">
                  <a:moveTo>
                    <a:pt x="0" y="876868"/>
                  </a:moveTo>
                  <a:cubicBezTo>
                    <a:pt x="0" y="392581"/>
                    <a:pt x="424783" y="0"/>
                    <a:pt x="948795" y="0"/>
                  </a:cubicBezTo>
                  <a:lnTo>
                    <a:pt x="14073794" y="0"/>
                  </a:lnTo>
                  <a:cubicBezTo>
                    <a:pt x="14597805" y="0"/>
                    <a:pt x="15022588" y="392581"/>
                    <a:pt x="15022588" y="876868"/>
                  </a:cubicBezTo>
                  <a:cubicBezTo>
                    <a:pt x="15022588" y="1361156"/>
                    <a:pt x="14597805" y="1753737"/>
                    <a:pt x="14073794" y="1753737"/>
                  </a:cubicBezTo>
                  <a:lnTo>
                    <a:pt x="948795" y="1753737"/>
                  </a:lnTo>
                  <a:cubicBezTo>
                    <a:pt x="424783" y="1753737"/>
                    <a:pt x="0" y="1361156"/>
                    <a:pt x="0" y="876868"/>
                  </a:cubicBezTo>
                  <a:close/>
                </a:path>
              </a:pathLst>
            </a:custGeom>
            <a:solidFill>
              <a:srgbClr val="23496D"/>
            </a:solidFill>
          </p:spPr>
        </p:sp>
        <p:sp>
          <p:nvSpPr>
            <p:cNvPr name="TextBox 6" id="6"/>
            <p:cNvSpPr txBox="true"/>
            <p:nvPr/>
          </p:nvSpPr>
          <p:spPr>
            <a:xfrm>
              <a:off x="0" y="-19050"/>
              <a:ext cx="15022589" cy="1772787"/>
            </a:xfrm>
            <a:prstGeom prst="rect">
              <a:avLst/>
            </a:prstGeom>
          </p:spPr>
          <p:txBody>
            <a:bodyPr anchor="ctr" rtlCol="false" tIns="50800" lIns="50800" bIns="50800" rIns="50800"/>
            <a:lstStyle/>
            <a:p>
              <a:pPr algn="ctr">
                <a:lnSpc>
                  <a:spcPts val="2265"/>
                </a:lnSpc>
              </a:pPr>
              <a:r>
                <a:rPr lang="en-US" sz="2059" b="true">
                  <a:solidFill>
                    <a:srgbClr val="FFFFFF"/>
                  </a:solidFill>
                  <a:latin typeface="Carlito Bold"/>
                  <a:ea typeface="Carlito Bold"/>
                  <a:cs typeface="Carlito Bold"/>
                  <a:sym typeface="Carlito Bold"/>
                </a:rPr>
                <a:t>Reset drops pending_item and clears wait_states. One item goes out per completed transfer</a:t>
              </a:r>
            </a:p>
          </p:txBody>
        </p:sp>
      </p:grpSp>
      <p:grpSp>
        <p:nvGrpSpPr>
          <p:cNvPr name="Group 7" id="7"/>
          <p:cNvGrpSpPr/>
          <p:nvPr/>
        </p:nvGrpSpPr>
        <p:grpSpPr>
          <a:xfrm rot="0">
            <a:off x="217050" y="2817040"/>
            <a:ext cx="5751938" cy="3336003"/>
            <a:chOff x="0" y="0"/>
            <a:chExt cx="1514914" cy="878618"/>
          </a:xfrm>
        </p:grpSpPr>
        <p:sp>
          <p:nvSpPr>
            <p:cNvPr name="Freeform 8" id="8"/>
            <p:cNvSpPr/>
            <p:nvPr/>
          </p:nvSpPr>
          <p:spPr>
            <a:xfrm flipH="false" flipV="false" rot="0">
              <a:off x="0" y="0"/>
              <a:ext cx="1514914" cy="878618"/>
            </a:xfrm>
            <a:custGeom>
              <a:avLst/>
              <a:gdLst/>
              <a:ahLst/>
              <a:cxnLst/>
              <a:rect r="r" b="b" t="t" l="l"/>
              <a:pathLst>
                <a:path h="878618" w="1514914">
                  <a:moveTo>
                    <a:pt x="68644" y="0"/>
                  </a:moveTo>
                  <a:lnTo>
                    <a:pt x="1446269" y="0"/>
                  </a:lnTo>
                  <a:cubicBezTo>
                    <a:pt x="1464475" y="0"/>
                    <a:pt x="1481935" y="7232"/>
                    <a:pt x="1494808" y="20105"/>
                  </a:cubicBezTo>
                  <a:cubicBezTo>
                    <a:pt x="1507682" y="32979"/>
                    <a:pt x="1514914" y="50439"/>
                    <a:pt x="1514914" y="68644"/>
                  </a:cubicBezTo>
                  <a:lnTo>
                    <a:pt x="1514914" y="809974"/>
                  </a:lnTo>
                  <a:cubicBezTo>
                    <a:pt x="1514914" y="847885"/>
                    <a:pt x="1484181" y="878618"/>
                    <a:pt x="1446269" y="878618"/>
                  </a:cubicBezTo>
                  <a:lnTo>
                    <a:pt x="68644" y="878618"/>
                  </a:lnTo>
                  <a:cubicBezTo>
                    <a:pt x="30733" y="878618"/>
                    <a:pt x="0" y="847885"/>
                    <a:pt x="0" y="809974"/>
                  </a:cubicBezTo>
                  <a:lnTo>
                    <a:pt x="0" y="68644"/>
                  </a:lnTo>
                  <a:cubicBezTo>
                    <a:pt x="0" y="30733"/>
                    <a:pt x="30733" y="0"/>
                    <a:pt x="68644" y="0"/>
                  </a:cubicBezTo>
                  <a:close/>
                </a:path>
              </a:pathLst>
            </a:custGeom>
            <a:solidFill>
              <a:srgbClr val="23496D"/>
            </a:solidFill>
          </p:spPr>
        </p:sp>
        <p:sp>
          <p:nvSpPr>
            <p:cNvPr name="TextBox 9" id="9"/>
            <p:cNvSpPr txBox="true"/>
            <p:nvPr/>
          </p:nvSpPr>
          <p:spPr>
            <a:xfrm>
              <a:off x="0" y="-66675"/>
              <a:ext cx="1514914" cy="945293"/>
            </a:xfrm>
            <a:prstGeom prst="rect">
              <a:avLst/>
            </a:prstGeom>
          </p:spPr>
          <p:txBody>
            <a:bodyPr anchor="ctr" rtlCol="false" tIns="50800" lIns="50800" bIns="50800" rIns="50800"/>
            <a:lstStyle/>
            <a:p>
              <a:pPr algn="ctr">
                <a:lnSpc>
                  <a:spcPts val="3359"/>
                </a:lnSpc>
              </a:pPr>
              <a:r>
                <a:rPr lang="en-US" sz="2799" b="true">
                  <a:solidFill>
                    <a:srgbClr val="F7F5F1"/>
                  </a:solidFill>
                  <a:latin typeface="Calibri (MS) Bold"/>
                  <a:ea typeface="Calibri (MS) Bold"/>
                  <a:cs typeface="Calibri (MS) Bold"/>
                  <a:sym typeface="Calibri (MS) Bold"/>
                </a:rPr>
                <a:t>Catch the address</a:t>
              </a:r>
            </a:p>
            <a:p>
              <a:pPr algn="ctr">
                <a:lnSpc>
                  <a:spcPts val="2347"/>
                </a:lnSpc>
              </a:pPr>
              <a:r>
                <a:rPr lang="en-US" sz="1956">
                  <a:solidFill>
                    <a:srgbClr val="F7F5F1"/>
                  </a:solidFill>
                  <a:latin typeface="Calibri (MS)"/>
                  <a:ea typeface="Calibri (MS)"/>
                  <a:cs typeface="Calibri (MS)"/>
                  <a:sym typeface="Calibri (MS)"/>
                </a:rPr>
                <a:t>HREADY, HSEL and HTRANS[1] all high: create an item (current_item) with HADDR, HWRITE, HTRANS, HSIZE, HPROT. then mark it as pending_item.</a:t>
              </a:r>
            </a:p>
          </p:txBody>
        </p:sp>
      </p:grpSp>
      <p:grpSp>
        <p:nvGrpSpPr>
          <p:cNvPr name="Group 10" id="10"/>
          <p:cNvGrpSpPr/>
          <p:nvPr/>
        </p:nvGrpSpPr>
        <p:grpSpPr>
          <a:xfrm rot="0">
            <a:off x="6172200" y="2817040"/>
            <a:ext cx="5751938" cy="3336003"/>
            <a:chOff x="0" y="0"/>
            <a:chExt cx="1514914" cy="878618"/>
          </a:xfrm>
        </p:grpSpPr>
        <p:sp>
          <p:nvSpPr>
            <p:cNvPr name="Freeform 11" id="11"/>
            <p:cNvSpPr/>
            <p:nvPr/>
          </p:nvSpPr>
          <p:spPr>
            <a:xfrm flipH="false" flipV="false" rot="0">
              <a:off x="0" y="0"/>
              <a:ext cx="1514914" cy="878618"/>
            </a:xfrm>
            <a:custGeom>
              <a:avLst/>
              <a:gdLst/>
              <a:ahLst/>
              <a:cxnLst/>
              <a:rect r="r" b="b" t="t" l="l"/>
              <a:pathLst>
                <a:path h="878618" w="1514914">
                  <a:moveTo>
                    <a:pt x="68644" y="0"/>
                  </a:moveTo>
                  <a:lnTo>
                    <a:pt x="1446269" y="0"/>
                  </a:lnTo>
                  <a:cubicBezTo>
                    <a:pt x="1464475" y="0"/>
                    <a:pt x="1481935" y="7232"/>
                    <a:pt x="1494808" y="20105"/>
                  </a:cubicBezTo>
                  <a:cubicBezTo>
                    <a:pt x="1507682" y="32979"/>
                    <a:pt x="1514914" y="50439"/>
                    <a:pt x="1514914" y="68644"/>
                  </a:cubicBezTo>
                  <a:lnTo>
                    <a:pt x="1514914" y="809974"/>
                  </a:lnTo>
                  <a:cubicBezTo>
                    <a:pt x="1514914" y="847885"/>
                    <a:pt x="1484181" y="878618"/>
                    <a:pt x="1446269" y="878618"/>
                  </a:cubicBezTo>
                  <a:lnTo>
                    <a:pt x="68644" y="878618"/>
                  </a:lnTo>
                  <a:cubicBezTo>
                    <a:pt x="30733" y="878618"/>
                    <a:pt x="0" y="847885"/>
                    <a:pt x="0" y="809974"/>
                  </a:cubicBezTo>
                  <a:lnTo>
                    <a:pt x="0" y="68644"/>
                  </a:lnTo>
                  <a:cubicBezTo>
                    <a:pt x="0" y="30733"/>
                    <a:pt x="30733" y="0"/>
                    <a:pt x="68644" y="0"/>
                  </a:cubicBezTo>
                  <a:close/>
                </a:path>
              </a:pathLst>
            </a:custGeom>
            <a:solidFill>
              <a:srgbClr val="DCE3EC"/>
            </a:solidFill>
          </p:spPr>
        </p:sp>
        <p:sp>
          <p:nvSpPr>
            <p:cNvPr name="TextBox 12" id="12"/>
            <p:cNvSpPr txBox="true"/>
            <p:nvPr/>
          </p:nvSpPr>
          <p:spPr>
            <a:xfrm>
              <a:off x="0" y="-66675"/>
              <a:ext cx="1514914" cy="945293"/>
            </a:xfrm>
            <a:prstGeom prst="rect">
              <a:avLst/>
            </a:prstGeom>
          </p:spPr>
          <p:txBody>
            <a:bodyPr anchor="ctr" rtlCol="false" tIns="50800" lIns="50800" bIns="50800" rIns="50800"/>
            <a:lstStyle/>
            <a:p>
              <a:pPr algn="ctr">
                <a:lnSpc>
                  <a:spcPts val="3359"/>
                </a:lnSpc>
              </a:pPr>
              <a:r>
                <a:rPr lang="en-US" sz="2799" b="true">
                  <a:solidFill>
                    <a:srgbClr val="23496D"/>
                  </a:solidFill>
                  <a:latin typeface="Calibri (MS) Bold"/>
                  <a:ea typeface="Calibri (MS) Bold"/>
                  <a:cs typeface="Calibri (MS) Bold"/>
                  <a:sym typeface="Calibri (MS) Bold"/>
                </a:rPr>
                <a:t>Count the stalls</a:t>
              </a:r>
            </a:p>
            <a:p>
              <a:pPr algn="ctr">
                <a:lnSpc>
                  <a:spcPts val="2347"/>
                </a:lnSpc>
              </a:pPr>
              <a:r>
                <a:rPr lang="en-US" sz="1956">
                  <a:solidFill>
                    <a:srgbClr val="23496D"/>
                  </a:solidFill>
                  <a:latin typeface="Calibri (MS)"/>
                  <a:ea typeface="Calibri (MS)"/>
                  <a:cs typeface="Calibri (MS)"/>
                  <a:sym typeface="Calibri (MS)"/>
                </a:rPr>
                <a:t>While HREADY = 0 the data phase is not finished: wait_states++.</a:t>
              </a:r>
            </a:p>
          </p:txBody>
        </p:sp>
      </p:grpSp>
      <p:grpSp>
        <p:nvGrpSpPr>
          <p:cNvPr name="Group 13" id="13"/>
          <p:cNvGrpSpPr/>
          <p:nvPr/>
        </p:nvGrpSpPr>
        <p:grpSpPr>
          <a:xfrm rot="0">
            <a:off x="12279617" y="2817040"/>
            <a:ext cx="5751938" cy="3336003"/>
            <a:chOff x="0" y="0"/>
            <a:chExt cx="1514914" cy="878618"/>
          </a:xfrm>
        </p:grpSpPr>
        <p:sp>
          <p:nvSpPr>
            <p:cNvPr name="Freeform 14" id="14"/>
            <p:cNvSpPr/>
            <p:nvPr/>
          </p:nvSpPr>
          <p:spPr>
            <a:xfrm flipH="false" flipV="false" rot="0">
              <a:off x="0" y="0"/>
              <a:ext cx="1514914" cy="878618"/>
            </a:xfrm>
            <a:custGeom>
              <a:avLst/>
              <a:gdLst/>
              <a:ahLst/>
              <a:cxnLst/>
              <a:rect r="r" b="b" t="t" l="l"/>
              <a:pathLst>
                <a:path h="878618" w="1514914">
                  <a:moveTo>
                    <a:pt x="68644" y="0"/>
                  </a:moveTo>
                  <a:lnTo>
                    <a:pt x="1446269" y="0"/>
                  </a:lnTo>
                  <a:cubicBezTo>
                    <a:pt x="1464475" y="0"/>
                    <a:pt x="1481935" y="7232"/>
                    <a:pt x="1494808" y="20105"/>
                  </a:cubicBezTo>
                  <a:cubicBezTo>
                    <a:pt x="1507682" y="32979"/>
                    <a:pt x="1514914" y="50439"/>
                    <a:pt x="1514914" y="68644"/>
                  </a:cubicBezTo>
                  <a:lnTo>
                    <a:pt x="1514914" y="809974"/>
                  </a:lnTo>
                  <a:cubicBezTo>
                    <a:pt x="1514914" y="847885"/>
                    <a:pt x="1484181" y="878618"/>
                    <a:pt x="1446269" y="878618"/>
                  </a:cubicBezTo>
                  <a:lnTo>
                    <a:pt x="68644" y="878618"/>
                  </a:lnTo>
                  <a:cubicBezTo>
                    <a:pt x="30733" y="878618"/>
                    <a:pt x="0" y="847885"/>
                    <a:pt x="0" y="809974"/>
                  </a:cubicBezTo>
                  <a:lnTo>
                    <a:pt x="0" y="68644"/>
                  </a:lnTo>
                  <a:cubicBezTo>
                    <a:pt x="0" y="30733"/>
                    <a:pt x="30733" y="0"/>
                    <a:pt x="68644" y="0"/>
                  </a:cubicBezTo>
                  <a:close/>
                </a:path>
              </a:pathLst>
            </a:custGeom>
            <a:solidFill>
              <a:srgbClr val="23496D"/>
            </a:solidFill>
          </p:spPr>
        </p:sp>
        <p:sp>
          <p:nvSpPr>
            <p:cNvPr name="TextBox 15" id="15"/>
            <p:cNvSpPr txBox="true"/>
            <p:nvPr/>
          </p:nvSpPr>
          <p:spPr>
            <a:xfrm>
              <a:off x="0" y="-66675"/>
              <a:ext cx="1514914" cy="945293"/>
            </a:xfrm>
            <a:prstGeom prst="rect">
              <a:avLst/>
            </a:prstGeom>
          </p:spPr>
          <p:txBody>
            <a:bodyPr anchor="ctr" rtlCol="false" tIns="50800" lIns="50800" bIns="50800" rIns="50800"/>
            <a:lstStyle/>
            <a:p>
              <a:pPr algn="ctr">
                <a:lnSpc>
                  <a:spcPts val="3359"/>
                </a:lnSpc>
              </a:pPr>
              <a:r>
                <a:rPr lang="en-US" sz="2799" b="true">
                  <a:solidFill>
                    <a:srgbClr val="F7F5F1"/>
                  </a:solidFill>
                  <a:latin typeface="Calibri (MS) Bold"/>
                  <a:ea typeface="Calibri (MS) Bold"/>
                  <a:cs typeface="Calibri (MS) Bold"/>
                  <a:sym typeface="Calibri (MS) Bold"/>
                </a:rPr>
                <a:t>Publish it</a:t>
              </a:r>
            </a:p>
            <a:p>
              <a:pPr algn="ctr">
                <a:lnSpc>
                  <a:spcPts val="2347"/>
                </a:lnSpc>
              </a:pPr>
              <a:r>
                <a:rPr lang="en-US" sz="1956">
                  <a:solidFill>
                    <a:srgbClr val="F7F5F1"/>
                  </a:solidFill>
                  <a:latin typeface="Calibri (MS)"/>
                  <a:ea typeface="Calibri (MS)"/>
                  <a:cs typeface="Calibri (MS)"/>
                  <a:sym typeface="Calibri (MS)"/>
                </a:rPr>
                <a:t>HREADY = 1: </a:t>
              </a:r>
              <a:r>
                <a:rPr lang="en-US" sz="1956">
                  <a:solidFill>
                    <a:srgbClr val="F7F5F1"/>
                  </a:solidFill>
                  <a:latin typeface="Calibri (MS)"/>
                  <a:ea typeface="Calibri (MS)"/>
                  <a:cs typeface="Calibri (MS)"/>
                  <a:sym typeface="Calibri (MS)"/>
                </a:rPr>
                <a:t>fill HWDATA, HRDATA, HRESP and wai</a:t>
              </a:r>
              <a:r>
                <a:rPr lang="en-US" sz="1956">
                  <a:solidFill>
                    <a:srgbClr val="F7F5F1"/>
                  </a:solidFill>
                  <a:latin typeface="Calibri (MS)"/>
                  <a:ea typeface="Calibri (MS)"/>
                  <a:cs typeface="Calibri (MS)"/>
                  <a:sym typeface="Calibri (MS)"/>
                </a:rPr>
                <a:t>t_states, then ahb_aport.write(pending_item).</a:t>
              </a:r>
            </a:p>
          </p:txBody>
        </p:sp>
      </p:grpSp>
      <p:grpSp>
        <p:nvGrpSpPr>
          <p:cNvPr name="Group 16" id="16"/>
          <p:cNvGrpSpPr/>
          <p:nvPr/>
        </p:nvGrpSpPr>
        <p:grpSpPr>
          <a:xfrm rot="0">
            <a:off x="157086" y="9885045"/>
            <a:ext cx="10972800" cy="411480"/>
            <a:chOff x="0" y="0"/>
            <a:chExt cx="14630400" cy="548640"/>
          </a:xfrm>
        </p:grpSpPr>
        <p:sp>
          <p:nvSpPr>
            <p:cNvPr name="Freeform 17" id="1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18" id="1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19" id="19"/>
          <p:cNvGrpSpPr/>
          <p:nvPr/>
        </p:nvGrpSpPr>
        <p:grpSpPr>
          <a:xfrm rot="0">
            <a:off x="16911828" y="9710928"/>
            <a:ext cx="685800" cy="411480"/>
            <a:chOff x="0" y="0"/>
            <a:chExt cx="914400" cy="548640"/>
          </a:xfrm>
        </p:grpSpPr>
        <p:sp>
          <p:nvSpPr>
            <p:cNvPr name="Freeform 20" id="2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21" id="2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9</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15714277" y="0"/>
            <a:ext cx="4407982" cy="1407455"/>
          </a:xfrm>
          <a:custGeom>
            <a:avLst/>
            <a:gdLst/>
            <a:ahLst/>
            <a:cxnLst/>
            <a:rect r="r" b="b" t="t" l="l"/>
            <a:pathLst>
              <a:path h="1407455" w="4407982">
                <a:moveTo>
                  <a:pt x="0" y="0"/>
                </a:moveTo>
                <a:lnTo>
                  <a:pt x="4407982" y="0"/>
                </a:lnTo>
                <a:lnTo>
                  <a:pt x="4407982" y="1407455"/>
                </a:lnTo>
                <a:lnTo>
                  <a:pt x="0" y="14074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7050" y="39496"/>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AHB Interface</a:t>
            </a:r>
          </a:p>
        </p:txBody>
      </p:sp>
      <p:grpSp>
        <p:nvGrpSpPr>
          <p:cNvPr name="Group 4" id="4"/>
          <p:cNvGrpSpPr/>
          <p:nvPr/>
        </p:nvGrpSpPr>
        <p:grpSpPr>
          <a:xfrm rot="0">
            <a:off x="637270" y="2542086"/>
            <a:ext cx="7239000" cy="914400"/>
            <a:chOff x="0" y="0"/>
            <a:chExt cx="9652000" cy="1219200"/>
          </a:xfrm>
        </p:grpSpPr>
        <p:sp>
          <p:nvSpPr>
            <p:cNvPr name="Freeform 5" id="5"/>
            <p:cNvSpPr/>
            <p:nvPr/>
          </p:nvSpPr>
          <p:spPr>
            <a:xfrm flipH="false" flipV="false" rot="0">
              <a:off x="0" y="0"/>
              <a:ext cx="9652000" cy="1219200"/>
            </a:xfrm>
            <a:custGeom>
              <a:avLst/>
              <a:gdLst/>
              <a:ahLst/>
              <a:cxnLst/>
              <a:rect r="r" b="b" t="t" l="l"/>
              <a:pathLst>
                <a:path h="1219200" w="9652000">
                  <a:moveTo>
                    <a:pt x="0" y="609600"/>
                  </a:moveTo>
                  <a:cubicBezTo>
                    <a:pt x="0" y="272923"/>
                    <a:pt x="272923" y="0"/>
                    <a:pt x="609600" y="0"/>
                  </a:cubicBezTo>
                  <a:lnTo>
                    <a:pt x="9042400" y="0"/>
                  </a:lnTo>
                  <a:cubicBezTo>
                    <a:pt x="9379077" y="0"/>
                    <a:pt x="9652000" y="272923"/>
                    <a:pt x="9652000" y="609600"/>
                  </a:cubicBezTo>
                  <a:cubicBezTo>
                    <a:pt x="9652000" y="946277"/>
                    <a:pt x="9379077" y="1219200"/>
                    <a:pt x="9042400" y="1219200"/>
                  </a:cubicBezTo>
                  <a:lnTo>
                    <a:pt x="609600" y="1219200"/>
                  </a:lnTo>
                  <a:cubicBezTo>
                    <a:pt x="272923" y="1219200"/>
                    <a:pt x="0" y="946277"/>
                    <a:pt x="0" y="609600"/>
                  </a:cubicBezTo>
                  <a:close/>
                </a:path>
              </a:pathLst>
            </a:custGeom>
            <a:solidFill>
              <a:srgbClr val="23496D"/>
            </a:solidFill>
          </p:spPr>
        </p:sp>
        <p:sp>
          <p:nvSpPr>
            <p:cNvPr name="TextBox 6" id="6"/>
            <p:cNvSpPr txBox="true"/>
            <p:nvPr/>
          </p:nvSpPr>
          <p:spPr>
            <a:xfrm>
              <a:off x="0" y="-38100"/>
              <a:ext cx="9652000" cy="1257300"/>
            </a:xfrm>
            <a:prstGeom prst="rect">
              <a:avLst/>
            </a:prstGeom>
          </p:spPr>
          <p:txBody>
            <a:bodyPr anchor="ctr" rtlCol="false" tIns="50800" lIns="50800" bIns="50800" rIns="50800"/>
            <a:lstStyle/>
            <a:p>
              <a:pPr algn="ctr">
                <a:lnSpc>
                  <a:spcPts val="4455"/>
                </a:lnSpc>
              </a:pPr>
              <a:r>
                <a:rPr lang="en-US" sz="4050" b="true">
                  <a:solidFill>
                    <a:srgbClr val="FFFFFF"/>
                  </a:solidFill>
                  <a:latin typeface="Carlito Bold"/>
                  <a:ea typeface="Carlito Bold"/>
                  <a:cs typeface="Carlito Bold"/>
                  <a:sym typeface="Carlito Bold"/>
                </a:rPr>
                <a:t>Clocking block</a:t>
              </a:r>
            </a:p>
          </p:txBody>
        </p:sp>
      </p:grpSp>
      <p:grpSp>
        <p:nvGrpSpPr>
          <p:cNvPr name="Group 7" id="7"/>
          <p:cNvGrpSpPr/>
          <p:nvPr/>
        </p:nvGrpSpPr>
        <p:grpSpPr>
          <a:xfrm rot="0">
            <a:off x="637270" y="4204032"/>
            <a:ext cx="12282436" cy="914400"/>
            <a:chOff x="0" y="0"/>
            <a:chExt cx="3234880" cy="240830"/>
          </a:xfrm>
        </p:grpSpPr>
        <p:sp>
          <p:nvSpPr>
            <p:cNvPr name="Freeform 8" id="8"/>
            <p:cNvSpPr/>
            <p:nvPr/>
          </p:nvSpPr>
          <p:spPr>
            <a:xfrm flipH="false" flipV="false" rot="0">
              <a:off x="0" y="0"/>
              <a:ext cx="3234880" cy="240830"/>
            </a:xfrm>
            <a:custGeom>
              <a:avLst/>
              <a:gdLst/>
              <a:ahLst/>
              <a:cxnLst/>
              <a:rect r="r" b="b" t="t" l="l"/>
              <a:pathLst>
                <a:path h="240830" w="3234880">
                  <a:moveTo>
                    <a:pt x="32147" y="0"/>
                  </a:moveTo>
                  <a:lnTo>
                    <a:pt x="3202734" y="0"/>
                  </a:lnTo>
                  <a:cubicBezTo>
                    <a:pt x="3220488" y="0"/>
                    <a:pt x="3234880" y="14392"/>
                    <a:pt x="3234880" y="32147"/>
                  </a:cubicBezTo>
                  <a:lnTo>
                    <a:pt x="3234880" y="208683"/>
                  </a:lnTo>
                  <a:cubicBezTo>
                    <a:pt x="3234880" y="226437"/>
                    <a:pt x="3220488" y="240830"/>
                    <a:pt x="3202734" y="240830"/>
                  </a:cubicBezTo>
                  <a:lnTo>
                    <a:pt x="32147" y="240830"/>
                  </a:lnTo>
                  <a:cubicBezTo>
                    <a:pt x="14392" y="240830"/>
                    <a:pt x="0" y="226437"/>
                    <a:pt x="0" y="208683"/>
                  </a:cubicBezTo>
                  <a:lnTo>
                    <a:pt x="0" y="32147"/>
                  </a:lnTo>
                  <a:cubicBezTo>
                    <a:pt x="0" y="14392"/>
                    <a:pt x="14392" y="0"/>
                    <a:pt x="32147" y="0"/>
                  </a:cubicBezTo>
                  <a:close/>
                </a:path>
              </a:pathLst>
            </a:custGeom>
            <a:solidFill>
              <a:srgbClr val="DCE3EC"/>
            </a:solidFill>
          </p:spPr>
        </p:sp>
        <p:sp>
          <p:nvSpPr>
            <p:cNvPr name="TextBox 9" id="9"/>
            <p:cNvSpPr txBox="true"/>
            <p:nvPr/>
          </p:nvSpPr>
          <p:spPr>
            <a:xfrm>
              <a:off x="0" y="-66675"/>
              <a:ext cx="3234880" cy="307505"/>
            </a:xfrm>
            <a:prstGeom prst="rect">
              <a:avLst/>
            </a:prstGeom>
          </p:spPr>
          <p:txBody>
            <a:bodyPr anchor="ctr" rtlCol="false" tIns="50800" lIns="50800" bIns="50800" rIns="50800"/>
            <a:lstStyle/>
            <a:p>
              <a:pPr algn="ctr">
                <a:lnSpc>
                  <a:spcPts val="3359"/>
                </a:lnSpc>
              </a:pPr>
              <a:r>
                <a:rPr lang="en-US" sz="2799">
                  <a:solidFill>
                    <a:srgbClr val="23496D"/>
                  </a:solidFill>
                  <a:latin typeface="Calibri (MS)"/>
                  <a:ea typeface="Calibri (MS)"/>
                  <a:cs typeface="Calibri (MS)"/>
                  <a:sym typeface="Calibri (MS)"/>
                </a:rPr>
                <a:t>Synchronizes signal driving </a:t>
              </a:r>
              <a:r>
                <a:rPr lang="en-US" sz="2799">
                  <a:solidFill>
                    <a:srgbClr val="23496D"/>
                  </a:solidFill>
                  <a:latin typeface="Calibri (MS)"/>
                  <a:ea typeface="Calibri (MS)"/>
                  <a:cs typeface="Calibri (MS)"/>
                  <a:sym typeface="Calibri (MS)"/>
                </a:rPr>
                <a:t>and sampling with the AHB clock (HCLK).</a:t>
              </a:r>
            </a:p>
          </p:txBody>
        </p:sp>
      </p:grpSp>
      <p:grpSp>
        <p:nvGrpSpPr>
          <p:cNvPr name="Group 10" id="10"/>
          <p:cNvGrpSpPr/>
          <p:nvPr/>
        </p:nvGrpSpPr>
        <p:grpSpPr>
          <a:xfrm rot="0">
            <a:off x="637270" y="5865978"/>
            <a:ext cx="12282436" cy="1052438"/>
            <a:chOff x="0" y="0"/>
            <a:chExt cx="3234880" cy="277185"/>
          </a:xfrm>
        </p:grpSpPr>
        <p:sp>
          <p:nvSpPr>
            <p:cNvPr name="Freeform 11" id="11"/>
            <p:cNvSpPr/>
            <p:nvPr/>
          </p:nvSpPr>
          <p:spPr>
            <a:xfrm flipH="false" flipV="false" rot="0">
              <a:off x="0" y="0"/>
              <a:ext cx="3234880" cy="277185"/>
            </a:xfrm>
            <a:custGeom>
              <a:avLst/>
              <a:gdLst/>
              <a:ahLst/>
              <a:cxnLst/>
              <a:rect r="r" b="b" t="t" l="l"/>
              <a:pathLst>
                <a:path h="277185" w="3234880">
                  <a:moveTo>
                    <a:pt x="32147" y="0"/>
                  </a:moveTo>
                  <a:lnTo>
                    <a:pt x="3202734" y="0"/>
                  </a:lnTo>
                  <a:cubicBezTo>
                    <a:pt x="3220488" y="0"/>
                    <a:pt x="3234880" y="14392"/>
                    <a:pt x="3234880" y="32147"/>
                  </a:cubicBezTo>
                  <a:lnTo>
                    <a:pt x="3234880" y="245039"/>
                  </a:lnTo>
                  <a:cubicBezTo>
                    <a:pt x="3234880" y="262793"/>
                    <a:pt x="3220488" y="277185"/>
                    <a:pt x="3202734" y="277185"/>
                  </a:cubicBezTo>
                  <a:lnTo>
                    <a:pt x="32147" y="277185"/>
                  </a:lnTo>
                  <a:cubicBezTo>
                    <a:pt x="14392" y="277185"/>
                    <a:pt x="0" y="262793"/>
                    <a:pt x="0" y="245039"/>
                  </a:cubicBezTo>
                  <a:lnTo>
                    <a:pt x="0" y="32147"/>
                  </a:lnTo>
                  <a:cubicBezTo>
                    <a:pt x="0" y="14392"/>
                    <a:pt x="14392" y="0"/>
                    <a:pt x="32147" y="0"/>
                  </a:cubicBezTo>
                  <a:close/>
                </a:path>
              </a:pathLst>
            </a:custGeom>
            <a:solidFill>
              <a:srgbClr val="DCE3EC"/>
            </a:solidFill>
          </p:spPr>
        </p:sp>
        <p:sp>
          <p:nvSpPr>
            <p:cNvPr name="TextBox 12" id="12"/>
            <p:cNvSpPr txBox="true"/>
            <p:nvPr/>
          </p:nvSpPr>
          <p:spPr>
            <a:xfrm>
              <a:off x="0" y="-66675"/>
              <a:ext cx="3234880" cy="343860"/>
            </a:xfrm>
            <a:prstGeom prst="rect">
              <a:avLst/>
            </a:prstGeom>
          </p:spPr>
          <p:txBody>
            <a:bodyPr anchor="ctr" rtlCol="false" tIns="50800" lIns="50800" bIns="50800" rIns="50800"/>
            <a:lstStyle/>
            <a:p>
              <a:pPr algn="ctr">
                <a:lnSpc>
                  <a:spcPts val="3359"/>
                </a:lnSpc>
              </a:pPr>
              <a:r>
                <a:rPr lang="en-US" sz="2799" b="true">
                  <a:solidFill>
                    <a:srgbClr val="23496D"/>
                  </a:solidFill>
                  <a:latin typeface="Calibri (MS) Bold"/>
                  <a:ea typeface="Calibri (MS) Bold"/>
                  <a:cs typeface="Calibri (MS) Bold"/>
                  <a:sym typeface="Calibri (MS) Bold"/>
                </a:rPr>
                <a:t>drv_cb:</a:t>
              </a:r>
              <a:r>
                <a:rPr lang="en-US" sz="2799">
                  <a:solidFill>
                    <a:srgbClr val="23496D"/>
                  </a:solidFill>
                  <a:latin typeface="Calibri (MS)"/>
                  <a:ea typeface="Calibri (MS)"/>
                  <a:cs typeface="Calibri (MS)"/>
                  <a:sym typeface="Calibri (MS)"/>
                </a:rPr>
                <a:t> Controls when the driver drives signals and samples responses.</a:t>
              </a:r>
            </a:p>
            <a:p>
              <a:pPr algn="l">
                <a:lnSpc>
                  <a:spcPts val="3359"/>
                </a:lnSpc>
              </a:pPr>
              <a:r>
                <a:rPr lang="en-US" sz="2799">
                  <a:solidFill>
                    <a:srgbClr val="23496D"/>
                  </a:solidFill>
                  <a:latin typeface="Calibri (MS)"/>
                  <a:ea typeface="Calibri (MS)"/>
                  <a:cs typeface="Calibri (MS)"/>
                  <a:sym typeface="Calibri (MS)"/>
                </a:rPr>
                <a:t>            </a:t>
              </a:r>
              <a:r>
                <a:rPr lang="en-US" sz="2799" b="true">
                  <a:solidFill>
                    <a:srgbClr val="23496D"/>
                  </a:solidFill>
                  <a:latin typeface="Calibri (MS) Bold"/>
                  <a:ea typeface="Calibri (MS) Bold"/>
                  <a:cs typeface="Calibri (MS) Bold"/>
                  <a:sym typeface="Calibri (MS) Bold"/>
                </a:rPr>
                <a:t>mon_cb</a:t>
              </a:r>
              <a:r>
                <a:rPr lang="en-US" sz="2799">
                  <a:solidFill>
                    <a:srgbClr val="23496D"/>
                  </a:solidFill>
                  <a:latin typeface="Calibri (MS)"/>
                  <a:ea typeface="Calibri (MS)"/>
                  <a:cs typeface="Calibri (MS)"/>
                  <a:sym typeface="Calibri (MS)"/>
                </a:rPr>
                <a:t>: Allows the monitor to sample AHB signals consistently.</a:t>
              </a:r>
            </a:p>
          </p:txBody>
        </p:sp>
      </p:grpSp>
      <p:grpSp>
        <p:nvGrpSpPr>
          <p:cNvPr name="Group 13" id="13"/>
          <p:cNvGrpSpPr/>
          <p:nvPr/>
        </p:nvGrpSpPr>
        <p:grpSpPr>
          <a:xfrm rot="0">
            <a:off x="637270" y="7661366"/>
            <a:ext cx="12282436" cy="914400"/>
            <a:chOff x="0" y="0"/>
            <a:chExt cx="3234880" cy="240830"/>
          </a:xfrm>
        </p:grpSpPr>
        <p:sp>
          <p:nvSpPr>
            <p:cNvPr name="Freeform 14" id="14"/>
            <p:cNvSpPr/>
            <p:nvPr/>
          </p:nvSpPr>
          <p:spPr>
            <a:xfrm flipH="false" flipV="false" rot="0">
              <a:off x="0" y="0"/>
              <a:ext cx="3234880" cy="240830"/>
            </a:xfrm>
            <a:custGeom>
              <a:avLst/>
              <a:gdLst/>
              <a:ahLst/>
              <a:cxnLst/>
              <a:rect r="r" b="b" t="t" l="l"/>
              <a:pathLst>
                <a:path h="240830" w="3234880">
                  <a:moveTo>
                    <a:pt x="32147" y="0"/>
                  </a:moveTo>
                  <a:lnTo>
                    <a:pt x="3202734" y="0"/>
                  </a:lnTo>
                  <a:cubicBezTo>
                    <a:pt x="3220488" y="0"/>
                    <a:pt x="3234880" y="14392"/>
                    <a:pt x="3234880" y="32147"/>
                  </a:cubicBezTo>
                  <a:lnTo>
                    <a:pt x="3234880" y="208683"/>
                  </a:lnTo>
                  <a:cubicBezTo>
                    <a:pt x="3234880" y="226437"/>
                    <a:pt x="3220488" y="240830"/>
                    <a:pt x="3202734" y="240830"/>
                  </a:cubicBezTo>
                  <a:lnTo>
                    <a:pt x="32147" y="240830"/>
                  </a:lnTo>
                  <a:cubicBezTo>
                    <a:pt x="14392" y="240830"/>
                    <a:pt x="0" y="226437"/>
                    <a:pt x="0" y="208683"/>
                  </a:cubicBezTo>
                  <a:lnTo>
                    <a:pt x="0" y="32147"/>
                  </a:lnTo>
                  <a:cubicBezTo>
                    <a:pt x="0" y="14392"/>
                    <a:pt x="14392" y="0"/>
                    <a:pt x="32147" y="0"/>
                  </a:cubicBezTo>
                  <a:close/>
                </a:path>
              </a:pathLst>
            </a:custGeom>
            <a:solidFill>
              <a:srgbClr val="DCE3EC"/>
            </a:solidFill>
          </p:spPr>
        </p:sp>
        <p:sp>
          <p:nvSpPr>
            <p:cNvPr name="TextBox 15" id="15"/>
            <p:cNvSpPr txBox="true"/>
            <p:nvPr/>
          </p:nvSpPr>
          <p:spPr>
            <a:xfrm>
              <a:off x="0" y="-66675"/>
              <a:ext cx="3234880" cy="307505"/>
            </a:xfrm>
            <a:prstGeom prst="rect">
              <a:avLst/>
            </a:prstGeom>
          </p:spPr>
          <p:txBody>
            <a:bodyPr anchor="ctr" rtlCol="false" tIns="50800" lIns="50800" bIns="50800" rIns="50800"/>
            <a:lstStyle/>
            <a:p>
              <a:pPr algn="l">
                <a:lnSpc>
                  <a:spcPts val="3359"/>
                </a:lnSpc>
              </a:pPr>
              <a:r>
                <a:rPr lang="en-US" sz="2799">
                  <a:solidFill>
                    <a:srgbClr val="23496D"/>
                  </a:solidFill>
                  <a:latin typeface="Calibri (MS)"/>
                  <a:ea typeface="Calibri (MS)"/>
                  <a:cs typeface="Calibri (MS)"/>
                  <a:sym typeface="Calibri (MS)"/>
                </a:rPr>
                <a:t>            Helps avoid race conditions between the testbench and DUT.</a:t>
              </a:r>
            </a:p>
          </p:txBody>
        </p:sp>
      </p:grpSp>
      <p:grpSp>
        <p:nvGrpSpPr>
          <p:cNvPr name="Group 16" id="16"/>
          <p:cNvGrpSpPr/>
          <p:nvPr/>
        </p:nvGrpSpPr>
        <p:grpSpPr>
          <a:xfrm rot="0">
            <a:off x="157086" y="9885045"/>
            <a:ext cx="10972800" cy="411480"/>
            <a:chOff x="0" y="0"/>
            <a:chExt cx="14630400" cy="548640"/>
          </a:xfrm>
        </p:grpSpPr>
        <p:sp>
          <p:nvSpPr>
            <p:cNvPr name="Freeform 17" id="1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18" id="1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19" id="19"/>
          <p:cNvGrpSpPr/>
          <p:nvPr/>
        </p:nvGrpSpPr>
        <p:grpSpPr>
          <a:xfrm rot="0">
            <a:off x="685800" y="9710928"/>
            <a:ext cx="10972800" cy="411480"/>
            <a:chOff x="0" y="0"/>
            <a:chExt cx="14630400" cy="548640"/>
          </a:xfrm>
        </p:grpSpPr>
        <p:sp>
          <p:nvSpPr>
            <p:cNvPr name="Freeform 20" id="2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21" id="21"/>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22" id="22"/>
          <p:cNvGrpSpPr/>
          <p:nvPr/>
        </p:nvGrpSpPr>
        <p:grpSpPr>
          <a:xfrm rot="0">
            <a:off x="16911828" y="9710928"/>
            <a:ext cx="685800" cy="411480"/>
            <a:chOff x="0" y="0"/>
            <a:chExt cx="914400" cy="548640"/>
          </a:xfrm>
        </p:grpSpPr>
        <p:sp>
          <p:nvSpPr>
            <p:cNvPr name="Freeform 23" id="2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4">
                <a:alphaModFix amt="0"/>
              </a:blip>
              <a:stretch>
                <a:fillRect l="-26982" t="0" r="-26982" b="0"/>
              </a:stretch>
            </a:blipFill>
          </p:spPr>
        </p:sp>
        <p:sp>
          <p:nvSpPr>
            <p:cNvPr name="TextBox 24" id="2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10</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grpSp>
        <p:nvGrpSpPr>
          <p:cNvPr name="Group 2" id="2"/>
          <p:cNvGrpSpPr/>
          <p:nvPr/>
        </p:nvGrpSpPr>
        <p:grpSpPr>
          <a:xfrm rot="0">
            <a:off x="685800" y="9710928"/>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5" id="5"/>
          <p:cNvGrpSpPr/>
          <p:nvPr/>
        </p:nvGrpSpPr>
        <p:grpSpPr>
          <a:xfrm rot="0">
            <a:off x="16911828" y="9710928"/>
            <a:ext cx="685800" cy="411480"/>
            <a:chOff x="0" y="0"/>
            <a:chExt cx="914400" cy="548640"/>
          </a:xfrm>
        </p:grpSpPr>
        <p:sp>
          <p:nvSpPr>
            <p:cNvPr name="Freeform 6" id="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 id="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11</a:t>
              </a:r>
            </a:p>
          </p:txBody>
        </p:sp>
      </p:grpSp>
      <p:grpSp>
        <p:nvGrpSpPr>
          <p:cNvPr name="Group 8" id="8"/>
          <p:cNvGrpSpPr/>
          <p:nvPr/>
        </p:nvGrpSpPr>
        <p:grpSpPr>
          <a:xfrm rot="0">
            <a:off x="455809" y="2564918"/>
            <a:ext cx="5949568" cy="2193376"/>
            <a:chOff x="0" y="0"/>
            <a:chExt cx="1566964" cy="577679"/>
          </a:xfrm>
        </p:grpSpPr>
        <p:sp>
          <p:nvSpPr>
            <p:cNvPr name="Freeform 9" id="9"/>
            <p:cNvSpPr/>
            <p:nvPr/>
          </p:nvSpPr>
          <p:spPr>
            <a:xfrm flipH="false" flipV="false" rot="0">
              <a:off x="0" y="0"/>
              <a:ext cx="1566964" cy="577679"/>
            </a:xfrm>
            <a:custGeom>
              <a:avLst/>
              <a:gdLst/>
              <a:ahLst/>
              <a:cxnLst/>
              <a:rect r="r" b="b" t="t" l="l"/>
              <a:pathLst>
                <a:path h="577679" w="1566964">
                  <a:moveTo>
                    <a:pt x="1363764" y="0"/>
                  </a:moveTo>
                  <a:cubicBezTo>
                    <a:pt x="1475989" y="0"/>
                    <a:pt x="1566964" y="129318"/>
                    <a:pt x="1566964" y="288840"/>
                  </a:cubicBezTo>
                  <a:cubicBezTo>
                    <a:pt x="1566964" y="448361"/>
                    <a:pt x="1475989" y="577679"/>
                    <a:pt x="1363764" y="577679"/>
                  </a:cubicBezTo>
                  <a:lnTo>
                    <a:pt x="203200" y="577679"/>
                  </a:lnTo>
                  <a:cubicBezTo>
                    <a:pt x="90976" y="577679"/>
                    <a:pt x="0" y="448361"/>
                    <a:pt x="0" y="288840"/>
                  </a:cubicBezTo>
                  <a:cubicBezTo>
                    <a:pt x="0" y="129318"/>
                    <a:pt x="90976" y="0"/>
                    <a:pt x="203200" y="0"/>
                  </a:cubicBezTo>
                  <a:close/>
                </a:path>
              </a:pathLst>
            </a:custGeom>
            <a:solidFill>
              <a:srgbClr val="DCE3EC"/>
            </a:solidFill>
            <a:ln cap="sq">
              <a:noFill/>
              <a:prstDash val="solid"/>
              <a:miter/>
            </a:ln>
          </p:spPr>
        </p:sp>
        <p:sp>
          <p:nvSpPr>
            <p:cNvPr name="TextBox 10" id="10"/>
            <p:cNvSpPr txBox="true"/>
            <p:nvPr/>
          </p:nvSpPr>
          <p:spPr>
            <a:xfrm>
              <a:off x="0" y="-57150"/>
              <a:ext cx="1566964" cy="634829"/>
            </a:xfrm>
            <a:prstGeom prst="rect">
              <a:avLst/>
            </a:prstGeom>
          </p:spPr>
          <p:txBody>
            <a:bodyPr anchor="ctr" rtlCol="false" tIns="50800" lIns="50800" bIns="50800" rIns="50800"/>
            <a:lstStyle/>
            <a:p>
              <a:pPr algn="ctr">
                <a:lnSpc>
                  <a:spcPts val="3240"/>
                </a:lnSpc>
              </a:pPr>
              <a:r>
                <a:rPr lang="en-US" sz="2700" b="true">
                  <a:solidFill>
                    <a:srgbClr val="23496D"/>
                  </a:solidFill>
                  <a:latin typeface="Calibri (MS) Bold"/>
                  <a:ea typeface="Calibri (MS) Bold"/>
                  <a:cs typeface="Calibri (MS) Bold"/>
                  <a:sym typeface="Calibri (MS) Bold"/>
                </a:rPr>
                <a:t>Slave responder</a:t>
              </a:r>
            </a:p>
            <a:p>
              <a:pPr algn="ctr">
                <a:lnSpc>
                  <a:spcPts val="2879"/>
                </a:lnSpc>
              </a:pPr>
              <a:r>
                <a:rPr lang="en-US" sz="2399">
                  <a:solidFill>
                    <a:srgbClr val="23496D"/>
                  </a:solidFill>
                  <a:latin typeface="Calibri (MS)"/>
                  <a:ea typeface="Calibri (MS)"/>
                  <a:cs typeface="Calibri (MS)"/>
                  <a:sym typeface="Calibri (MS)"/>
                </a:rPr>
                <a:t>The DUT acts as APB master.</a:t>
              </a:r>
            </a:p>
            <a:p>
              <a:pPr algn="ctr">
                <a:lnSpc>
                  <a:spcPts val="2879"/>
                </a:lnSpc>
              </a:pPr>
              <a:r>
                <a:rPr lang="en-US" sz="2399">
                  <a:solidFill>
                    <a:srgbClr val="23496D"/>
                  </a:solidFill>
                  <a:latin typeface="Calibri (MS)"/>
                  <a:ea typeface="Calibri (MS)"/>
                  <a:cs typeface="Calibri (MS)"/>
                  <a:sym typeface="Calibri (MS)"/>
                </a:rPr>
                <a:t>The agent answers it by driving</a:t>
              </a:r>
            </a:p>
            <a:p>
              <a:pPr algn="ctr">
                <a:lnSpc>
                  <a:spcPts val="2879"/>
                </a:lnSpc>
              </a:pPr>
              <a:r>
                <a:rPr lang="en-US" sz="2399">
                  <a:solidFill>
                    <a:srgbClr val="23496D"/>
                  </a:solidFill>
                  <a:latin typeface="Calibri (MS)"/>
                  <a:ea typeface="Calibri (MS)"/>
                  <a:cs typeface="Calibri (MS)"/>
                  <a:sym typeface="Calibri (MS)"/>
                </a:rPr>
                <a:t>PREADY, PRDATA and PSLVERR.</a:t>
              </a:r>
            </a:p>
            <a:p>
              <a:pPr algn="ctr">
                <a:lnSpc>
                  <a:spcPts val="2520"/>
                </a:lnSpc>
              </a:pPr>
            </a:p>
          </p:txBody>
        </p:sp>
      </p:grpSp>
      <p:grpSp>
        <p:nvGrpSpPr>
          <p:cNvPr name="Group 11" id="11"/>
          <p:cNvGrpSpPr/>
          <p:nvPr/>
        </p:nvGrpSpPr>
        <p:grpSpPr>
          <a:xfrm rot="0">
            <a:off x="455809" y="5143500"/>
            <a:ext cx="5949568" cy="2193376"/>
            <a:chOff x="0" y="0"/>
            <a:chExt cx="1566964" cy="577679"/>
          </a:xfrm>
        </p:grpSpPr>
        <p:sp>
          <p:nvSpPr>
            <p:cNvPr name="Freeform 12" id="12"/>
            <p:cNvSpPr/>
            <p:nvPr/>
          </p:nvSpPr>
          <p:spPr>
            <a:xfrm flipH="false" flipV="false" rot="0">
              <a:off x="0" y="0"/>
              <a:ext cx="1566964" cy="577679"/>
            </a:xfrm>
            <a:custGeom>
              <a:avLst/>
              <a:gdLst/>
              <a:ahLst/>
              <a:cxnLst/>
              <a:rect r="r" b="b" t="t" l="l"/>
              <a:pathLst>
                <a:path h="577679" w="1566964">
                  <a:moveTo>
                    <a:pt x="1363764" y="0"/>
                  </a:moveTo>
                  <a:cubicBezTo>
                    <a:pt x="1475989" y="0"/>
                    <a:pt x="1566964" y="129318"/>
                    <a:pt x="1566964" y="288840"/>
                  </a:cubicBezTo>
                  <a:cubicBezTo>
                    <a:pt x="1566964" y="448361"/>
                    <a:pt x="1475989" y="577679"/>
                    <a:pt x="1363764" y="577679"/>
                  </a:cubicBezTo>
                  <a:lnTo>
                    <a:pt x="203200" y="577679"/>
                  </a:lnTo>
                  <a:cubicBezTo>
                    <a:pt x="90976" y="577679"/>
                    <a:pt x="0" y="448361"/>
                    <a:pt x="0" y="288840"/>
                  </a:cubicBezTo>
                  <a:cubicBezTo>
                    <a:pt x="0" y="129318"/>
                    <a:pt x="90976" y="0"/>
                    <a:pt x="203200" y="0"/>
                  </a:cubicBezTo>
                  <a:close/>
                </a:path>
              </a:pathLst>
            </a:custGeom>
            <a:solidFill>
              <a:srgbClr val="DCE3EC"/>
            </a:solidFill>
            <a:ln cap="sq">
              <a:noFill/>
              <a:prstDash val="solid"/>
              <a:miter/>
            </a:ln>
          </p:spPr>
        </p:sp>
        <p:sp>
          <p:nvSpPr>
            <p:cNvPr name="TextBox 13" id="13"/>
            <p:cNvSpPr txBox="true"/>
            <p:nvPr/>
          </p:nvSpPr>
          <p:spPr>
            <a:xfrm>
              <a:off x="0" y="-57150"/>
              <a:ext cx="1566964" cy="634829"/>
            </a:xfrm>
            <a:prstGeom prst="rect">
              <a:avLst/>
            </a:prstGeom>
          </p:spPr>
          <p:txBody>
            <a:bodyPr anchor="ctr" rtlCol="false" tIns="50800" lIns="50800" bIns="50800" rIns="50800"/>
            <a:lstStyle/>
            <a:p>
              <a:pPr algn="ctr">
                <a:lnSpc>
                  <a:spcPts val="3240"/>
                </a:lnSpc>
              </a:pPr>
              <a:r>
                <a:rPr lang="en-US" sz="2700" b="true">
                  <a:solidFill>
                    <a:srgbClr val="23496D"/>
                  </a:solidFill>
                  <a:latin typeface="Calibri (MS) Bold"/>
                  <a:ea typeface="Calibri (MS) Bold"/>
                  <a:cs typeface="Calibri (MS) Bold"/>
                  <a:sym typeface="Calibri (MS) Bold"/>
                </a:rPr>
                <a:t>Reactive</a:t>
              </a:r>
            </a:p>
            <a:p>
              <a:pPr algn="ctr">
                <a:lnSpc>
                  <a:spcPts val="2879"/>
                </a:lnSpc>
              </a:pPr>
              <a:r>
                <a:rPr lang="en-US" sz="2399">
                  <a:solidFill>
                    <a:srgbClr val="23496D"/>
                  </a:solidFill>
                  <a:latin typeface="Calibri (MS)"/>
                  <a:ea typeface="Calibri (MS)"/>
                  <a:cs typeface="Calibri (MS)"/>
                  <a:sym typeface="Calibri (MS)"/>
                </a:rPr>
                <a:t>The DUT acts as APB master.</a:t>
              </a:r>
            </a:p>
            <a:p>
              <a:pPr algn="ctr">
                <a:lnSpc>
                  <a:spcPts val="2879"/>
                </a:lnSpc>
              </a:pPr>
              <a:r>
                <a:rPr lang="en-US" sz="2399">
                  <a:solidFill>
                    <a:srgbClr val="23496D"/>
                  </a:solidFill>
                  <a:latin typeface="Calibri (MS)"/>
                  <a:ea typeface="Calibri (MS)"/>
                  <a:cs typeface="Calibri (MS)"/>
                  <a:sym typeface="Calibri (MS)"/>
                </a:rPr>
                <a:t>The agent answers it by driving</a:t>
              </a:r>
            </a:p>
            <a:p>
              <a:pPr algn="ctr">
                <a:lnSpc>
                  <a:spcPts val="2879"/>
                </a:lnSpc>
              </a:pPr>
              <a:r>
                <a:rPr lang="en-US" sz="2399">
                  <a:solidFill>
                    <a:srgbClr val="23496D"/>
                  </a:solidFill>
                  <a:latin typeface="Calibri (MS)"/>
                  <a:ea typeface="Calibri (MS)"/>
                  <a:cs typeface="Calibri (MS)"/>
                  <a:sym typeface="Calibri (MS)"/>
                </a:rPr>
                <a:t>PREADY, PRDATA and PSLVERR.</a:t>
              </a:r>
            </a:p>
            <a:p>
              <a:pPr algn="ctr">
                <a:lnSpc>
                  <a:spcPts val="2520"/>
                </a:lnSpc>
              </a:pPr>
            </a:p>
          </p:txBody>
        </p:sp>
      </p:grpSp>
      <p:sp>
        <p:nvSpPr>
          <p:cNvPr name="Freeform 14" id="14"/>
          <p:cNvSpPr/>
          <p:nvPr/>
        </p:nvSpPr>
        <p:spPr>
          <a:xfrm flipH="false" flipV="false" rot="0">
            <a:off x="6863872" y="2152043"/>
            <a:ext cx="11424128" cy="5388740"/>
          </a:xfrm>
          <a:custGeom>
            <a:avLst/>
            <a:gdLst/>
            <a:ahLst/>
            <a:cxnLst/>
            <a:rect r="r" b="b" t="t" l="l"/>
            <a:pathLst>
              <a:path h="5388740" w="11424128">
                <a:moveTo>
                  <a:pt x="0" y="0"/>
                </a:moveTo>
                <a:lnTo>
                  <a:pt x="11424128" y="0"/>
                </a:lnTo>
                <a:lnTo>
                  <a:pt x="11424128" y="5388740"/>
                </a:lnTo>
                <a:lnTo>
                  <a:pt x="0" y="5388740"/>
                </a:lnTo>
                <a:lnTo>
                  <a:pt x="0" y="0"/>
                </a:lnTo>
                <a:close/>
              </a:path>
            </a:pathLst>
          </a:custGeom>
          <a:blipFill>
            <a:blip r:embed="rId3"/>
            <a:stretch>
              <a:fillRect l="0" t="0" r="0" b="0"/>
            </a:stretch>
          </a:blipFill>
        </p:spPr>
      </p:sp>
      <p:sp>
        <p:nvSpPr>
          <p:cNvPr name="TextBox 15" id="15"/>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APB Agent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grpSp>
        <p:nvGrpSpPr>
          <p:cNvPr name="Group 2" id="2"/>
          <p:cNvGrpSpPr/>
          <p:nvPr/>
        </p:nvGrpSpPr>
        <p:grpSpPr>
          <a:xfrm rot="0">
            <a:off x="685800" y="9710928"/>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5" id="5"/>
          <p:cNvGrpSpPr/>
          <p:nvPr/>
        </p:nvGrpSpPr>
        <p:grpSpPr>
          <a:xfrm rot="0">
            <a:off x="16911828" y="9710928"/>
            <a:ext cx="685800" cy="411480"/>
            <a:chOff x="0" y="0"/>
            <a:chExt cx="914400" cy="548640"/>
          </a:xfrm>
        </p:grpSpPr>
        <p:sp>
          <p:nvSpPr>
            <p:cNvPr name="Freeform 6" id="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 id="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12</a:t>
              </a:r>
            </a:p>
          </p:txBody>
        </p:sp>
      </p:grpSp>
      <p:grpSp>
        <p:nvGrpSpPr>
          <p:cNvPr name="Group 8" id="8"/>
          <p:cNvGrpSpPr/>
          <p:nvPr/>
        </p:nvGrpSpPr>
        <p:grpSpPr>
          <a:xfrm rot="0">
            <a:off x="2406827" y="2301919"/>
            <a:ext cx="12871227" cy="6366599"/>
            <a:chOff x="0" y="0"/>
            <a:chExt cx="3389953" cy="1676800"/>
          </a:xfrm>
        </p:grpSpPr>
        <p:sp>
          <p:nvSpPr>
            <p:cNvPr name="Freeform 9" id="9"/>
            <p:cNvSpPr/>
            <p:nvPr/>
          </p:nvSpPr>
          <p:spPr>
            <a:xfrm flipH="false" flipV="false" rot="0">
              <a:off x="0" y="0"/>
              <a:ext cx="3389953" cy="1676800"/>
            </a:xfrm>
            <a:custGeom>
              <a:avLst/>
              <a:gdLst/>
              <a:ahLst/>
              <a:cxnLst/>
              <a:rect r="r" b="b" t="t" l="l"/>
              <a:pathLst>
                <a:path h="1676800" w="3389953">
                  <a:moveTo>
                    <a:pt x="9022" y="0"/>
                  </a:moveTo>
                  <a:lnTo>
                    <a:pt x="3380930" y="0"/>
                  </a:lnTo>
                  <a:cubicBezTo>
                    <a:pt x="3383323" y="0"/>
                    <a:pt x="3385618" y="951"/>
                    <a:pt x="3387310" y="2643"/>
                  </a:cubicBezTo>
                  <a:cubicBezTo>
                    <a:pt x="3389002" y="4335"/>
                    <a:pt x="3389953" y="6629"/>
                    <a:pt x="3389953" y="9022"/>
                  </a:cubicBezTo>
                  <a:lnTo>
                    <a:pt x="3389953" y="1667777"/>
                  </a:lnTo>
                  <a:cubicBezTo>
                    <a:pt x="3389953" y="1670170"/>
                    <a:pt x="3389002" y="1672465"/>
                    <a:pt x="3387310" y="1674157"/>
                  </a:cubicBezTo>
                  <a:cubicBezTo>
                    <a:pt x="3385618" y="1675849"/>
                    <a:pt x="3383323" y="1676800"/>
                    <a:pt x="3380930" y="1676800"/>
                  </a:cubicBezTo>
                  <a:lnTo>
                    <a:pt x="9022" y="1676800"/>
                  </a:lnTo>
                  <a:cubicBezTo>
                    <a:pt x="6629" y="1676800"/>
                    <a:pt x="4335" y="1675849"/>
                    <a:pt x="2643" y="1674157"/>
                  </a:cubicBezTo>
                  <a:cubicBezTo>
                    <a:pt x="951" y="1672465"/>
                    <a:pt x="0" y="1670170"/>
                    <a:pt x="0" y="1667777"/>
                  </a:cubicBezTo>
                  <a:lnTo>
                    <a:pt x="0" y="9022"/>
                  </a:lnTo>
                  <a:cubicBezTo>
                    <a:pt x="0" y="6629"/>
                    <a:pt x="951" y="4335"/>
                    <a:pt x="2643" y="2643"/>
                  </a:cubicBezTo>
                  <a:cubicBezTo>
                    <a:pt x="4335" y="951"/>
                    <a:pt x="6629" y="0"/>
                    <a:pt x="9022" y="0"/>
                  </a:cubicBezTo>
                  <a:close/>
                </a:path>
              </a:pathLst>
            </a:custGeom>
            <a:solidFill>
              <a:srgbClr val="F7F5F1"/>
            </a:solidFill>
            <a:ln w="9525" cap="sq">
              <a:solidFill>
                <a:srgbClr val="23496D"/>
              </a:solidFill>
              <a:prstDash val="solid"/>
              <a:miter/>
            </a:ln>
          </p:spPr>
        </p:sp>
        <p:sp>
          <p:nvSpPr>
            <p:cNvPr name="TextBox 10" id="10"/>
            <p:cNvSpPr txBox="true"/>
            <p:nvPr/>
          </p:nvSpPr>
          <p:spPr>
            <a:xfrm>
              <a:off x="0" y="-28575"/>
              <a:ext cx="3389953" cy="1705375"/>
            </a:xfrm>
            <a:prstGeom prst="rect">
              <a:avLst/>
            </a:prstGeom>
          </p:spPr>
          <p:txBody>
            <a:bodyPr anchor="ctr" rtlCol="false" tIns="50800" lIns="50800" bIns="50800" rIns="50800"/>
            <a:lstStyle/>
            <a:p>
              <a:pPr algn="ctr">
                <a:lnSpc>
                  <a:spcPts val="1979"/>
                </a:lnSpc>
              </a:pPr>
            </a:p>
          </p:txBody>
        </p:sp>
      </p:grpSp>
      <p:sp>
        <p:nvSpPr>
          <p:cNvPr name="TextBox 11" id="11"/>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APB Agent</a:t>
            </a:r>
          </a:p>
        </p:txBody>
      </p:sp>
      <p:grpSp>
        <p:nvGrpSpPr>
          <p:cNvPr name="Group 12" id="12"/>
          <p:cNvGrpSpPr/>
          <p:nvPr/>
        </p:nvGrpSpPr>
        <p:grpSpPr>
          <a:xfrm rot="0">
            <a:off x="2406827" y="2301919"/>
            <a:ext cx="12871227" cy="1235503"/>
            <a:chOff x="0" y="0"/>
            <a:chExt cx="3389953" cy="325400"/>
          </a:xfrm>
        </p:grpSpPr>
        <p:sp>
          <p:nvSpPr>
            <p:cNvPr name="Freeform 13" id="13"/>
            <p:cNvSpPr/>
            <p:nvPr/>
          </p:nvSpPr>
          <p:spPr>
            <a:xfrm flipH="false" flipV="false" rot="0">
              <a:off x="0" y="0"/>
              <a:ext cx="3389953" cy="325400"/>
            </a:xfrm>
            <a:custGeom>
              <a:avLst/>
              <a:gdLst/>
              <a:ahLst/>
              <a:cxnLst/>
              <a:rect r="r" b="b" t="t" l="l"/>
              <a:pathLst>
                <a:path h="325400" w="3389953">
                  <a:moveTo>
                    <a:pt x="9022" y="0"/>
                  </a:moveTo>
                  <a:lnTo>
                    <a:pt x="3380930" y="0"/>
                  </a:lnTo>
                  <a:cubicBezTo>
                    <a:pt x="3383323" y="0"/>
                    <a:pt x="3385618" y="951"/>
                    <a:pt x="3387310" y="2643"/>
                  </a:cubicBezTo>
                  <a:cubicBezTo>
                    <a:pt x="3389002" y="4335"/>
                    <a:pt x="3389953" y="6629"/>
                    <a:pt x="3389953" y="9022"/>
                  </a:cubicBezTo>
                  <a:lnTo>
                    <a:pt x="3389953" y="316378"/>
                  </a:lnTo>
                  <a:cubicBezTo>
                    <a:pt x="3389953" y="318771"/>
                    <a:pt x="3389002" y="321065"/>
                    <a:pt x="3387310" y="322757"/>
                  </a:cubicBezTo>
                  <a:cubicBezTo>
                    <a:pt x="3385618" y="324449"/>
                    <a:pt x="3383323" y="325400"/>
                    <a:pt x="3380930" y="325400"/>
                  </a:cubicBezTo>
                  <a:lnTo>
                    <a:pt x="9022" y="325400"/>
                  </a:lnTo>
                  <a:cubicBezTo>
                    <a:pt x="6629" y="325400"/>
                    <a:pt x="4335" y="324449"/>
                    <a:pt x="2643" y="322757"/>
                  </a:cubicBezTo>
                  <a:cubicBezTo>
                    <a:pt x="951" y="321065"/>
                    <a:pt x="0" y="318771"/>
                    <a:pt x="0" y="316378"/>
                  </a:cubicBezTo>
                  <a:lnTo>
                    <a:pt x="0" y="9022"/>
                  </a:lnTo>
                  <a:cubicBezTo>
                    <a:pt x="0" y="6629"/>
                    <a:pt x="951" y="4335"/>
                    <a:pt x="2643" y="2643"/>
                  </a:cubicBezTo>
                  <a:cubicBezTo>
                    <a:pt x="4335" y="951"/>
                    <a:pt x="6629" y="0"/>
                    <a:pt x="9022" y="0"/>
                  </a:cubicBezTo>
                  <a:close/>
                </a:path>
              </a:pathLst>
            </a:custGeom>
            <a:solidFill>
              <a:srgbClr val="DCE3EC"/>
            </a:solidFill>
            <a:ln w="9525" cap="sq">
              <a:solidFill>
                <a:srgbClr val="23496D"/>
              </a:solidFill>
              <a:prstDash val="solid"/>
              <a:miter/>
            </a:ln>
          </p:spPr>
        </p:sp>
        <p:sp>
          <p:nvSpPr>
            <p:cNvPr name="TextBox 14" id="14"/>
            <p:cNvSpPr txBox="true"/>
            <p:nvPr/>
          </p:nvSpPr>
          <p:spPr>
            <a:xfrm>
              <a:off x="0" y="-28575"/>
              <a:ext cx="3389953" cy="353975"/>
            </a:xfrm>
            <a:prstGeom prst="rect">
              <a:avLst/>
            </a:prstGeom>
          </p:spPr>
          <p:txBody>
            <a:bodyPr anchor="ctr" rtlCol="false" tIns="50800" lIns="50800" bIns="50800" rIns="50800"/>
            <a:lstStyle/>
            <a:p>
              <a:pPr algn="ctr">
                <a:lnSpc>
                  <a:spcPts val="1620"/>
                </a:lnSpc>
              </a:pPr>
            </a:p>
          </p:txBody>
        </p:sp>
      </p:grpSp>
      <p:sp>
        <p:nvSpPr>
          <p:cNvPr name="AutoShape 15" id="15"/>
          <p:cNvSpPr/>
          <p:nvPr/>
        </p:nvSpPr>
        <p:spPr>
          <a:xfrm flipV="true">
            <a:off x="2406827" y="4512715"/>
            <a:ext cx="12871227" cy="0"/>
          </a:xfrm>
          <a:prstGeom prst="line">
            <a:avLst/>
          </a:prstGeom>
          <a:ln cap="flat" w="9525">
            <a:solidFill>
              <a:srgbClr val="23496D"/>
            </a:solidFill>
            <a:prstDash val="solid"/>
            <a:headEnd type="none" len="sm" w="sm"/>
            <a:tailEnd type="none" len="sm" w="sm"/>
          </a:ln>
        </p:spPr>
      </p:sp>
      <p:sp>
        <p:nvSpPr>
          <p:cNvPr name="AutoShape 16" id="16"/>
          <p:cNvSpPr/>
          <p:nvPr/>
        </p:nvSpPr>
        <p:spPr>
          <a:xfrm>
            <a:off x="2406827" y="5681731"/>
            <a:ext cx="12871227" cy="0"/>
          </a:xfrm>
          <a:prstGeom prst="line">
            <a:avLst/>
          </a:prstGeom>
          <a:ln cap="flat" w="9525">
            <a:solidFill>
              <a:srgbClr val="23496D"/>
            </a:solidFill>
            <a:prstDash val="solid"/>
            <a:headEnd type="none" len="sm" w="sm"/>
            <a:tailEnd type="none" len="sm" w="sm"/>
          </a:ln>
        </p:spPr>
      </p:sp>
      <p:sp>
        <p:nvSpPr>
          <p:cNvPr name="AutoShape 17" id="17"/>
          <p:cNvSpPr/>
          <p:nvPr/>
        </p:nvSpPr>
        <p:spPr>
          <a:xfrm flipH="true">
            <a:off x="11336986" y="2301919"/>
            <a:ext cx="0" cy="6366599"/>
          </a:xfrm>
          <a:prstGeom prst="line">
            <a:avLst/>
          </a:prstGeom>
          <a:ln cap="flat" w="9525">
            <a:solidFill>
              <a:srgbClr val="23496D"/>
            </a:solidFill>
            <a:prstDash val="solid"/>
            <a:headEnd type="none" len="sm" w="sm"/>
            <a:tailEnd type="none" len="sm" w="sm"/>
          </a:ln>
        </p:spPr>
      </p:sp>
      <p:sp>
        <p:nvSpPr>
          <p:cNvPr name="AutoShape 18" id="18"/>
          <p:cNvSpPr/>
          <p:nvPr/>
        </p:nvSpPr>
        <p:spPr>
          <a:xfrm flipH="true">
            <a:off x="6405201" y="2301919"/>
            <a:ext cx="0" cy="6366599"/>
          </a:xfrm>
          <a:prstGeom prst="line">
            <a:avLst/>
          </a:prstGeom>
          <a:ln cap="flat" w="9525">
            <a:solidFill>
              <a:srgbClr val="23496D"/>
            </a:solidFill>
            <a:prstDash val="solid"/>
            <a:headEnd type="none" len="sm" w="sm"/>
            <a:tailEnd type="none" len="sm" w="sm"/>
          </a:ln>
        </p:spPr>
      </p:sp>
      <p:sp>
        <p:nvSpPr>
          <p:cNvPr name="AutoShape 19" id="19"/>
          <p:cNvSpPr/>
          <p:nvPr/>
        </p:nvSpPr>
        <p:spPr>
          <a:xfrm>
            <a:off x="2406827" y="6661486"/>
            <a:ext cx="12871227" cy="0"/>
          </a:xfrm>
          <a:prstGeom prst="line">
            <a:avLst/>
          </a:prstGeom>
          <a:ln cap="flat" w="9525">
            <a:solidFill>
              <a:srgbClr val="23496D"/>
            </a:solidFill>
            <a:prstDash val="solid"/>
            <a:headEnd type="none" len="sm" w="sm"/>
            <a:tailEnd type="none" len="sm" w="sm"/>
          </a:ln>
        </p:spPr>
      </p:sp>
      <p:sp>
        <p:nvSpPr>
          <p:cNvPr name="AutoShape 20" id="20"/>
          <p:cNvSpPr/>
          <p:nvPr/>
        </p:nvSpPr>
        <p:spPr>
          <a:xfrm>
            <a:off x="2406827" y="7735304"/>
            <a:ext cx="12871227" cy="0"/>
          </a:xfrm>
          <a:prstGeom prst="line">
            <a:avLst/>
          </a:prstGeom>
          <a:ln cap="flat" w="9525">
            <a:solidFill>
              <a:srgbClr val="23496D"/>
            </a:solidFill>
            <a:prstDash val="solid"/>
            <a:headEnd type="none" len="sm" w="sm"/>
            <a:tailEnd type="none" len="sm" w="sm"/>
          </a:ln>
        </p:spPr>
      </p:sp>
      <p:sp>
        <p:nvSpPr>
          <p:cNvPr name="TextBox 21" id="21"/>
          <p:cNvSpPr txBox="true"/>
          <p:nvPr/>
        </p:nvSpPr>
        <p:spPr>
          <a:xfrm rot="0">
            <a:off x="3148688" y="2618461"/>
            <a:ext cx="2132886" cy="600075"/>
          </a:xfrm>
          <a:prstGeom prst="rect">
            <a:avLst/>
          </a:prstGeom>
        </p:spPr>
        <p:txBody>
          <a:bodyPr anchor="t" rtlCol="false" tIns="0" lIns="0" bIns="0" rIns="0">
            <a:spAutoFit/>
          </a:bodyPr>
          <a:lstStyle/>
          <a:p>
            <a:pPr algn="ctr">
              <a:lnSpc>
                <a:spcPts val="4139"/>
              </a:lnSpc>
              <a:spcBef>
                <a:spcPct val="0"/>
              </a:spcBef>
            </a:pPr>
            <a:r>
              <a:rPr lang="en-US" b="true" sz="3449">
                <a:solidFill>
                  <a:srgbClr val="2D5986"/>
                </a:solidFill>
                <a:latin typeface="Calibri (MS) Bold"/>
                <a:ea typeface="Calibri (MS) Bold"/>
                <a:cs typeface="Calibri (MS) Bold"/>
                <a:sym typeface="Calibri (MS) Bold"/>
              </a:rPr>
              <a:t>Com</a:t>
            </a:r>
            <a:r>
              <a:rPr lang="en-US" b="true" sz="3449">
                <a:solidFill>
                  <a:srgbClr val="2D5986"/>
                </a:solidFill>
                <a:latin typeface="Calibri (MS) Bold"/>
                <a:ea typeface="Calibri (MS) Bold"/>
                <a:cs typeface="Calibri (MS) Bold"/>
                <a:sym typeface="Calibri (MS) Bold"/>
              </a:rPr>
              <a:t>ponent</a:t>
            </a:r>
          </a:p>
        </p:txBody>
      </p:sp>
      <p:sp>
        <p:nvSpPr>
          <p:cNvPr name="TextBox 22" id="22"/>
          <p:cNvSpPr txBox="true"/>
          <p:nvPr/>
        </p:nvSpPr>
        <p:spPr>
          <a:xfrm rot="0">
            <a:off x="8299477" y="2618461"/>
            <a:ext cx="905470" cy="600075"/>
          </a:xfrm>
          <a:prstGeom prst="rect">
            <a:avLst/>
          </a:prstGeom>
        </p:spPr>
        <p:txBody>
          <a:bodyPr anchor="t" rtlCol="false" tIns="0" lIns="0" bIns="0" rIns="0">
            <a:spAutoFit/>
          </a:bodyPr>
          <a:lstStyle/>
          <a:p>
            <a:pPr algn="ctr">
              <a:lnSpc>
                <a:spcPts val="4139"/>
              </a:lnSpc>
              <a:spcBef>
                <a:spcPct val="0"/>
              </a:spcBef>
            </a:pPr>
            <a:r>
              <a:rPr lang="en-US" b="true" sz="3449">
                <a:solidFill>
                  <a:srgbClr val="2D5986"/>
                </a:solidFill>
                <a:latin typeface="Calibri (MS) Bold"/>
                <a:ea typeface="Calibri (MS) Bold"/>
                <a:cs typeface="Calibri (MS) Bold"/>
                <a:sym typeface="Calibri (MS) Bold"/>
              </a:rPr>
              <a:t>Cl</a:t>
            </a:r>
            <a:r>
              <a:rPr lang="en-US" b="true" sz="3449">
                <a:solidFill>
                  <a:srgbClr val="2D5986"/>
                </a:solidFill>
                <a:latin typeface="Calibri (MS) Bold"/>
                <a:ea typeface="Calibri (MS) Bold"/>
                <a:cs typeface="Calibri (MS) Bold"/>
                <a:sym typeface="Calibri (MS) Bold"/>
              </a:rPr>
              <a:t>ass</a:t>
            </a:r>
          </a:p>
        </p:txBody>
      </p:sp>
      <p:sp>
        <p:nvSpPr>
          <p:cNvPr name="TextBox 23" id="23"/>
          <p:cNvSpPr txBox="true"/>
          <p:nvPr/>
        </p:nvSpPr>
        <p:spPr>
          <a:xfrm rot="0">
            <a:off x="11451089" y="3659785"/>
            <a:ext cx="3506976" cy="1114425"/>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i</a:t>
            </a:r>
            <a:r>
              <a:rPr lang="en-US" sz="2356">
                <a:solidFill>
                  <a:srgbClr val="000000"/>
                </a:solidFill>
                <a:latin typeface="Calibri (MS)"/>
                <a:ea typeface="Calibri (MS)"/>
                <a:cs typeface="Calibri (MS)"/>
                <a:sym typeface="Calibri (MS)"/>
              </a:rPr>
              <a:t>s_active flag and virtual apb_if</a:t>
            </a:r>
          </a:p>
          <a:p>
            <a:pPr algn="l">
              <a:lnSpc>
                <a:spcPts val="2827"/>
              </a:lnSpc>
              <a:spcBef>
                <a:spcPct val="0"/>
              </a:spcBef>
            </a:pPr>
          </a:p>
        </p:txBody>
      </p:sp>
      <p:sp>
        <p:nvSpPr>
          <p:cNvPr name="TextBox 24" id="24"/>
          <p:cNvSpPr txBox="true"/>
          <p:nvPr/>
        </p:nvSpPr>
        <p:spPr>
          <a:xfrm rot="0">
            <a:off x="6752503" y="3659785"/>
            <a:ext cx="3506976" cy="762000"/>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apb_config</a:t>
            </a:r>
          </a:p>
          <a:p>
            <a:pPr algn="l">
              <a:lnSpc>
                <a:spcPts val="2827"/>
              </a:lnSpc>
              <a:spcBef>
                <a:spcPct val="0"/>
              </a:spcBef>
            </a:pPr>
          </a:p>
        </p:txBody>
      </p:sp>
      <p:sp>
        <p:nvSpPr>
          <p:cNvPr name="TextBox 25" id="25"/>
          <p:cNvSpPr txBox="true"/>
          <p:nvPr/>
        </p:nvSpPr>
        <p:spPr>
          <a:xfrm rot="0">
            <a:off x="11451089" y="4641302"/>
            <a:ext cx="3506976" cy="1114425"/>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S</a:t>
            </a:r>
            <a:r>
              <a:rPr lang="en-US" sz="2356">
                <a:solidFill>
                  <a:srgbClr val="000000"/>
                </a:solidFill>
                <a:latin typeface="Calibri (MS)"/>
                <a:ea typeface="Calibri (MS)"/>
                <a:cs typeface="Calibri (MS)"/>
                <a:sym typeface="Calibri (MS)"/>
              </a:rPr>
              <a:t>amples request and completed transfer</a:t>
            </a:r>
          </a:p>
          <a:p>
            <a:pPr algn="l">
              <a:lnSpc>
                <a:spcPts val="2827"/>
              </a:lnSpc>
              <a:spcBef>
                <a:spcPct val="0"/>
              </a:spcBef>
            </a:pPr>
          </a:p>
        </p:txBody>
      </p:sp>
      <p:sp>
        <p:nvSpPr>
          <p:cNvPr name="TextBox 26" id="26"/>
          <p:cNvSpPr txBox="true"/>
          <p:nvPr/>
        </p:nvSpPr>
        <p:spPr>
          <a:xfrm rot="0">
            <a:off x="6752503" y="4641302"/>
            <a:ext cx="3506976" cy="762000"/>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apb_monitor</a:t>
            </a:r>
          </a:p>
          <a:p>
            <a:pPr algn="l">
              <a:lnSpc>
                <a:spcPts val="2827"/>
              </a:lnSpc>
              <a:spcBef>
                <a:spcPct val="0"/>
              </a:spcBef>
            </a:pPr>
          </a:p>
        </p:txBody>
      </p:sp>
      <p:sp>
        <p:nvSpPr>
          <p:cNvPr name="TextBox 27" id="27"/>
          <p:cNvSpPr txBox="true"/>
          <p:nvPr/>
        </p:nvSpPr>
        <p:spPr>
          <a:xfrm rot="0">
            <a:off x="12981466" y="2618461"/>
            <a:ext cx="615652" cy="600075"/>
          </a:xfrm>
          <a:prstGeom prst="rect">
            <a:avLst/>
          </a:prstGeom>
        </p:spPr>
        <p:txBody>
          <a:bodyPr anchor="t" rtlCol="false" tIns="0" lIns="0" bIns="0" rIns="0">
            <a:spAutoFit/>
          </a:bodyPr>
          <a:lstStyle/>
          <a:p>
            <a:pPr algn="ctr">
              <a:lnSpc>
                <a:spcPts val="4139"/>
              </a:lnSpc>
              <a:spcBef>
                <a:spcPct val="0"/>
              </a:spcBef>
            </a:pPr>
            <a:r>
              <a:rPr lang="en-US" b="true" sz="3449">
                <a:solidFill>
                  <a:srgbClr val="2D5986"/>
                </a:solidFill>
                <a:latin typeface="Calibri (MS) Bold"/>
                <a:ea typeface="Calibri (MS) Bold"/>
                <a:cs typeface="Calibri (MS) Bold"/>
                <a:sym typeface="Calibri (MS) Bold"/>
              </a:rPr>
              <a:t>Job</a:t>
            </a:r>
          </a:p>
        </p:txBody>
      </p:sp>
      <p:sp>
        <p:nvSpPr>
          <p:cNvPr name="TextBox 28" id="28"/>
          <p:cNvSpPr txBox="true"/>
          <p:nvPr/>
        </p:nvSpPr>
        <p:spPr>
          <a:xfrm rot="0">
            <a:off x="11451089" y="5718325"/>
            <a:ext cx="3506976" cy="1114425"/>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S</a:t>
            </a:r>
            <a:r>
              <a:rPr lang="en-US" sz="2356">
                <a:solidFill>
                  <a:srgbClr val="000000"/>
                </a:solidFill>
                <a:latin typeface="Calibri (MS)"/>
                <a:ea typeface="Calibri (MS)"/>
                <a:cs typeface="Calibri (MS)"/>
                <a:sym typeface="Calibri (MS)"/>
              </a:rPr>
              <a:t>tores requests in request_fifo</a:t>
            </a:r>
          </a:p>
          <a:p>
            <a:pPr algn="l">
              <a:lnSpc>
                <a:spcPts val="2827"/>
              </a:lnSpc>
              <a:spcBef>
                <a:spcPct val="0"/>
              </a:spcBef>
            </a:pPr>
          </a:p>
        </p:txBody>
      </p:sp>
      <p:sp>
        <p:nvSpPr>
          <p:cNvPr name="TextBox 29" id="29"/>
          <p:cNvSpPr txBox="true"/>
          <p:nvPr/>
        </p:nvSpPr>
        <p:spPr>
          <a:xfrm rot="0">
            <a:off x="6752503" y="5718325"/>
            <a:ext cx="3506976" cy="762000"/>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apb_sequencer</a:t>
            </a:r>
          </a:p>
          <a:p>
            <a:pPr algn="l">
              <a:lnSpc>
                <a:spcPts val="2827"/>
              </a:lnSpc>
              <a:spcBef>
                <a:spcPct val="0"/>
              </a:spcBef>
            </a:pPr>
          </a:p>
        </p:txBody>
      </p:sp>
      <p:sp>
        <p:nvSpPr>
          <p:cNvPr name="TextBox 30" id="30"/>
          <p:cNvSpPr txBox="true"/>
          <p:nvPr/>
        </p:nvSpPr>
        <p:spPr>
          <a:xfrm rot="0">
            <a:off x="11451089" y="6790074"/>
            <a:ext cx="3506976" cy="1114425"/>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Drive</a:t>
            </a:r>
            <a:r>
              <a:rPr lang="en-US" sz="2356">
                <a:solidFill>
                  <a:srgbClr val="000000"/>
                </a:solidFill>
                <a:latin typeface="Calibri (MS)"/>
                <a:ea typeface="Calibri (MS)"/>
                <a:cs typeface="Calibri (MS)"/>
                <a:sym typeface="Calibri (MS)"/>
              </a:rPr>
              <a:t>s the slave response signals</a:t>
            </a:r>
          </a:p>
          <a:p>
            <a:pPr algn="l">
              <a:lnSpc>
                <a:spcPts val="2827"/>
              </a:lnSpc>
              <a:spcBef>
                <a:spcPct val="0"/>
              </a:spcBef>
            </a:pPr>
          </a:p>
        </p:txBody>
      </p:sp>
      <p:sp>
        <p:nvSpPr>
          <p:cNvPr name="TextBox 31" id="31"/>
          <p:cNvSpPr txBox="true"/>
          <p:nvPr/>
        </p:nvSpPr>
        <p:spPr>
          <a:xfrm rot="0">
            <a:off x="6752503" y="6790074"/>
            <a:ext cx="3506976" cy="762000"/>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apb</a:t>
            </a:r>
            <a:r>
              <a:rPr lang="en-US" sz="2356">
                <a:solidFill>
                  <a:srgbClr val="000000"/>
                </a:solidFill>
                <a:latin typeface="Calibri (MS)"/>
                <a:ea typeface="Calibri (MS)"/>
                <a:cs typeface="Calibri (MS)"/>
                <a:sym typeface="Calibri (MS)"/>
              </a:rPr>
              <a:t>_driver</a:t>
            </a:r>
          </a:p>
          <a:p>
            <a:pPr algn="l">
              <a:lnSpc>
                <a:spcPts val="2827"/>
              </a:lnSpc>
              <a:spcBef>
                <a:spcPct val="0"/>
              </a:spcBef>
            </a:pPr>
          </a:p>
        </p:txBody>
      </p:sp>
      <p:sp>
        <p:nvSpPr>
          <p:cNvPr name="TextBox 32" id="32"/>
          <p:cNvSpPr txBox="true"/>
          <p:nvPr/>
        </p:nvSpPr>
        <p:spPr>
          <a:xfrm rot="0">
            <a:off x="11451089" y="7825686"/>
            <a:ext cx="3506976" cy="1114425"/>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W</a:t>
            </a:r>
            <a:r>
              <a:rPr lang="en-US" sz="2356">
                <a:solidFill>
                  <a:srgbClr val="000000"/>
                </a:solidFill>
                <a:latin typeface="Calibri (MS)"/>
                <a:ea typeface="Calibri (MS)"/>
                <a:cs typeface="Calibri (MS)"/>
                <a:sym typeface="Calibri (MS)"/>
              </a:rPr>
              <a:t>aits for a request, then randomizes a response</a:t>
            </a:r>
          </a:p>
          <a:p>
            <a:pPr algn="l">
              <a:lnSpc>
                <a:spcPts val="2827"/>
              </a:lnSpc>
              <a:spcBef>
                <a:spcPct val="0"/>
              </a:spcBef>
            </a:pPr>
          </a:p>
        </p:txBody>
      </p:sp>
      <p:sp>
        <p:nvSpPr>
          <p:cNvPr name="TextBox 33" id="33"/>
          <p:cNvSpPr txBox="true"/>
          <p:nvPr/>
        </p:nvSpPr>
        <p:spPr>
          <a:xfrm rot="0">
            <a:off x="6752503" y="7825686"/>
            <a:ext cx="3506976" cy="762000"/>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apb_sequence</a:t>
            </a:r>
          </a:p>
          <a:p>
            <a:pPr algn="l">
              <a:lnSpc>
                <a:spcPts val="2827"/>
              </a:lnSpc>
              <a:spcBef>
                <a:spcPct val="0"/>
              </a:spcBef>
            </a:pPr>
          </a:p>
        </p:txBody>
      </p:sp>
      <p:sp>
        <p:nvSpPr>
          <p:cNvPr name="TextBox 34" id="34"/>
          <p:cNvSpPr txBox="true"/>
          <p:nvPr/>
        </p:nvSpPr>
        <p:spPr>
          <a:xfrm rot="0">
            <a:off x="2550924" y="3659785"/>
            <a:ext cx="3506976" cy="409575"/>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Co</a:t>
            </a:r>
            <a:r>
              <a:rPr lang="en-US" sz="2356">
                <a:solidFill>
                  <a:srgbClr val="000000"/>
                </a:solidFill>
                <a:latin typeface="Calibri (MS)"/>
                <a:ea typeface="Calibri (MS)"/>
                <a:cs typeface="Calibri (MS)"/>
                <a:sym typeface="Calibri (MS)"/>
              </a:rPr>
              <a:t>nfig</a:t>
            </a:r>
          </a:p>
        </p:txBody>
      </p:sp>
      <p:sp>
        <p:nvSpPr>
          <p:cNvPr name="TextBox 35" id="35"/>
          <p:cNvSpPr txBox="true"/>
          <p:nvPr/>
        </p:nvSpPr>
        <p:spPr>
          <a:xfrm rot="0">
            <a:off x="2550924" y="4641302"/>
            <a:ext cx="3506976" cy="409575"/>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Moni</a:t>
            </a:r>
            <a:r>
              <a:rPr lang="en-US" sz="2356">
                <a:solidFill>
                  <a:srgbClr val="000000"/>
                </a:solidFill>
                <a:latin typeface="Calibri (MS)"/>
                <a:ea typeface="Calibri (MS)"/>
                <a:cs typeface="Calibri (MS)"/>
                <a:sym typeface="Calibri (MS)"/>
              </a:rPr>
              <a:t>tor</a:t>
            </a:r>
          </a:p>
        </p:txBody>
      </p:sp>
      <p:sp>
        <p:nvSpPr>
          <p:cNvPr name="TextBox 36" id="36"/>
          <p:cNvSpPr txBox="true"/>
          <p:nvPr/>
        </p:nvSpPr>
        <p:spPr>
          <a:xfrm rot="0">
            <a:off x="2550924" y="5718325"/>
            <a:ext cx="3506976" cy="409575"/>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Sequen</a:t>
            </a:r>
            <a:r>
              <a:rPr lang="en-US" sz="2356">
                <a:solidFill>
                  <a:srgbClr val="000000"/>
                </a:solidFill>
                <a:latin typeface="Calibri (MS)"/>
                <a:ea typeface="Calibri (MS)"/>
                <a:cs typeface="Calibri (MS)"/>
                <a:sym typeface="Calibri (MS)"/>
              </a:rPr>
              <a:t>cer</a:t>
            </a:r>
          </a:p>
        </p:txBody>
      </p:sp>
      <p:sp>
        <p:nvSpPr>
          <p:cNvPr name="TextBox 37" id="37"/>
          <p:cNvSpPr txBox="true"/>
          <p:nvPr/>
        </p:nvSpPr>
        <p:spPr>
          <a:xfrm rot="0">
            <a:off x="2550924" y="6790074"/>
            <a:ext cx="3506976" cy="409575"/>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Dr</a:t>
            </a:r>
            <a:r>
              <a:rPr lang="en-US" sz="2356">
                <a:solidFill>
                  <a:srgbClr val="000000"/>
                </a:solidFill>
                <a:latin typeface="Calibri (MS)"/>
                <a:ea typeface="Calibri (MS)"/>
                <a:cs typeface="Calibri (MS)"/>
                <a:sym typeface="Calibri (MS)"/>
              </a:rPr>
              <a:t>iver</a:t>
            </a:r>
          </a:p>
        </p:txBody>
      </p:sp>
      <p:sp>
        <p:nvSpPr>
          <p:cNvPr name="TextBox 38" id="38"/>
          <p:cNvSpPr txBox="true"/>
          <p:nvPr/>
        </p:nvSpPr>
        <p:spPr>
          <a:xfrm rot="0">
            <a:off x="2550924" y="7825686"/>
            <a:ext cx="3506976" cy="409575"/>
          </a:xfrm>
          <a:prstGeom prst="rect">
            <a:avLst/>
          </a:prstGeom>
        </p:spPr>
        <p:txBody>
          <a:bodyPr anchor="t" rtlCol="false" tIns="0" lIns="0" bIns="0" rIns="0">
            <a:spAutoFit/>
          </a:bodyPr>
          <a:lstStyle/>
          <a:p>
            <a:pPr algn="l">
              <a:lnSpc>
                <a:spcPts val="2827"/>
              </a:lnSpc>
              <a:spcBef>
                <a:spcPct val="0"/>
              </a:spcBef>
            </a:pPr>
            <a:r>
              <a:rPr lang="en-US" sz="2356">
                <a:solidFill>
                  <a:srgbClr val="000000"/>
                </a:solidFill>
                <a:latin typeface="Calibri (MS)"/>
                <a:ea typeface="Calibri (MS)"/>
                <a:cs typeface="Calibri (MS)"/>
                <a:sym typeface="Calibri (MS)"/>
              </a:rPr>
              <a:t>S</a:t>
            </a:r>
            <a:r>
              <a:rPr lang="en-US" sz="2356">
                <a:solidFill>
                  <a:srgbClr val="000000"/>
                </a:solidFill>
                <a:latin typeface="Calibri (MS)"/>
                <a:ea typeface="Calibri (MS)"/>
                <a:cs typeface="Calibri (MS)"/>
                <a:sym typeface="Calibri (MS)"/>
              </a:rPr>
              <a:t>equence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grpSp>
        <p:nvGrpSpPr>
          <p:cNvPr name="Group 2" id="2"/>
          <p:cNvGrpSpPr/>
          <p:nvPr/>
        </p:nvGrpSpPr>
        <p:grpSpPr>
          <a:xfrm rot="0">
            <a:off x="1028700" y="3165513"/>
            <a:ext cx="3738506" cy="4463401"/>
            <a:chOff x="0" y="0"/>
            <a:chExt cx="984627" cy="1175546"/>
          </a:xfrm>
        </p:grpSpPr>
        <p:sp>
          <p:nvSpPr>
            <p:cNvPr name="Freeform 3" id="3"/>
            <p:cNvSpPr/>
            <p:nvPr/>
          </p:nvSpPr>
          <p:spPr>
            <a:xfrm flipH="false" flipV="false" rot="0">
              <a:off x="0" y="0"/>
              <a:ext cx="984627" cy="1175546"/>
            </a:xfrm>
            <a:custGeom>
              <a:avLst/>
              <a:gdLst/>
              <a:ahLst/>
              <a:cxnLst/>
              <a:rect r="r" b="b" t="t" l="l"/>
              <a:pathLst>
                <a:path h="1175546" w="984627">
                  <a:moveTo>
                    <a:pt x="28992" y="0"/>
                  </a:moveTo>
                  <a:lnTo>
                    <a:pt x="955635" y="0"/>
                  </a:lnTo>
                  <a:cubicBezTo>
                    <a:pt x="971647" y="0"/>
                    <a:pt x="984627" y="12980"/>
                    <a:pt x="984627" y="28992"/>
                  </a:cubicBezTo>
                  <a:lnTo>
                    <a:pt x="984627" y="1146554"/>
                  </a:lnTo>
                  <a:cubicBezTo>
                    <a:pt x="984627" y="1154243"/>
                    <a:pt x="981573" y="1161617"/>
                    <a:pt x="976135" y="1167054"/>
                  </a:cubicBezTo>
                  <a:cubicBezTo>
                    <a:pt x="970698" y="1172492"/>
                    <a:pt x="963324" y="1175546"/>
                    <a:pt x="955635" y="1175546"/>
                  </a:cubicBezTo>
                  <a:lnTo>
                    <a:pt x="28992" y="1175546"/>
                  </a:lnTo>
                  <a:cubicBezTo>
                    <a:pt x="12980" y="1175546"/>
                    <a:pt x="0" y="1162566"/>
                    <a:pt x="0" y="1146554"/>
                  </a:cubicBezTo>
                  <a:lnTo>
                    <a:pt x="0" y="28992"/>
                  </a:lnTo>
                  <a:cubicBezTo>
                    <a:pt x="0" y="12980"/>
                    <a:pt x="12980" y="0"/>
                    <a:pt x="28992" y="0"/>
                  </a:cubicBezTo>
                  <a:close/>
                </a:path>
              </a:pathLst>
            </a:custGeom>
            <a:solidFill>
              <a:srgbClr val="2D5986"/>
            </a:solidFill>
          </p:spPr>
        </p:sp>
        <p:sp>
          <p:nvSpPr>
            <p:cNvPr name="TextBox 4" id="4"/>
            <p:cNvSpPr txBox="true"/>
            <p:nvPr/>
          </p:nvSpPr>
          <p:spPr>
            <a:xfrm>
              <a:off x="0" y="-38100"/>
              <a:ext cx="984627" cy="1213646"/>
            </a:xfrm>
            <a:prstGeom prst="rect">
              <a:avLst/>
            </a:prstGeom>
          </p:spPr>
          <p:txBody>
            <a:bodyPr anchor="ctr" rtlCol="false" tIns="50800" lIns="50800" bIns="50800" rIns="50800"/>
            <a:lstStyle/>
            <a:p>
              <a:pPr algn="ctr">
                <a:lnSpc>
                  <a:spcPts val="2467"/>
                </a:lnSpc>
              </a:pPr>
            </a:p>
          </p:txBody>
        </p:sp>
      </p:grpSp>
      <p:grpSp>
        <p:nvGrpSpPr>
          <p:cNvPr name="Group 5" id="5"/>
          <p:cNvGrpSpPr/>
          <p:nvPr/>
        </p:nvGrpSpPr>
        <p:grpSpPr>
          <a:xfrm rot="0">
            <a:off x="5205807" y="3165513"/>
            <a:ext cx="3738506" cy="4463401"/>
            <a:chOff x="0" y="0"/>
            <a:chExt cx="984627" cy="1175546"/>
          </a:xfrm>
        </p:grpSpPr>
        <p:sp>
          <p:nvSpPr>
            <p:cNvPr name="Freeform 6" id="6"/>
            <p:cNvSpPr/>
            <p:nvPr/>
          </p:nvSpPr>
          <p:spPr>
            <a:xfrm flipH="false" flipV="false" rot="0">
              <a:off x="0" y="0"/>
              <a:ext cx="984627" cy="1175546"/>
            </a:xfrm>
            <a:custGeom>
              <a:avLst/>
              <a:gdLst/>
              <a:ahLst/>
              <a:cxnLst/>
              <a:rect r="r" b="b" t="t" l="l"/>
              <a:pathLst>
                <a:path h="1175546" w="984627">
                  <a:moveTo>
                    <a:pt x="28992" y="0"/>
                  </a:moveTo>
                  <a:lnTo>
                    <a:pt x="955635" y="0"/>
                  </a:lnTo>
                  <a:cubicBezTo>
                    <a:pt x="971647" y="0"/>
                    <a:pt x="984627" y="12980"/>
                    <a:pt x="984627" y="28992"/>
                  </a:cubicBezTo>
                  <a:lnTo>
                    <a:pt x="984627" y="1146554"/>
                  </a:lnTo>
                  <a:cubicBezTo>
                    <a:pt x="984627" y="1154243"/>
                    <a:pt x="981573" y="1161617"/>
                    <a:pt x="976135" y="1167054"/>
                  </a:cubicBezTo>
                  <a:cubicBezTo>
                    <a:pt x="970698" y="1172492"/>
                    <a:pt x="963324" y="1175546"/>
                    <a:pt x="955635" y="1175546"/>
                  </a:cubicBezTo>
                  <a:lnTo>
                    <a:pt x="28992" y="1175546"/>
                  </a:lnTo>
                  <a:cubicBezTo>
                    <a:pt x="12980" y="1175546"/>
                    <a:pt x="0" y="1162566"/>
                    <a:pt x="0" y="1146554"/>
                  </a:cubicBezTo>
                  <a:lnTo>
                    <a:pt x="0" y="28992"/>
                  </a:lnTo>
                  <a:cubicBezTo>
                    <a:pt x="0" y="12980"/>
                    <a:pt x="12980" y="0"/>
                    <a:pt x="28992" y="0"/>
                  </a:cubicBezTo>
                  <a:close/>
                </a:path>
              </a:pathLst>
            </a:custGeom>
            <a:solidFill>
              <a:srgbClr val="2D5986"/>
            </a:solidFill>
          </p:spPr>
        </p:sp>
        <p:sp>
          <p:nvSpPr>
            <p:cNvPr name="TextBox 7" id="7"/>
            <p:cNvSpPr txBox="true"/>
            <p:nvPr/>
          </p:nvSpPr>
          <p:spPr>
            <a:xfrm>
              <a:off x="0" y="-38100"/>
              <a:ext cx="984627" cy="1213646"/>
            </a:xfrm>
            <a:prstGeom prst="rect">
              <a:avLst/>
            </a:prstGeom>
          </p:spPr>
          <p:txBody>
            <a:bodyPr anchor="ctr" rtlCol="false" tIns="50800" lIns="50800" bIns="50800" rIns="50800"/>
            <a:lstStyle/>
            <a:p>
              <a:pPr algn="ctr">
                <a:lnSpc>
                  <a:spcPts val="2467"/>
                </a:lnSpc>
              </a:pPr>
            </a:p>
          </p:txBody>
        </p:sp>
      </p:grpSp>
      <p:sp>
        <p:nvSpPr>
          <p:cNvPr name="TextBox 8" id="8"/>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APB Agent</a:t>
            </a:r>
          </a:p>
        </p:txBody>
      </p:sp>
      <p:sp>
        <p:nvSpPr>
          <p:cNvPr name="TextBox 9" id="9"/>
          <p:cNvSpPr txBox="true"/>
          <p:nvPr/>
        </p:nvSpPr>
        <p:spPr>
          <a:xfrm rot="0">
            <a:off x="1028700" y="1813891"/>
            <a:ext cx="5889028" cy="838200"/>
          </a:xfrm>
          <a:prstGeom prst="rect">
            <a:avLst/>
          </a:prstGeom>
        </p:spPr>
        <p:txBody>
          <a:bodyPr anchor="t" rtlCol="false" tIns="0" lIns="0" bIns="0" rIns="0">
            <a:spAutoFit/>
          </a:bodyPr>
          <a:lstStyle/>
          <a:p>
            <a:pPr algn="l">
              <a:lnSpc>
                <a:spcPts val="5827"/>
              </a:lnSpc>
              <a:spcBef>
                <a:spcPct val="0"/>
              </a:spcBef>
            </a:pPr>
            <a:r>
              <a:rPr lang="en-US" b="true" sz="4856">
                <a:solidFill>
                  <a:srgbClr val="2D5986"/>
                </a:solidFill>
                <a:latin typeface="Calibri (MS) Bold"/>
                <a:ea typeface="Calibri (MS) Bold"/>
                <a:cs typeface="Calibri (MS) Bold"/>
                <a:sym typeface="Calibri (MS) Bold"/>
              </a:rPr>
              <a:t>Reactive</a:t>
            </a:r>
            <a:r>
              <a:rPr lang="en-US" b="true" sz="4856">
                <a:solidFill>
                  <a:srgbClr val="2D5986"/>
                </a:solidFill>
                <a:latin typeface="Calibri (MS) Bold"/>
                <a:ea typeface="Calibri (MS) Bold"/>
                <a:cs typeface="Calibri (MS) Bold"/>
                <a:sym typeface="Calibri (MS) Bold"/>
              </a:rPr>
              <a:t> data flow</a:t>
            </a:r>
          </a:p>
        </p:txBody>
      </p:sp>
      <p:sp>
        <p:nvSpPr>
          <p:cNvPr name="TextBox 10" id="10"/>
          <p:cNvSpPr txBox="true"/>
          <p:nvPr/>
        </p:nvSpPr>
        <p:spPr>
          <a:xfrm rot="0">
            <a:off x="1186031" y="4391025"/>
            <a:ext cx="2071247" cy="752475"/>
          </a:xfrm>
          <a:prstGeom prst="rect">
            <a:avLst/>
          </a:prstGeom>
        </p:spPr>
        <p:txBody>
          <a:bodyPr anchor="t" rtlCol="false" tIns="0" lIns="0" bIns="0" rIns="0">
            <a:spAutoFit/>
          </a:bodyPr>
          <a:lstStyle/>
          <a:p>
            <a:pPr algn="l">
              <a:lnSpc>
                <a:spcPts val="5227"/>
              </a:lnSpc>
              <a:spcBef>
                <a:spcPct val="0"/>
              </a:spcBef>
            </a:pPr>
            <a:r>
              <a:rPr lang="en-US" b="true" sz="4356">
                <a:solidFill>
                  <a:srgbClr val="F7F5F1"/>
                </a:solidFill>
                <a:latin typeface="Calibri (MS) Bold"/>
                <a:ea typeface="Calibri (MS) Bold"/>
                <a:cs typeface="Calibri (MS) Bold"/>
                <a:sym typeface="Calibri (MS) Bold"/>
              </a:rPr>
              <a:t>Moni</a:t>
            </a:r>
            <a:r>
              <a:rPr lang="en-US" b="true" sz="4356">
                <a:solidFill>
                  <a:srgbClr val="F7F5F1"/>
                </a:solidFill>
                <a:latin typeface="Calibri (MS) Bold"/>
                <a:ea typeface="Calibri (MS) Bold"/>
                <a:cs typeface="Calibri (MS) Bold"/>
                <a:sym typeface="Calibri (MS) Bold"/>
              </a:rPr>
              <a:t>tor</a:t>
            </a:r>
          </a:p>
        </p:txBody>
      </p:sp>
      <p:sp>
        <p:nvSpPr>
          <p:cNvPr name="TextBox 11" id="11"/>
          <p:cNvSpPr txBox="true"/>
          <p:nvPr/>
        </p:nvSpPr>
        <p:spPr>
          <a:xfrm rot="0">
            <a:off x="5488163" y="4391025"/>
            <a:ext cx="2602837" cy="752475"/>
          </a:xfrm>
          <a:prstGeom prst="rect">
            <a:avLst/>
          </a:prstGeom>
        </p:spPr>
        <p:txBody>
          <a:bodyPr anchor="t" rtlCol="false" tIns="0" lIns="0" bIns="0" rIns="0">
            <a:spAutoFit/>
          </a:bodyPr>
          <a:lstStyle/>
          <a:p>
            <a:pPr algn="l">
              <a:lnSpc>
                <a:spcPts val="5227"/>
              </a:lnSpc>
              <a:spcBef>
                <a:spcPct val="0"/>
              </a:spcBef>
            </a:pPr>
            <a:r>
              <a:rPr lang="en-US" b="true" sz="4356">
                <a:solidFill>
                  <a:srgbClr val="F7F5F1"/>
                </a:solidFill>
                <a:latin typeface="Calibri (MS) Bold"/>
                <a:ea typeface="Calibri (MS) Bold"/>
                <a:cs typeface="Calibri (MS) Bold"/>
                <a:sym typeface="Calibri (MS) Bold"/>
              </a:rPr>
              <a:t>Sequence</a:t>
            </a:r>
            <a:r>
              <a:rPr lang="en-US" b="true" sz="4356">
                <a:solidFill>
                  <a:srgbClr val="F7F5F1"/>
                </a:solidFill>
                <a:latin typeface="Calibri (MS) Bold"/>
                <a:ea typeface="Calibri (MS) Bold"/>
                <a:cs typeface="Calibri (MS) Bold"/>
                <a:sym typeface="Calibri (MS) Bold"/>
              </a:rPr>
              <a:t>r</a:t>
            </a:r>
          </a:p>
        </p:txBody>
      </p:sp>
      <p:sp>
        <p:nvSpPr>
          <p:cNvPr name="TextBox 12" id="12"/>
          <p:cNvSpPr txBox="true"/>
          <p:nvPr/>
        </p:nvSpPr>
        <p:spPr>
          <a:xfrm rot="0">
            <a:off x="1186031" y="5267110"/>
            <a:ext cx="3173794" cy="1771650"/>
          </a:xfrm>
          <a:prstGeom prst="rect">
            <a:avLst/>
          </a:prstGeom>
        </p:spPr>
        <p:txBody>
          <a:bodyPr anchor="t" rtlCol="false" tIns="0" lIns="0" bIns="0" rIns="0">
            <a:spAutoFit/>
          </a:bodyPr>
          <a:lstStyle/>
          <a:p>
            <a:pPr algn="l">
              <a:lnSpc>
                <a:spcPts val="2707"/>
              </a:lnSpc>
              <a:spcBef>
                <a:spcPct val="0"/>
              </a:spcBef>
            </a:pPr>
            <a:r>
              <a:rPr lang="en-US" sz="2256">
                <a:solidFill>
                  <a:srgbClr val="F6F4EE"/>
                </a:solidFill>
                <a:latin typeface="Calibri (MS)"/>
                <a:ea typeface="Calibri (MS)"/>
                <a:cs typeface="Calibri (MS)"/>
                <a:sym typeface="Calibri (MS)"/>
              </a:rPr>
              <a:t>Detects setup phase (PSEL=1, PENABLE=0) and publishes </a:t>
            </a:r>
            <a:r>
              <a:rPr lang="en-US" sz="2256">
                <a:solidFill>
                  <a:srgbClr val="F6F4EE"/>
                </a:solidFill>
                <a:latin typeface="Calibri (MS)"/>
                <a:ea typeface="Calibri (MS)"/>
                <a:cs typeface="Calibri (MS)"/>
                <a:sym typeface="Calibri (MS)"/>
              </a:rPr>
              <a:t>the request on request_aport.</a:t>
            </a:r>
          </a:p>
          <a:p>
            <a:pPr algn="l">
              <a:lnSpc>
                <a:spcPts val="2707"/>
              </a:lnSpc>
              <a:spcBef>
                <a:spcPct val="0"/>
              </a:spcBef>
            </a:pPr>
          </a:p>
        </p:txBody>
      </p:sp>
      <p:sp>
        <p:nvSpPr>
          <p:cNvPr name="TextBox 13" id="13"/>
          <p:cNvSpPr txBox="true"/>
          <p:nvPr/>
        </p:nvSpPr>
        <p:spPr>
          <a:xfrm rot="0">
            <a:off x="5488163" y="5267110"/>
            <a:ext cx="3173794" cy="1428750"/>
          </a:xfrm>
          <a:prstGeom prst="rect">
            <a:avLst/>
          </a:prstGeom>
        </p:spPr>
        <p:txBody>
          <a:bodyPr anchor="t" rtlCol="false" tIns="0" lIns="0" bIns="0" rIns="0">
            <a:spAutoFit/>
          </a:bodyPr>
          <a:lstStyle/>
          <a:p>
            <a:pPr algn="l">
              <a:lnSpc>
                <a:spcPts val="2707"/>
              </a:lnSpc>
              <a:spcBef>
                <a:spcPct val="0"/>
              </a:spcBef>
            </a:pPr>
            <a:r>
              <a:rPr lang="en-US" sz="2256">
                <a:solidFill>
                  <a:srgbClr val="F6F4EE"/>
                </a:solidFill>
                <a:latin typeface="Calibri (MS)"/>
                <a:ea typeface="Calibri (MS)"/>
                <a:cs typeface="Calibri (MS)"/>
                <a:sym typeface="Calibri (MS)"/>
              </a:rPr>
              <a:t>request_export feeds request_fifo inside </a:t>
            </a:r>
            <a:r>
              <a:rPr lang="en-US" sz="2256">
                <a:solidFill>
                  <a:srgbClr val="F6F4EE"/>
                </a:solidFill>
                <a:latin typeface="Calibri (MS)"/>
                <a:ea typeface="Calibri (MS)"/>
                <a:cs typeface="Calibri (MS)"/>
                <a:sym typeface="Calibri (MS)"/>
              </a:rPr>
              <a:t>the sequencer.</a:t>
            </a:r>
          </a:p>
          <a:p>
            <a:pPr algn="l">
              <a:lnSpc>
                <a:spcPts val="2707"/>
              </a:lnSpc>
              <a:spcBef>
                <a:spcPct val="0"/>
              </a:spcBef>
            </a:pPr>
          </a:p>
        </p:txBody>
      </p:sp>
      <p:sp>
        <p:nvSpPr>
          <p:cNvPr name="TextBox 14" id="14"/>
          <p:cNvSpPr txBox="true"/>
          <p:nvPr/>
        </p:nvSpPr>
        <p:spPr>
          <a:xfrm rot="0">
            <a:off x="1186031" y="3485856"/>
            <a:ext cx="2071247" cy="752475"/>
          </a:xfrm>
          <a:prstGeom prst="rect">
            <a:avLst/>
          </a:prstGeom>
        </p:spPr>
        <p:txBody>
          <a:bodyPr anchor="t" rtlCol="false" tIns="0" lIns="0" bIns="0" rIns="0">
            <a:spAutoFit/>
          </a:bodyPr>
          <a:lstStyle/>
          <a:p>
            <a:pPr algn="l">
              <a:lnSpc>
                <a:spcPts val="5227"/>
              </a:lnSpc>
              <a:spcBef>
                <a:spcPct val="0"/>
              </a:spcBef>
            </a:pPr>
            <a:r>
              <a:rPr lang="en-US" b="true" sz="4356">
                <a:solidFill>
                  <a:srgbClr val="F6F4EE"/>
                </a:solidFill>
                <a:latin typeface="Calibri (MS) Bold"/>
                <a:ea typeface="Calibri (MS) Bold"/>
                <a:cs typeface="Calibri (MS) Bold"/>
                <a:sym typeface="Calibri (MS) Bold"/>
              </a:rPr>
              <a:t>1</a:t>
            </a:r>
          </a:p>
        </p:txBody>
      </p:sp>
      <p:sp>
        <p:nvSpPr>
          <p:cNvPr name="TextBox 15" id="15"/>
          <p:cNvSpPr txBox="true"/>
          <p:nvPr/>
        </p:nvSpPr>
        <p:spPr>
          <a:xfrm rot="0">
            <a:off x="5488163" y="3485856"/>
            <a:ext cx="2071247" cy="752475"/>
          </a:xfrm>
          <a:prstGeom prst="rect">
            <a:avLst/>
          </a:prstGeom>
        </p:spPr>
        <p:txBody>
          <a:bodyPr anchor="t" rtlCol="false" tIns="0" lIns="0" bIns="0" rIns="0">
            <a:spAutoFit/>
          </a:bodyPr>
          <a:lstStyle/>
          <a:p>
            <a:pPr algn="l">
              <a:lnSpc>
                <a:spcPts val="5227"/>
              </a:lnSpc>
              <a:spcBef>
                <a:spcPct val="0"/>
              </a:spcBef>
            </a:pPr>
            <a:r>
              <a:rPr lang="en-US" b="true" sz="4356">
                <a:solidFill>
                  <a:srgbClr val="F6F4EE"/>
                </a:solidFill>
                <a:latin typeface="Calibri (MS) Bold"/>
                <a:ea typeface="Calibri (MS) Bold"/>
                <a:cs typeface="Calibri (MS) Bold"/>
                <a:sym typeface="Calibri (MS) Bold"/>
              </a:rPr>
              <a:t>2</a:t>
            </a:r>
          </a:p>
        </p:txBody>
      </p:sp>
      <p:grpSp>
        <p:nvGrpSpPr>
          <p:cNvPr name="Group 16" id="16"/>
          <p:cNvGrpSpPr/>
          <p:nvPr/>
        </p:nvGrpSpPr>
        <p:grpSpPr>
          <a:xfrm rot="0">
            <a:off x="9382913" y="3165513"/>
            <a:ext cx="3738506" cy="4463401"/>
            <a:chOff x="0" y="0"/>
            <a:chExt cx="984627" cy="1175546"/>
          </a:xfrm>
        </p:grpSpPr>
        <p:sp>
          <p:nvSpPr>
            <p:cNvPr name="Freeform 17" id="17"/>
            <p:cNvSpPr/>
            <p:nvPr/>
          </p:nvSpPr>
          <p:spPr>
            <a:xfrm flipH="false" flipV="false" rot="0">
              <a:off x="0" y="0"/>
              <a:ext cx="984627" cy="1175546"/>
            </a:xfrm>
            <a:custGeom>
              <a:avLst/>
              <a:gdLst/>
              <a:ahLst/>
              <a:cxnLst/>
              <a:rect r="r" b="b" t="t" l="l"/>
              <a:pathLst>
                <a:path h="1175546" w="984627">
                  <a:moveTo>
                    <a:pt x="28992" y="0"/>
                  </a:moveTo>
                  <a:lnTo>
                    <a:pt x="955635" y="0"/>
                  </a:lnTo>
                  <a:cubicBezTo>
                    <a:pt x="971647" y="0"/>
                    <a:pt x="984627" y="12980"/>
                    <a:pt x="984627" y="28992"/>
                  </a:cubicBezTo>
                  <a:lnTo>
                    <a:pt x="984627" y="1146554"/>
                  </a:lnTo>
                  <a:cubicBezTo>
                    <a:pt x="984627" y="1154243"/>
                    <a:pt x="981573" y="1161617"/>
                    <a:pt x="976135" y="1167054"/>
                  </a:cubicBezTo>
                  <a:cubicBezTo>
                    <a:pt x="970698" y="1172492"/>
                    <a:pt x="963324" y="1175546"/>
                    <a:pt x="955635" y="1175546"/>
                  </a:cubicBezTo>
                  <a:lnTo>
                    <a:pt x="28992" y="1175546"/>
                  </a:lnTo>
                  <a:cubicBezTo>
                    <a:pt x="12980" y="1175546"/>
                    <a:pt x="0" y="1162566"/>
                    <a:pt x="0" y="1146554"/>
                  </a:cubicBezTo>
                  <a:lnTo>
                    <a:pt x="0" y="28992"/>
                  </a:lnTo>
                  <a:cubicBezTo>
                    <a:pt x="0" y="12980"/>
                    <a:pt x="12980" y="0"/>
                    <a:pt x="28992" y="0"/>
                  </a:cubicBezTo>
                  <a:close/>
                </a:path>
              </a:pathLst>
            </a:custGeom>
            <a:solidFill>
              <a:srgbClr val="2D5986"/>
            </a:solidFill>
          </p:spPr>
        </p:sp>
        <p:sp>
          <p:nvSpPr>
            <p:cNvPr name="TextBox 18" id="18"/>
            <p:cNvSpPr txBox="true"/>
            <p:nvPr/>
          </p:nvSpPr>
          <p:spPr>
            <a:xfrm>
              <a:off x="0" y="-38100"/>
              <a:ext cx="984627" cy="1213646"/>
            </a:xfrm>
            <a:prstGeom prst="rect">
              <a:avLst/>
            </a:prstGeom>
          </p:spPr>
          <p:txBody>
            <a:bodyPr anchor="ctr" rtlCol="false" tIns="50800" lIns="50800" bIns="50800" rIns="50800"/>
            <a:lstStyle/>
            <a:p>
              <a:pPr algn="ctr">
                <a:lnSpc>
                  <a:spcPts val="2467"/>
                </a:lnSpc>
              </a:pPr>
            </a:p>
          </p:txBody>
        </p:sp>
      </p:grpSp>
      <p:grpSp>
        <p:nvGrpSpPr>
          <p:cNvPr name="Group 19" id="19"/>
          <p:cNvGrpSpPr/>
          <p:nvPr/>
        </p:nvGrpSpPr>
        <p:grpSpPr>
          <a:xfrm rot="0">
            <a:off x="13423334" y="3165513"/>
            <a:ext cx="3972653" cy="4463401"/>
            <a:chOff x="0" y="0"/>
            <a:chExt cx="1046295" cy="1175546"/>
          </a:xfrm>
        </p:grpSpPr>
        <p:sp>
          <p:nvSpPr>
            <p:cNvPr name="Freeform 20" id="20"/>
            <p:cNvSpPr/>
            <p:nvPr/>
          </p:nvSpPr>
          <p:spPr>
            <a:xfrm flipH="false" flipV="false" rot="0">
              <a:off x="0" y="0"/>
              <a:ext cx="1046295" cy="1175546"/>
            </a:xfrm>
            <a:custGeom>
              <a:avLst/>
              <a:gdLst/>
              <a:ahLst/>
              <a:cxnLst/>
              <a:rect r="r" b="b" t="t" l="l"/>
              <a:pathLst>
                <a:path h="1175546" w="1046295">
                  <a:moveTo>
                    <a:pt x="27283" y="0"/>
                  </a:moveTo>
                  <a:lnTo>
                    <a:pt x="1019012" y="0"/>
                  </a:lnTo>
                  <a:cubicBezTo>
                    <a:pt x="1034080" y="0"/>
                    <a:pt x="1046295" y="12215"/>
                    <a:pt x="1046295" y="27283"/>
                  </a:cubicBezTo>
                  <a:lnTo>
                    <a:pt x="1046295" y="1148263"/>
                  </a:lnTo>
                  <a:cubicBezTo>
                    <a:pt x="1046295" y="1155499"/>
                    <a:pt x="1043421" y="1162438"/>
                    <a:pt x="1038304" y="1167555"/>
                  </a:cubicBezTo>
                  <a:cubicBezTo>
                    <a:pt x="1033188" y="1172672"/>
                    <a:pt x="1026248" y="1175546"/>
                    <a:pt x="1019012" y="1175546"/>
                  </a:cubicBezTo>
                  <a:lnTo>
                    <a:pt x="27283" y="1175546"/>
                  </a:lnTo>
                  <a:cubicBezTo>
                    <a:pt x="12215" y="1175546"/>
                    <a:pt x="0" y="1163331"/>
                    <a:pt x="0" y="1148263"/>
                  </a:cubicBezTo>
                  <a:lnTo>
                    <a:pt x="0" y="27283"/>
                  </a:lnTo>
                  <a:cubicBezTo>
                    <a:pt x="0" y="12215"/>
                    <a:pt x="12215" y="0"/>
                    <a:pt x="27283" y="0"/>
                  </a:cubicBezTo>
                  <a:close/>
                </a:path>
              </a:pathLst>
            </a:custGeom>
            <a:solidFill>
              <a:srgbClr val="2D5986"/>
            </a:solidFill>
          </p:spPr>
        </p:sp>
        <p:sp>
          <p:nvSpPr>
            <p:cNvPr name="TextBox 21" id="21"/>
            <p:cNvSpPr txBox="true"/>
            <p:nvPr/>
          </p:nvSpPr>
          <p:spPr>
            <a:xfrm>
              <a:off x="0" y="-38100"/>
              <a:ext cx="1046295" cy="1213646"/>
            </a:xfrm>
            <a:prstGeom prst="rect">
              <a:avLst/>
            </a:prstGeom>
          </p:spPr>
          <p:txBody>
            <a:bodyPr anchor="ctr" rtlCol="false" tIns="50800" lIns="50800" bIns="50800" rIns="50800"/>
            <a:lstStyle/>
            <a:p>
              <a:pPr algn="ctr">
                <a:lnSpc>
                  <a:spcPts val="2467"/>
                </a:lnSpc>
              </a:pPr>
            </a:p>
          </p:txBody>
        </p:sp>
      </p:grpSp>
      <p:sp>
        <p:nvSpPr>
          <p:cNvPr name="TextBox 22" id="22"/>
          <p:cNvSpPr txBox="true"/>
          <p:nvPr/>
        </p:nvSpPr>
        <p:spPr>
          <a:xfrm rot="0">
            <a:off x="9668212" y="4380083"/>
            <a:ext cx="3047026" cy="716699"/>
          </a:xfrm>
          <a:prstGeom prst="rect">
            <a:avLst/>
          </a:prstGeom>
        </p:spPr>
        <p:txBody>
          <a:bodyPr anchor="t" rtlCol="false" tIns="0" lIns="0" bIns="0" rIns="0">
            <a:spAutoFit/>
          </a:bodyPr>
          <a:lstStyle/>
          <a:p>
            <a:pPr algn="l">
              <a:lnSpc>
                <a:spcPts val="5018"/>
              </a:lnSpc>
              <a:spcBef>
                <a:spcPct val="0"/>
              </a:spcBef>
            </a:pPr>
            <a:r>
              <a:rPr lang="en-US" b="true" sz="4182">
                <a:solidFill>
                  <a:srgbClr val="F7F5F1"/>
                </a:solidFill>
                <a:latin typeface="Calibri (MS) Bold"/>
                <a:ea typeface="Calibri (MS) Bold"/>
                <a:cs typeface="Calibri (MS) Bold"/>
                <a:sym typeface="Calibri (MS) Bold"/>
              </a:rPr>
              <a:t>Sequence</a:t>
            </a:r>
          </a:p>
        </p:txBody>
      </p:sp>
      <p:sp>
        <p:nvSpPr>
          <p:cNvPr name="TextBox 23" id="23"/>
          <p:cNvSpPr txBox="true"/>
          <p:nvPr/>
        </p:nvSpPr>
        <p:spPr>
          <a:xfrm rot="0">
            <a:off x="9665269" y="5267110"/>
            <a:ext cx="3173794" cy="1428750"/>
          </a:xfrm>
          <a:prstGeom prst="rect">
            <a:avLst/>
          </a:prstGeom>
        </p:spPr>
        <p:txBody>
          <a:bodyPr anchor="t" rtlCol="false" tIns="0" lIns="0" bIns="0" rIns="0">
            <a:spAutoFit/>
          </a:bodyPr>
          <a:lstStyle/>
          <a:p>
            <a:pPr algn="l">
              <a:lnSpc>
                <a:spcPts val="2707"/>
              </a:lnSpc>
              <a:spcBef>
                <a:spcPct val="0"/>
              </a:spcBef>
            </a:pPr>
            <a:r>
              <a:rPr lang="en-US" sz="2256">
                <a:solidFill>
                  <a:srgbClr val="F6F4EE"/>
                </a:solidFill>
                <a:latin typeface="Calibri (MS)"/>
                <a:ea typeface="Calibri (MS)"/>
                <a:cs typeface="Calibri (MS)"/>
                <a:sym typeface="Calibri (MS)"/>
              </a:rPr>
              <a:t>Gets on</a:t>
            </a:r>
            <a:r>
              <a:rPr lang="en-US" sz="2256">
                <a:solidFill>
                  <a:srgbClr val="F6F4EE"/>
                </a:solidFill>
                <a:latin typeface="Calibri (MS)"/>
                <a:ea typeface="Calibri (MS)"/>
                <a:cs typeface="Calibri (MS)"/>
                <a:sym typeface="Calibri (MS)"/>
              </a:rPr>
              <a:t>e request, creates apb_response, and randomizes it.</a:t>
            </a:r>
          </a:p>
          <a:p>
            <a:pPr algn="l">
              <a:lnSpc>
                <a:spcPts val="2707"/>
              </a:lnSpc>
              <a:spcBef>
                <a:spcPct val="0"/>
              </a:spcBef>
            </a:pPr>
          </a:p>
        </p:txBody>
      </p:sp>
      <p:sp>
        <p:nvSpPr>
          <p:cNvPr name="TextBox 24" id="24"/>
          <p:cNvSpPr txBox="true"/>
          <p:nvPr/>
        </p:nvSpPr>
        <p:spPr>
          <a:xfrm rot="0">
            <a:off x="9665269" y="3485856"/>
            <a:ext cx="2071247" cy="752475"/>
          </a:xfrm>
          <a:prstGeom prst="rect">
            <a:avLst/>
          </a:prstGeom>
        </p:spPr>
        <p:txBody>
          <a:bodyPr anchor="t" rtlCol="false" tIns="0" lIns="0" bIns="0" rIns="0">
            <a:spAutoFit/>
          </a:bodyPr>
          <a:lstStyle/>
          <a:p>
            <a:pPr algn="l">
              <a:lnSpc>
                <a:spcPts val="5227"/>
              </a:lnSpc>
              <a:spcBef>
                <a:spcPct val="0"/>
              </a:spcBef>
            </a:pPr>
            <a:r>
              <a:rPr lang="en-US" b="true" sz="4356">
                <a:solidFill>
                  <a:srgbClr val="F6F4EE"/>
                </a:solidFill>
                <a:latin typeface="Calibri (MS) Bold"/>
                <a:ea typeface="Calibri (MS) Bold"/>
                <a:cs typeface="Calibri (MS) Bold"/>
                <a:sym typeface="Calibri (MS) Bold"/>
              </a:rPr>
              <a:t>3</a:t>
            </a:r>
          </a:p>
        </p:txBody>
      </p:sp>
      <p:sp>
        <p:nvSpPr>
          <p:cNvPr name="TextBox 25" id="25"/>
          <p:cNvSpPr txBox="true"/>
          <p:nvPr/>
        </p:nvSpPr>
        <p:spPr>
          <a:xfrm rot="0">
            <a:off x="13708633" y="4391025"/>
            <a:ext cx="2071247" cy="752475"/>
          </a:xfrm>
          <a:prstGeom prst="rect">
            <a:avLst/>
          </a:prstGeom>
        </p:spPr>
        <p:txBody>
          <a:bodyPr anchor="t" rtlCol="false" tIns="0" lIns="0" bIns="0" rIns="0">
            <a:spAutoFit/>
          </a:bodyPr>
          <a:lstStyle/>
          <a:p>
            <a:pPr algn="l">
              <a:lnSpc>
                <a:spcPts val="5227"/>
              </a:lnSpc>
              <a:spcBef>
                <a:spcPct val="0"/>
              </a:spcBef>
            </a:pPr>
            <a:r>
              <a:rPr lang="en-US" b="true" sz="4356">
                <a:solidFill>
                  <a:srgbClr val="F7F5F1"/>
                </a:solidFill>
                <a:latin typeface="Calibri (MS) Bold"/>
                <a:ea typeface="Calibri (MS) Bold"/>
                <a:cs typeface="Calibri (MS) Bold"/>
                <a:sym typeface="Calibri (MS) Bold"/>
              </a:rPr>
              <a:t>Drive</a:t>
            </a:r>
            <a:r>
              <a:rPr lang="en-US" b="true" sz="4356">
                <a:solidFill>
                  <a:srgbClr val="F7F5F1"/>
                </a:solidFill>
                <a:latin typeface="Calibri (MS) Bold"/>
                <a:ea typeface="Calibri (MS) Bold"/>
                <a:cs typeface="Calibri (MS) Bold"/>
                <a:sym typeface="Calibri (MS) Bold"/>
              </a:rPr>
              <a:t>r</a:t>
            </a:r>
          </a:p>
        </p:txBody>
      </p:sp>
      <p:sp>
        <p:nvSpPr>
          <p:cNvPr name="TextBox 26" id="26"/>
          <p:cNvSpPr txBox="true"/>
          <p:nvPr/>
        </p:nvSpPr>
        <p:spPr>
          <a:xfrm rot="0">
            <a:off x="13708633" y="5267110"/>
            <a:ext cx="3550667" cy="2114550"/>
          </a:xfrm>
          <a:prstGeom prst="rect">
            <a:avLst/>
          </a:prstGeom>
        </p:spPr>
        <p:txBody>
          <a:bodyPr anchor="t" rtlCol="false" tIns="0" lIns="0" bIns="0" rIns="0">
            <a:spAutoFit/>
          </a:bodyPr>
          <a:lstStyle/>
          <a:p>
            <a:pPr algn="l">
              <a:lnSpc>
                <a:spcPts val="2707"/>
              </a:lnSpc>
              <a:spcBef>
                <a:spcPct val="0"/>
              </a:spcBef>
            </a:pPr>
            <a:r>
              <a:rPr lang="en-US" sz="2256">
                <a:solidFill>
                  <a:srgbClr val="F6F4EE"/>
                </a:solidFill>
                <a:latin typeface="Calibri (MS)"/>
                <a:ea typeface="Calibri (MS)"/>
                <a:cs typeface="Calibri (MS)"/>
                <a:sym typeface="Calibri (MS)"/>
              </a:rPr>
              <a:t>Takes the response access phase at(PSEL=1, PENABLE=1) with get_next_item and drives i</a:t>
            </a:r>
            <a:r>
              <a:rPr lang="en-US" sz="2256">
                <a:solidFill>
                  <a:srgbClr val="F6F4EE"/>
                </a:solidFill>
                <a:latin typeface="Calibri (MS)"/>
                <a:ea typeface="Calibri (MS)"/>
                <a:cs typeface="Calibri (MS)"/>
                <a:sym typeface="Calibri (MS)"/>
              </a:rPr>
              <a:t>t on the bus.</a:t>
            </a:r>
          </a:p>
          <a:p>
            <a:pPr algn="l">
              <a:lnSpc>
                <a:spcPts val="2707"/>
              </a:lnSpc>
              <a:spcBef>
                <a:spcPct val="0"/>
              </a:spcBef>
            </a:pPr>
          </a:p>
          <a:p>
            <a:pPr algn="l">
              <a:lnSpc>
                <a:spcPts val="2707"/>
              </a:lnSpc>
              <a:spcBef>
                <a:spcPct val="0"/>
              </a:spcBef>
            </a:pPr>
          </a:p>
        </p:txBody>
      </p:sp>
      <p:sp>
        <p:nvSpPr>
          <p:cNvPr name="TextBox 27" id="27"/>
          <p:cNvSpPr txBox="true"/>
          <p:nvPr/>
        </p:nvSpPr>
        <p:spPr>
          <a:xfrm rot="0">
            <a:off x="13708633" y="3485856"/>
            <a:ext cx="2071247" cy="752475"/>
          </a:xfrm>
          <a:prstGeom prst="rect">
            <a:avLst/>
          </a:prstGeom>
        </p:spPr>
        <p:txBody>
          <a:bodyPr anchor="t" rtlCol="false" tIns="0" lIns="0" bIns="0" rIns="0">
            <a:spAutoFit/>
          </a:bodyPr>
          <a:lstStyle/>
          <a:p>
            <a:pPr algn="l">
              <a:lnSpc>
                <a:spcPts val="5227"/>
              </a:lnSpc>
              <a:spcBef>
                <a:spcPct val="0"/>
              </a:spcBef>
            </a:pPr>
            <a:r>
              <a:rPr lang="en-US" b="true" sz="4356">
                <a:solidFill>
                  <a:srgbClr val="F6F4EE"/>
                </a:solidFill>
                <a:latin typeface="Calibri (MS) Bold"/>
                <a:ea typeface="Calibri (MS) Bold"/>
                <a:cs typeface="Calibri (MS) Bold"/>
                <a:sym typeface="Calibri (MS) Bold"/>
              </a:rPr>
              <a:t>4</a:t>
            </a:r>
          </a:p>
        </p:txBody>
      </p:sp>
      <p:grpSp>
        <p:nvGrpSpPr>
          <p:cNvPr name="Group 28" id="28"/>
          <p:cNvGrpSpPr/>
          <p:nvPr/>
        </p:nvGrpSpPr>
        <p:grpSpPr>
          <a:xfrm rot="0">
            <a:off x="685800" y="9710928"/>
            <a:ext cx="10972800" cy="411480"/>
            <a:chOff x="0" y="0"/>
            <a:chExt cx="14630400" cy="548640"/>
          </a:xfrm>
        </p:grpSpPr>
        <p:sp>
          <p:nvSpPr>
            <p:cNvPr name="Freeform 29" id="2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30" id="30"/>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31" id="31"/>
          <p:cNvGrpSpPr/>
          <p:nvPr/>
        </p:nvGrpSpPr>
        <p:grpSpPr>
          <a:xfrm rot="0">
            <a:off x="16911828" y="9710928"/>
            <a:ext cx="685800" cy="411480"/>
            <a:chOff x="0" y="0"/>
            <a:chExt cx="914400" cy="548640"/>
          </a:xfrm>
        </p:grpSpPr>
        <p:sp>
          <p:nvSpPr>
            <p:cNvPr name="Freeform 32" id="3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33" id="33"/>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13</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grpSp>
        <p:nvGrpSpPr>
          <p:cNvPr name="Group 2" id="2"/>
          <p:cNvGrpSpPr/>
          <p:nvPr/>
        </p:nvGrpSpPr>
        <p:grpSpPr>
          <a:xfrm rot="0">
            <a:off x="685800" y="9710928"/>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5" id="5"/>
          <p:cNvGrpSpPr/>
          <p:nvPr/>
        </p:nvGrpSpPr>
        <p:grpSpPr>
          <a:xfrm rot="0">
            <a:off x="16911828" y="9710928"/>
            <a:ext cx="685800" cy="411480"/>
            <a:chOff x="0" y="0"/>
            <a:chExt cx="914400" cy="548640"/>
          </a:xfrm>
        </p:grpSpPr>
        <p:sp>
          <p:nvSpPr>
            <p:cNvPr name="Freeform 6" id="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 id="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14</a:t>
              </a:r>
            </a:p>
          </p:txBody>
        </p:sp>
      </p:grpSp>
      <p:sp>
        <p:nvSpPr>
          <p:cNvPr name="TextBox 8" id="8"/>
          <p:cNvSpPr txBox="true"/>
          <p:nvPr/>
        </p:nvSpPr>
        <p:spPr>
          <a:xfrm rot="0">
            <a:off x="185627" y="268288"/>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APB Transaction Classes</a:t>
            </a:r>
          </a:p>
        </p:txBody>
      </p:sp>
      <p:grpSp>
        <p:nvGrpSpPr>
          <p:cNvPr name="Group 9" id="9"/>
          <p:cNvGrpSpPr/>
          <p:nvPr/>
        </p:nvGrpSpPr>
        <p:grpSpPr>
          <a:xfrm rot="0">
            <a:off x="862952" y="3365025"/>
            <a:ext cx="7651633" cy="2870486"/>
            <a:chOff x="0" y="0"/>
            <a:chExt cx="2015245" cy="756013"/>
          </a:xfrm>
        </p:grpSpPr>
        <p:sp>
          <p:nvSpPr>
            <p:cNvPr name="Freeform 10" id="10"/>
            <p:cNvSpPr/>
            <p:nvPr/>
          </p:nvSpPr>
          <p:spPr>
            <a:xfrm flipH="false" flipV="false" rot="0">
              <a:off x="0" y="0"/>
              <a:ext cx="2015245" cy="756013"/>
            </a:xfrm>
            <a:custGeom>
              <a:avLst/>
              <a:gdLst/>
              <a:ahLst/>
              <a:cxnLst/>
              <a:rect r="r" b="b" t="t" l="l"/>
              <a:pathLst>
                <a:path h="756013" w="2015245">
                  <a:moveTo>
                    <a:pt x="11130" y="0"/>
                  </a:moveTo>
                  <a:lnTo>
                    <a:pt x="2004115" y="0"/>
                  </a:lnTo>
                  <a:cubicBezTo>
                    <a:pt x="2007067" y="0"/>
                    <a:pt x="2009898" y="1173"/>
                    <a:pt x="2011985" y="3260"/>
                  </a:cubicBezTo>
                  <a:cubicBezTo>
                    <a:pt x="2014072" y="5347"/>
                    <a:pt x="2015245" y="8178"/>
                    <a:pt x="2015245" y="11130"/>
                  </a:cubicBezTo>
                  <a:lnTo>
                    <a:pt x="2015245" y="744883"/>
                  </a:lnTo>
                  <a:cubicBezTo>
                    <a:pt x="2015245" y="747835"/>
                    <a:pt x="2014072" y="750666"/>
                    <a:pt x="2011985" y="752753"/>
                  </a:cubicBezTo>
                  <a:cubicBezTo>
                    <a:pt x="2009898" y="754840"/>
                    <a:pt x="2007067" y="756013"/>
                    <a:pt x="2004115" y="756013"/>
                  </a:cubicBezTo>
                  <a:lnTo>
                    <a:pt x="11130" y="756013"/>
                  </a:lnTo>
                  <a:cubicBezTo>
                    <a:pt x="8178" y="756013"/>
                    <a:pt x="5347" y="754840"/>
                    <a:pt x="3260" y="752753"/>
                  </a:cubicBezTo>
                  <a:cubicBezTo>
                    <a:pt x="1173" y="750666"/>
                    <a:pt x="0" y="747835"/>
                    <a:pt x="0" y="744883"/>
                  </a:cubicBezTo>
                  <a:lnTo>
                    <a:pt x="0" y="11130"/>
                  </a:lnTo>
                  <a:cubicBezTo>
                    <a:pt x="0" y="8178"/>
                    <a:pt x="1173" y="5347"/>
                    <a:pt x="3260" y="3260"/>
                  </a:cubicBezTo>
                  <a:cubicBezTo>
                    <a:pt x="5347" y="1173"/>
                    <a:pt x="8178" y="0"/>
                    <a:pt x="11130" y="0"/>
                  </a:cubicBezTo>
                  <a:close/>
                </a:path>
              </a:pathLst>
            </a:custGeom>
            <a:solidFill>
              <a:srgbClr val="DCE3EC"/>
            </a:solidFill>
            <a:ln w="9525" cap="sq">
              <a:solidFill>
                <a:srgbClr val="23496D"/>
              </a:solidFill>
              <a:prstDash val="solid"/>
              <a:miter/>
            </a:ln>
          </p:spPr>
        </p:sp>
        <p:sp>
          <p:nvSpPr>
            <p:cNvPr name="TextBox 11" id="11"/>
            <p:cNvSpPr txBox="true"/>
            <p:nvPr/>
          </p:nvSpPr>
          <p:spPr>
            <a:xfrm>
              <a:off x="0" y="-28575"/>
              <a:ext cx="2015245" cy="784588"/>
            </a:xfrm>
            <a:prstGeom prst="rect">
              <a:avLst/>
            </a:prstGeom>
          </p:spPr>
          <p:txBody>
            <a:bodyPr anchor="ctr" rtlCol="false" tIns="50800" lIns="50800" bIns="50800" rIns="50800"/>
            <a:lstStyle/>
            <a:p>
              <a:pPr algn="ctr">
                <a:lnSpc>
                  <a:spcPts val="1620"/>
                </a:lnSpc>
              </a:pPr>
            </a:p>
          </p:txBody>
        </p:sp>
      </p:grpSp>
      <p:grpSp>
        <p:nvGrpSpPr>
          <p:cNvPr name="Group 12" id="12"/>
          <p:cNvGrpSpPr/>
          <p:nvPr/>
        </p:nvGrpSpPr>
        <p:grpSpPr>
          <a:xfrm rot="0">
            <a:off x="9189925" y="3365025"/>
            <a:ext cx="7899056" cy="2870486"/>
            <a:chOff x="0" y="0"/>
            <a:chExt cx="2080410" cy="756013"/>
          </a:xfrm>
        </p:grpSpPr>
        <p:sp>
          <p:nvSpPr>
            <p:cNvPr name="Freeform 13" id="13"/>
            <p:cNvSpPr/>
            <p:nvPr/>
          </p:nvSpPr>
          <p:spPr>
            <a:xfrm flipH="false" flipV="false" rot="0">
              <a:off x="0" y="0"/>
              <a:ext cx="2080410" cy="756013"/>
            </a:xfrm>
            <a:custGeom>
              <a:avLst/>
              <a:gdLst/>
              <a:ahLst/>
              <a:cxnLst/>
              <a:rect r="r" b="b" t="t" l="l"/>
              <a:pathLst>
                <a:path h="756013" w="2080410">
                  <a:moveTo>
                    <a:pt x="10781" y="0"/>
                  </a:moveTo>
                  <a:lnTo>
                    <a:pt x="2069629" y="0"/>
                  </a:lnTo>
                  <a:cubicBezTo>
                    <a:pt x="2072488" y="0"/>
                    <a:pt x="2075230" y="1136"/>
                    <a:pt x="2077252" y="3158"/>
                  </a:cubicBezTo>
                  <a:cubicBezTo>
                    <a:pt x="2079274" y="5180"/>
                    <a:pt x="2080410" y="7922"/>
                    <a:pt x="2080410" y="10781"/>
                  </a:cubicBezTo>
                  <a:lnTo>
                    <a:pt x="2080410" y="745232"/>
                  </a:lnTo>
                  <a:cubicBezTo>
                    <a:pt x="2080410" y="751186"/>
                    <a:pt x="2075583" y="756013"/>
                    <a:pt x="2069629" y="756013"/>
                  </a:cubicBezTo>
                  <a:lnTo>
                    <a:pt x="10781" y="756013"/>
                  </a:lnTo>
                  <a:cubicBezTo>
                    <a:pt x="4827" y="756013"/>
                    <a:pt x="0" y="751186"/>
                    <a:pt x="0" y="745232"/>
                  </a:cubicBezTo>
                  <a:lnTo>
                    <a:pt x="0" y="10781"/>
                  </a:lnTo>
                  <a:cubicBezTo>
                    <a:pt x="0" y="7922"/>
                    <a:pt x="1136" y="5180"/>
                    <a:pt x="3158" y="3158"/>
                  </a:cubicBezTo>
                  <a:cubicBezTo>
                    <a:pt x="5180" y="1136"/>
                    <a:pt x="7922" y="0"/>
                    <a:pt x="10781" y="0"/>
                  </a:cubicBezTo>
                  <a:close/>
                </a:path>
              </a:pathLst>
            </a:custGeom>
            <a:solidFill>
              <a:srgbClr val="DCE3EC"/>
            </a:solidFill>
            <a:ln w="9525" cap="sq">
              <a:solidFill>
                <a:srgbClr val="23496D"/>
              </a:solidFill>
              <a:prstDash val="solid"/>
              <a:miter/>
            </a:ln>
          </p:spPr>
        </p:sp>
        <p:sp>
          <p:nvSpPr>
            <p:cNvPr name="TextBox 14" id="14"/>
            <p:cNvSpPr txBox="true"/>
            <p:nvPr/>
          </p:nvSpPr>
          <p:spPr>
            <a:xfrm>
              <a:off x="0" y="-28575"/>
              <a:ext cx="2080410" cy="784588"/>
            </a:xfrm>
            <a:prstGeom prst="rect">
              <a:avLst/>
            </a:prstGeom>
          </p:spPr>
          <p:txBody>
            <a:bodyPr anchor="ctr" rtlCol="false" tIns="50800" lIns="50800" bIns="50800" rIns="50800"/>
            <a:lstStyle/>
            <a:p>
              <a:pPr algn="ctr">
                <a:lnSpc>
                  <a:spcPts val="1620"/>
                </a:lnSpc>
              </a:pPr>
            </a:p>
          </p:txBody>
        </p:sp>
      </p:grpSp>
      <p:sp>
        <p:nvSpPr>
          <p:cNvPr name="TextBox 15" id="15"/>
          <p:cNvSpPr txBox="true"/>
          <p:nvPr/>
        </p:nvSpPr>
        <p:spPr>
          <a:xfrm rot="0">
            <a:off x="1031924" y="3549736"/>
            <a:ext cx="5108853" cy="619125"/>
          </a:xfrm>
          <a:prstGeom prst="rect">
            <a:avLst/>
          </a:prstGeom>
        </p:spPr>
        <p:txBody>
          <a:bodyPr anchor="t" rtlCol="false" tIns="0" lIns="0" bIns="0" rIns="0">
            <a:spAutoFit/>
          </a:bodyPr>
          <a:lstStyle/>
          <a:p>
            <a:pPr algn="ctr">
              <a:lnSpc>
                <a:spcPts val="4379"/>
              </a:lnSpc>
              <a:spcBef>
                <a:spcPct val="0"/>
              </a:spcBef>
            </a:pPr>
            <a:r>
              <a:rPr lang="en-US" b="true" sz="3649">
                <a:solidFill>
                  <a:srgbClr val="2D5986"/>
                </a:solidFill>
                <a:latin typeface="Calibri (MS) Bold"/>
                <a:ea typeface="Calibri (MS) Bold"/>
                <a:cs typeface="Calibri (MS) Bold"/>
                <a:sym typeface="Calibri (MS) Bold"/>
              </a:rPr>
              <a:t>s</a:t>
            </a:r>
            <a:r>
              <a:rPr lang="en-US" b="true" sz="3649">
                <a:solidFill>
                  <a:srgbClr val="2D5986"/>
                </a:solidFill>
                <a:latin typeface="Calibri (MS) Bold"/>
                <a:ea typeface="Calibri (MS) Bold"/>
                <a:cs typeface="Calibri (MS) Bold"/>
                <a:sym typeface="Calibri (MS) Bold"/>
              </a:rPr>
              <a:t>equence_item (observed)</a:t>
            </a:r>
          </a:p>
        </p:txBody>
      </p:sp>
      <p:sp>
        <p:nvSpPr>
          <p:cNvPr name="TextBox 16" id="16"/>
          <p:cNvSpPr txBox="true"/>
          <p:nvPr/>
        </p:nvSpPr>
        <p:spPr>
          <a:xfrm rot="0">
            <a:off x="9372817" y="3549736"/>
            <a:ext cx="4600694" cy="619125"/>
          </a:xfrm>
          <a:prstGeom prst="rect">
            <a:avLst/>
          </a:prstGeom>
        </p:spPr>
        <p:txBody>
          <a:bodyPr anchor="t" rtlCol="false" tIns="0" lIns="0" bIns="0" rIns="0">
            <a:spAutoFit/>
          </a:bodyPr>
          <a:lstStyle/>
          <a:p>
            <a:pPr algn="ctr">
              <a:lnSpc>
                <a:spcPts val="4379"/>
              </a:lnSpc>
              <a:spcBef>
                <a:spcPct val="0"/>
              </a:spcBef>
            </a:pPr>
            <a:r>
              <a:rPr lang="en-US" b="true" sz="3649">
                <a:solidFill>
                  <a:srgbClr val="2D5986"/>
                </a:solidFill>
                <a:latin typeface="Calibri (MS) Bold"/>
                <a:ea typeface="Calibri (MS) Bold"/>
                <a:cs typeface="Calibri (MS) Bold"/>
                <a:sym typeface="Calibri (MS) Bold"/>
              </a:rPr>
              <a:t>apb_response (random)</a:t>
            </a:r>
          </a:p>
        </p:txBody>
      </p:sp>
      <p:sp>
        <p:nvSpPr>
          <p:cNvPr name="TextBox 17" id="17"/>
          <p:cNvSpPr txBox="true"/>
          <p:nvPr/>
        </p:nvSpPr>
        <p:spPr>
          <a:xfrm rot="0">
            <a:off x="1172110" y="4280080"/>
            <a:ext cx="7342475" cy="1466850"/>
          </a:xfrm>
          <a:prstGeom prst="rect">
            <a:avLst/>
          </a:prstGeom>
        </p:spPr>
        <p:txBody>
          <a:bodyPr anchor="t" rtlCol="false" tIns="0" lIns="0" bIns="0" rIns="0">
            <a:spAutoFit/>
          </a:bodyPr>
          <a:lstStyle/>
          <a:p>
            <a:pPr algn="l">
              <a:lnSpc>
                <a:spcPts val="2819"/>
              </a:lnSpc>
            </a:pPr>
            <a:r>
              <a:rPr lang="en-US" sz="2349">
                <a:solidFill>
                  <a:srgbClr val="000000"/>
                </a:solidFill>
                <a:latin typeface="Calibri (MS)"/>
                <a:ea typeface="Calibri (MS)"/>
                <a:cs typeface="Calibri (MS)"/>
                <a:sym typeface="Calibri (MS)"/>
              </a:rPr>
              <a:t>Request fields: PADDR, PWRITE, PWDATA, PSTRB,</a:t>
            </a:r>
          </a:p>
          <a:p>
            <a:pPr algn="l">
              <a:lnSpc>
                <a:spcPts val="2819"/>
              </a:lnSpc>
              <a:spcBef>
                <a:spcPct val="0"/>
              </a:spcBef>
            </a:pPr>
            <a:r>
              <a:rPr lang="en-US" sz="2349">
                <a:solidFill>
                  <a:srgbClr val="000000"/>
                </a:solidFill>
                <a:latin typeface="Calibri (MS)"/>
                <a:ea typeface="Calibri (MS)"/>
                <a:cs typeface="Calibri (MS)"/>
                <a:sym typeface="Calibri (MS)"/>
              </a:rPr>
              <a:t>PPROT,</a:t>
            </a:r>
            <a:r>
              <a:rPr lang="en-US" sz="2349">
                <a:solidFill>
                  <a:srgbClr val="000000"/>
                </a:solidFill>
                <a:latin typeface="Calibri (MS)"/>
                <a:ea typeface="Calibri (MS)"/>
                <a:cs typeface="Calibri (MS)"/>
                <a:sym typeface="Calibri (MS)"/>
              </a:rPr>
              <a:t> PSEL, PENABLE, APBACTIVE.</a:t>
            </a:r>
          </a:p>
          <a:p>
            <a:pPr algn="l">
              <a:lnSpc>
                <a:spcPts val="2819"/>
              </a:lnSpc>
              <a:spcBef>
                <a:spcPct val="0"/>
              </a:spcBef>
            </a:pPr>
            <a:r>
              <a:rPr lang="en-US" sz="2349">
                <a:solidFill>
                  <a:srgbClr val="000000"/>
                </a:solidFill>
                <a:latin typeface="Calibri (MS)"/>
                <a:ea typeface="Calibri (MS)"/>
                <a:cs typeface="Calibri (MS)"/>
                <a:sym typeface="Calibri (MS)"/>
              </a:rPr>
              <a:t> Filled at completion: PRDATA, PSLVERR, wait_count.</a:t>
            </a:r>
          </a:p>
          <a:p>
            <a:pPr algn="l">
              <a:lnSpc>
                <a:spcPts val="2819"/>
              </a:lnSpc>
              <a:spcBef>
                <a:spcPct val="0"/>
              </a:spcBef>
            </a:pPr>
          </a:p>
        </p:txBody>
      </p:sp>
      <p:sp>
        <p:nvSpPr>
          <p:cNvPr name="TextBox 18" id="18"/>
          <p:cNvSpPr txBox="true"/>
          <p:nvPr/>
        </p:nvSpPr>
        <p:spPr>
          <a:xfrm rot="0">
            <a:off x="9499083" y="4456293"/>
            <a:ext cx="7246998" cy="1114425"/>
          </a:xfrm>
          <a:prstGeom prst="rect">
            <a:avLst/>
          </a:prstGeom>
        </p:spPr>
        <p:txBody>
          <a:bodyPr anchor="t" rtlCol="false" tIns="0" lIns="0" bIns="0" rIns="0">
            <a:spAutoFit/>
          </a:bodyPr>
          <a:lstStyle/>
          <a:p>
            <a:pPr algn="l">
              <a:lnSpc>
                <a:spcPts val="2819"/>
              </a:lnSpc>
              <a:spcBef>
                <a:spcPct val="0"/>
              </a:spcBef>
            </a:pPr>
            <a:r>
              <a:rPr lang="en-US" sz="2349">
                <a:solidFill>
                  <a:srgbClr val="000000"/>
                </a:solidFill>
                <a:latin typeface="Calibri (MS)"/>
                <a:ea typeface="Calibri (MS)"/>
                <a:cs typeface="Calibri (MS)"/>
                <a:sym typeface="Calibri (MS)"/>
              </a:rPr>
              <a:t>PRDATA (32 bits),</a:t>
            </a:r>
            <a:r>
              <a:rPr lang="en-US" sz="2349">
                <a:solidFill>
                  <a:srgbClr val="000000"/>
                </a:solidFill>
                <a:latin typeface="Calibri (MS)"/>
                <a:ea typeface="Calibri (MS)"/>
                <a:cs typeface="Calibri (MS)"/>
                <a:sym typeface="Calibri (MS)"/>
              </a:rPr>
              <a:t> PSLVERR, and wait_cycles constrained inside [0:5]. This is what the sequencer hands to the driver.</a:t>
            </a:r>
          </a:p>
          <a:p>
            <a:pPr algn="l">
              <a:lnSpc>
                <a:spcPts val="2819"/>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grpSp>
        <p:nvGrpSpPr>
          <p:cNvPr name="Group 2" id="2"/>
          <p:cNvGrpSpPr/>
          <p:nvPr/>
        </p:nvGrpSpPr>
        <p:grpSpPr>
          <a:xfrm rot="0">
            <a:off x="685800" y="9710928"/>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5" id="5"/>
          <p:cNvGrpSpPr/>
          <p:nvPr/>
        </p:nvGrpSpPr>
        <p:grpSpPr>
          <a:xfrm rot="0">
            <a:off x="16911828" y="9710928"/>
            <a:ext cx="685800" cy="411480"/>
            <a:chOff x="0" y="0"/>
            <a:chExt cx="914400" cy="548640"/>
          </a:xfrm>
        </p:grpSpPr>
        <p:sp>
          <p:nvSpPr>
            <p:cNvPr name="Freeform 6" id="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 id="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15</a:t>
              </a:r>
            </a:p>
          </p:txBody>
        </p:sp>
      </p:grpSp>
      <p:sp>
        <p:nvSpPr>
          <p:cNvPr name="TextBox 8" id="8"/>
          <p:cNvSpPr txBox="true"/>
          <p:nvPr/>
        </p:nvSpPr>
        <p:spPr>
          <a:xfrm rot="0">
            <a:off x="434504" y="296454"/>
            <a:ext cx="8400935" cy="923925"/>
          </a:xfrm>
          <a:prstGeom prst="rect">
            <a:avLst/>
          </a:prstGeom>
        </p:spPr>
        <p:txBody>
          <a:bodyPr anchor="t" rtlCol="false" tIns="0" lIns="0" bIns="0" rIns="0">
            <a:spAutoFit/>
          </a:bodyPr>
          <a:lstStyle/>
          <a:p>
            <a:pPr algn="l">
              <a:lnSpc>
                <a:spcPts val="7267"/>
              </a:lnSpc>
              <a:spcBef>
                <a:spcPct val="0"/>
              </a:spcBef>
            </a:pPr>
            <a:r>
              <a:rPr lang="en-US" sz="6056">
                <a:solidFill>
                  <a:srgbClr val="2D5986"/>
                </a:solidFill>
                <a:latin typeface="Anton"/>
                <a:ea typeface="Anton"/>
                <a:cs typeface="Anton"/>
                <a:sym typeface="Anton"/>
              </a:rPr>
              <a:t>Driver and monitor</a:t>
            </a:r>
            <a:r>
              <a:rPr lang="en-US" sz="6056">
                <a:solidFill>
                  <a:srgbClr val="2D5986"/>
                </a:solidFill>
                <a:latin typeface="Anton"/>
                <a:ea typeface="Anton"/>
                <a:cs typeface="Anton"/>
                <a:sym typeface="Anton"/>
              </a:rPr>
              <a:t> timing</a:t>
            </a:r>
          </a:p>
        </p:txBody>
      </p:sp>
      <p:grpSp>
        <p:nvGrpSpPr>
          <p:cNvPr name="Group 9" id="9"/>
          <p:cNvGrpSpPr/>
          <p:nvPr/>
        </p:nvGrpSpPr>
        <p:grpSpPr>
          <a:xfrm rot="0">
            <a:off x="1028700" y="1959784"/>
            <a:ext cx="11935123" cy="1080034"/>
            <a:chOff x="0" y="0"/>
            <a:chExt cx="3661620" cy="331347"/>
          </a:xfrm>
        </p:grpSpPr>
        <p:sp>
          <p:nvSpPr>
            <p:cNvPr name="Freeform 10" id="10"/>
            <p:cNvSpPr/>
            <p:nvPr/>
          </p:nvSpPr>
          <p:spPr>
            <a:xfrm flipH="false" flipV="false" rot="0">
              <a:off x="0" y="0"/>
              <a:ext cx="3661620" cy="331347"/>
            </a:xfrm>
            <a:custGeom>
              <a:avLst/>
              <a:gdLst/>
              <a:ahLst/>
              <a:cxnLst/>
              <a:rect r="r" b="b" t="t" l="l"/>
              <a:pathLst>
                <a:path h="331347" w="3661620">
                  <a:moveTo>
                    <a:pt x="3458420" y="0"/>
                  </a:moveTo>
                  <a:cubicBezTo>
                    <a:pt x="3570644" y="0"/>
                    <a:pt x="3661620" y="74175"/>
                    <a:pt x="3661620" y="165674"/>
                  </a:cubicBezTo>
                  <a:cubicBezTo>
                    <a:pt x="3661620" y="257173"/>
                    <a:pt x="3570644" y="331347"/>
                    <a:pt x="3458420" y="331347"/>
                  </a:cubicBezTo>
                  <a:lnTo>
                    <a:pt x="203200" y="331347"/>
                  </a:lnTo>
                  <a:cubicBezTo>
                    <a:pt x="90976" y="331347"/>
                    <a:pt x="0" y="257173"/>
                    <a:pt x="0" y="165674"/>
                  </a:cubicBezTo>
                  <a:cubicBezTo>
                    <a:pt x="0" y="74175"/>
                    <a:pt x="90976" y="0"/>
                    <a:pt x="203200" y="0"/>
                  </a:cubicBezTo>
                  <a:close/>
                </a:path>
              </a:pathLst>
            </a:custGeom>
            <a:solidFill>
              <a:srgbClr val="23496D"/>
            </a:solidFill>
          </p:spPr>
        </p:sp>
        <p:sp>
          <p:nvSpPr>
            <p:cNvPr name="TextBox 11" id="11"/>
            <p:cNvSpPr txBox="true"/>
            <p:nvPr/>
          </p:nvSpPr>
          <p:spPr>
            <a:xfrm>
              <a:off x="0" y="-47625"/>
              <a:ext cx="3661620" cy="378972"/>
            </a:xfrm>
            <a:prstGeom prst="rect">
              <a:avLst/>
            </a:prstGeom>
          </p:spPr>
          <p:txBody>
            <a:bodyPr anchor="ctr" rtlCol="false" tIns="50800" lIns="50800" bIns="50800" rIns="50800"/>
            <a:lstStyle/>
            <a:p>
              <a:pPr algn="l" marL="539748" indent="-269874" lvl="1">
                <a:lnSpc>
                  <a:spcPts val="2999"/>
                </a:lnSpc>
                <a:buAutoNum type="arabicPeriod" startAt="1"/>
              </a:pPr>
              <a:r>
                <a:rPr lang="en-US" b="true" sz="2499">
                  <a:solidFill>
                    <a:srgbClr val="F7F5F1"/>
                  </a:solidFill>
                  <a:latin typeface="Calibri (MS) Bold"/>
                  <a:ea typeface="Calibri (MS) Bold"/>
                  <a:cs typeface="Calibri (MS) Bold"/>
                  <a:sym typeface="Calibri (MS) Bold"/>
                </a:rPr>
                <a:t> Driver waits on posedge PCLK until PSEL and PENABLE are both high (access phase).</a:t>
              </a:r>
            </a:p>
          </p:txBody>
        </p:sp>
      </p:grpSp>
      <p:grpSp>
        <p:nvGrpSpPr>
          <p:cNvPr name="Group 12" id="12"/>
          <p:cNvGrpSpPr/>
          <p:nvPr/>
        </p:nvGrpSpPr>
        <p:grpSpPr>
          <a:xfrm rot="0">
            <a:off x="1028700" y="3230317"/>
            <a:ext cx="12532923" cy="1148535"/>
            <a:chOff x="0" y="0"/>
            <a:chExt cx="3300852" cy="302495"/>
          </a:xfrm>
        </p:grpSpPr>
        <p:sp>
          <p:nvSpPr>
            <p:cNvPr name="Freeform 13" id="13"/>
            <p:cNvSpPr/>
            <p:nvPr/>
          </p:nvSpPr>
          <p:spPr>
            <a:xfrm flipH="false" flipV="false" rot="0">
              <a:off x="0" y="0"/>
              <a:ext cx="3300852" cy="302495"/>
            </a:xfrm>
            <a:custGeom>
              <a:avLst/>
              <a:gdLst/>
              <a:ahLst/>
              <a:cxnLst/>
              <a:rect r="r" b="b" t="t" l="l"/>
              <a:pathLst>
                <a:path h="302495" w="3300852">
                  <a:moveTo>
                    <a:pt x="3097652" y="0"/>
                  </a:moveTo>
                  <a:cubicBezTo>
                    <a:pt x="3209876" y="0"/>
                    <a:pt x="3300852" y="67716"/>
                    <a:pt x="3300852" y="151247"/>
                  </a:cubicBezTo>
                  <a:cubicBezTo>
                    <a:pt x="3300852" y="234779"/>
                    <a:pt x="3209876" y="302495"/>
                    <a:pt x="3097652" y="302495"/>
                  </a:cubicBezTo>
                  <a:lnTo>
                    <a:pt x="203200" y="302495"/>
                  </a:lnTo>
                  <a:cubicBezTo>
                    <a:pt x="90976" y="302495"/>
                    <a:pt x="0" y="234779"/>
                    <a:pt x="0" y="151247"/>
                  </a:cubicBezTo>
                  <a:cubicBezTo>
                    <a:pt x="0" y="67716"/>
                    <a:pt x="90976" y="0"/>
                    <a:pt x="203200" y="0"/>
                  </a:cubicBezTo>
                  <a:close/>
                </a:path>
              </a:pathLst>
            </a:custGeom>
            <a:solidFill>
              <a:srgbClr val="DCE3EC"/>
            </a:solidFill>
          </p:spPr>
        </p:sp>
        <p:sp>
          <p:nvSpPr>
            <p:cNvPr name="TextBox 14" id="14"/>
            <p:cNvSpPr txBox="true"/>
            <p:nvPr/>
          </p:nvSpPr>
          <p:spPr>
            <a:xfrm>
              <a:off x="0" y="-47625"/>
              <a:ext cx="3300852" cy="350120"/>
            </a:xfrm>
            <a:prstGeom prst="rect">
              <a:avLst/>
            </a:prstGeom>
          </p:spPr>
          <p:txBody>
            <a:bodyPr anchor="ctr" rtlCol="false" tIns="50800" lIns="50800" bIns="50800" rIns="50800"/>
            <a:lstStyle/>
            <a:p>
              <a:pPr algn="l">
                <a:lnSpc>
                  <a:spcPts val="2999"/>
                </a:lnSpc>
              </a:pPr>
              <a:r>
                <a:rPr lang="en-US" sz="2499" b="true">
                  <a:solidFill>
                    <a:srgbClr val="23496D"/>
                  </a:solidFill>
                  <a:latin typeface="Calibri (MS) Bold"/>
                  <a:ea typeface="Calibri (MS) Bold"/>
                  <a:cs typeface="Calibri (MS) Bold"/>
                  <a:sym typeface="Calibri (MS) Bold"/>
                </a:rPr>
                <a:t>   2. It holds PREADY low for wait_cycles clock cycles.</a:t>
              </a:r>
            </a:p>
          </p:txBody>
        </p:sp>
      </p:grpSp>
      <p:grpSp>
        <p:nvGrpSpPr>
          <p:cNvPr name="Group 15" id="15"/>
          <p:cNvGrpSpPr/>
          <p:nvPr/>
        </p:nvGrpSpPr>
        <p:grpSpPr>
          <a:xfrm rot="0">
            <a:off x="1028700" y="4588905"/>
            <a:ext cx="13255264" cy="1080034"/>
            <a:chOff x="0" y="0"/>
            <a:chExt cx="4066631" cy="331347"/>
          </a:xfrm>
        </p:grpSpPr>
        <p:sp>
          <p:nvSpPr>
            <p:cNvPr name="Freeform 16" id="16"/>
            <p:cNvSpPr/>
            <p:nvPr/>
          </p:nvSpPr>
          <p:spPr>
            <a:xfrm flipH="false" flipV="false" rot="0">
              <a:off x="0" y="0"/>
              <a:ext cx="4066631" cy="331347"/>
            </a:xfrm>
            <a:custGeom>
              <a:avLst/>
              <a:gdLst/>
              <a:ahLst/>
              <a:cxnLst/>
              <a:rect r="r" b="b" t="t" l="l"/>
              <a:pathLst>
                <a:path h="331347" w="4066631">
                  <a:moveTo>
                    <a:pt x="3863431" y="0"/>
                  </a:moveTo>
                  <a:cubicBezTo>
                    <a:pt x="3975655" y="0"/>
                    <a:pt x="4066631" y="74175"/>
                    <a:pt x="4066631" y="165674"/>
                  </a:cubicBezTo>
                  <a:cubicBezTo>
                    <a:pt x="4066631" y="257173"/>
                    <a:pt x="3975655" y="331347"/>
                    <a:pt x="3863431" y="331347"/>
                  </a:cubicBezTo>
                  <a:lnTo>
                    <a:pt x="203200" y="331347"/>
                  </a:lnTo>
                  <a:cubicBezTo>
                    <a:pt x="90976" y="331347"/>
                    <a:pt x="0" y="257173"/>
                    <a:pt x="0" y="165674"/>
                  </a:cubicBezTo>
                  <a:cubicBezTo>
                    <a:pt x="0" y="74175"/>
                    <a:pt x="90976" y="0"/>
                    <a:pt x="203200" y="0"/>
                  </a:cubicBezTo>
                  <a:close/>
                </a:path>
              </a:pathLst>
            </a:custGeom>
            <a:solidFill>
              <a:srgbClr val="23496D"/>
            </a:solidFill>
          </p:spPr>
        </p:sp>
        <p:sp>
          <p:nvSpPr>
            <p:cNvPr name="TextBox 17" id="17"/>
            <p:cNvSpPr txBox="true"/>
            <p:nvPr/>
          </p:nvSpPr>
          <p:spPr>
            <a:xfrm>
              <a:off x="0" y="-47625"/>
              <a:ext cx="4066631" cy="378972"/>
            </a:xfrm>
            <a:prstGeom prst="rect">
              <a:avLst/>
            </a:prstGeom>
          </p:spPr>
          <p:txBody>
            <a:bodyPr anchor="ctr" rtlCol="false" tIns="50800" lIns="50800" bIns="50800" rIns="50800"/>
            <a:lstStyle/>
            <a:p>
              <a:pPr algn="l">
                <a:lnSpc>
                  <a:spcPts val="2999"/>
                </a:lnSpc>
              </a:pPr>
              <a:r>
                <a:rPr lang="en-US" b="true" sz="2499">
                  <a:solidFill>
                    <a:srgbClr val="F7F5F1"/>
                  </a:solidFill>
                  <a:latin typeface="Calibri (MS) Bold"/>
                  <a:ea typeface="Calibri (MS) Bold"/>
                  <a:cs typeface="Calibri (MS) Bold"/>
                  <a:sym typeface="Calibri (MS) Bold"/>
                </a:rPr>
                <a:t>   3. It sets PREADY=1 with PRDATA and PSLVERR for one cycle, then clears them.</a:t>
              </a:r>
            </a:p>
          </p:txBody>
        </p:sp>
      </p:grpSp>
      <p:grpSp>
        <p:nvGrpSpPr>
          <p:cNvPr name="Group 18" id="18"/>
          <p:cNvGrpSpPr/>
          <p:nvPr/>
        </p:nvGrpSpPr>
        <p:grpSpPr>
          <a:xfrm rot="0">
            <a:off x="1028700" y="5878488"/>
            <a:ext cx="13952697" cy="1148535"/>
            <a:chOff x="0" y="0"/>
            <a:chExt cx="3674784" cy="302495"/>
          </a:xfrm>
        </p:grpSpPr>
        <p:sp>
          <p:nvSpPr>
            <p:cNvPr name="Freeform 19" id="19"/>
            <p:cNvSpPr/>
            <p:nvPr/>
          </p:nvSpPr>
          <p:spPr>
            <a:xfrm flipH="false" flipV="false" rot="0">
              <a:off x="0" y="0"/>
              <a:ext cx="3674784" cy="302495"/>
            </a:xfrm>
            <a:custGeom>
              <a:avLst/>
              <a:gdLst/>
              <a:ahLst/>
              <a:cxnLst/>
              <a:rect r="r" b="b" t="t" l="l"/>
              <a:pathLst>
                <a:path h="302495" w="3674784">
                  <a:moveTo>
                    <a:pt x="3471584" y="0"/>
                  </a:moveTo>
                  <a:cubicBezTo>
                    <a:pt x="3583809" y="0"/>
                    <a:pt x="3674784" y="67716"/>
                    <a:pt x="3674784" y="151247"/>
                  </a:cubicBezTo>
                  <a:cubicBezTo>
                    <a:pt x="3674784" y="234779"/>
                    <a:pt x="3583809" y="302495"/>
                    <a:pt x="3471584" y="302495"/>
                  </a:cubicBezTo>
                  <a:lnTo>
                    <a:pt x="203200" y="302495"/>
                  </a:lnTo>
                  <a:cubicBezTo>
                    <a:pt x="90976" y="302495"/>
                    <a:pt x="0" y="234779"/>
                    <a:pt x="0" y="151247"/>
                  </a:cubicBezTo>
                  <a:cubicBezTo>
                    <a:pt x="0" y="67716"/>
                    <a:pt x="90976" y="0"/>
                    <a:pt x="203200" y="0"/>
                  </a:cubicBezTo>
                  <a:close/>
                </a:path>
              </a:pathLst>
            </a:custGeom>
            <a:solidFill>
              <a:srgbClr val="DCE3EC"/>
            </a:solidFill>
          </p:spPr>
        </p:sp>
        <p:sp>
          <p:nvSpPr>
            <p:cNvPr name="TextBox 20" id="20"/>
            <p:cNvSpPr txBox="true"/>
            <p:nvPr/>
          </p:nvSpPr>
          <p:spPr>
            <a:xfrm>
              <a:off x="0" y="-47625"/>
              <a:ext cx="3674784" cy="350120"/>
            </a:xfrm>
            <a:prstGeom prst="rect">
              <a:avLst/>
            </a:prstGeom>
          </p:spPr>
          <p:txBody>
            <a:bodyPr anchor="ctr" rtlCol="false" tIns="50800" lIns="50800" bIns="50800" rIns="50800"/>
            <a:lstStyle/>
            <a:p>
              <a:pPr algn="l">
                <a:lnSpc>
                  <a:spcPts val="2999"/>
                </a:lnSpc>
              </a:pPr>
              <a:r>
                <a:rPr lang="en-US" sz="2499" b="true">
                  <a:solidFill>
                    <a:srgbClr val="23496D"/>
                  </a:solidFill>
                  <a:latin typeface="Calibri (MS) Bold"/>
                  <a:ea typeface="Calibri (MS) Bold"/>
                  <a:cs typeface="Calibri (MS) Bold"/>
                  <a:sym typeface="Calibri (MS) Bold"/>
                </a:rPr>
                <a:t>   4. The monitor counts cycles with PREADY low, then publishes the finished item on transaction_aport.</a:t>
              </a:r>
            </a:p>
          </p:txBody>
        </p:sp>
      </p:grpSp>
      <p:grpSp>
        <p:nvGrpSpPr>
          <p:cNvPr name="Group 21" id="21"/>
          <p:cNvGrpSpPr/>
          <p:nvPr/>
        </p:nvGrpSpPr>
        <p:grpSpPr>
          <a:xfrm rot="0">
            <a:off x="1028700" y="7247183"/>
            <a:ext cx="14839589" cy="1428750"/>
            <a:chOff x="0" y="0"/>
            <a:chExt cx="4552692" cy="438331"/>
          </a:xfrm>
        </p:grpSpPr>
        <p:sp>
          <p:nvSpPr>
            <p:cNvPr name="Freeform 22" id="22"/>
            <p:cNvSpPr/>
            <p:nvPr/>
          </p:nvSpPr>
          <p:spPr>
            <a:xfrm flipH="false" flipV="false" rot="0">
              <a:off x="0" y="0"/>
              <a:ext cx="4552692" cy="438331"/>
            </a:xfrm>
            <a:custGeom>
              <a:avLst/>
              <a:gdLst/>
              <a:ahLst/>
              <a:cxnLst/>
              <a:rect r="r" b="b" t="t" l="l"/>
              <a:pathLst>
                <a:path h="438331" w="4552692">
                  <a:moveTo>
                    <a:pt x="4349492" y="0"/>
                  </a:moveTo>
                  <a:cubicBezTo>
                    <a:pt x="4461716" y="0"/>
                    <a:pt x="4552692" y="98124"/>
                    <a:pt x="4552692" y="219166"/>
                  </a:cubicBezTo>
                  <a:cubicBezTo>
                    <a:pt x="4552692" y="340208"/>
                    <a:pt x="4461716" y="438331"/>
                    <a:pt x="4349492" y="438331"/>
                  </a:cubicBezTo>
                  <a:lnTo>
                    <a:pt x="203200" y="438331"/>
                  </a:lnTo>
                  <a:cubicBezTo>
                    <a:pt x="90976" y="438331"/>
                    <a:pt x="0" y="340208"/>
                    <a:pt x="0" y="219166"/>
                  </a:cubicBezTo>
                  <a:cubicBezTo>
                    <a:pt x="0" y="98124"/>
                    <a:pt x="90976" y="0"/>
                    <a:pt x="203200" y="0"/>
                  </a:cubicBezTo>
                  <a:close/>
                </a:path>
              </a:pathLst>
            </a:custGeom>
            <a:solidFill>
              <a:srgbClr val="23496D"/>
            </a:solidFill>
          </p:spPr>
        </p:sp>
        <p:sp>
          <p:nvSpPr>
            <p:cNvPr name="TextBox 23" id="23"/>
            <p:cNvSpPr txBox="true"/>
            <p:nvPr/>
          </p:nvSpPr>
          <p:spPr>
            <a:xfrm>
              <a:off x="0" y="-47625"/>
              <a:ext cx="4552692" cy="485956"/>
            </a:xfrm>
            <a:prstGeom prst="rect">
              <a:avLst/>
            </a:prstGeom>
          </p:spPr>
          <p:txBody>
            <a:bodyPr anchor="ctr" rtlCol="false" tIns="50800" lIns="50800" bIns="50800" rIns="50800"/>
            <a:lstStyle/>
            <a:p>
              <a:pPr algn="l">
                <a:lnSpc>
                  <a:spcPts val="2999"/>
                </a:lnSpc>
              </a:pPr>
              <a:r>
                <a:rPr lang="en-US" b="true" sz="2499">
                  <a:solidFill>
                    <a:srgbClr val="F7F5F1"/>
                  </a:solidFill>
                  <a:latin typeface="Calibri (MS) Bold"/>
                  <a:ea typeface="Calibri (MS) Bold"/>
                  <a:cs typeface="Calibri (MS) Bold"/>
                  <a:sym typeface="Calibri (MS) Bold"/>
                </a:rPr>
                <a:t>   5. A clocking block in apb_if times all sampling and driving to the clock, which removes the race between the             </a:t>
              </a:r>
              <a:r>
                <a:rPr lang="en-US" b="true" sz="2499">
                  <a:solidFill>
                    <a:srgbClr val="23496D"/>
                  </a:solidFill>
                  <a:latin typeface="Calibri (MS) Bold"/>
                  <a:ea typeface="Calibri (MS) Bold"/>
                  <a:cs typeface="Calibri (MS) Bold"/>
                  <a:sym typeface="Calibri (MS) Bold"/>
                </a:rPr>
                <a:t>..</a:t>
              </a:r>
              <a:r>
                <a:rPr lang="en-US" b="true" sz="2499">
                  <a:solidFill>
                    <a:srgbClr val="F7F5F1"/>
                  </a:solidFill>
                  <a:latin typeface="Calibri (MS) Bold"/>
                  <a:ea typeface="Calibri (MS) Bold"/>
                  <a:cs typeface="Calibri (MS) Bold"/>
                  <a:sym typeface="Calibri (MS) Bold"/>
                </a:rPr>
                <a:t>     testbench and the DUT.</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grpSp>
        <p:nvGrpSpPr>
          <p:cNvPr name="Group 2" id="2"/>
          <p:cNvGrpSpPr/>
          <p:nvPr/>
        </p:nvGrpSpPr>
        <p:grpSpPr>
          <a:xfrm rot="0">
            <a:off x="685800" y="9710928"/>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5" id="5"/>
          <p:cNvGrpSpPr/>
          <p:nvPr/>
        </p:nvGrpSpPr>
        <p:grpSpPr>
          <a:xfrm rot="0">
            <a:off x="16911828" y="9710928"/>
            <a:ext cx="685800" cy="411480"/>
            <a:chOff x="0" y="0"/>
            <a:chExt cx="914400" cy="548640"/>
          </a:xfrm>
        </p:grpSpPr>
        <p:sp>
          <p:nvSpPr>
            <p:cNvPr name="Freeform 6" id="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 id="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16</a:t>
              </a:r>
            </a:p>
          </p:txBody>
        </p:sp>
      </p:grpSp>
      <p:sp>
        <p:nvSpPr>
          <p:cNvPr name="Freeform 8" id="8"/>
          <p:cNvSpPr/>
          <p:nvPr/>
        </p:nvSpPr>
        <p:spPr>
          <a:xfrm flipH="false" flipV="false" rot="0">
            <a:off x="15714277" y="0"/>
            <a:ext cx="4407982" cy="1407455"/>
          </a:xfrm>
          <a:custGeom>
            <a:avLst/>
            <a:gdLst/>
            <a:ahLst/>
            <a:cxnLst/>
            <a:rect r="r" b="b" t="t" l="l"/>
            <a:pathLst>
              <a:path h="1407455" w="4407982">
                <a:moveTo>
                  <a:pt x="0" y="0"/>
                </a:moveTo>
                <a:lnTo>
                  <a:pt x="4407982" y="0"/>
                </a:lnTo>
                <a:lnTo>
                  <a:pt x="4407982" y="1407455"/>
                </a:lnTo>
                <a:lnTo>
                  <a:pt x="0" y="14074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149726" y="1859660"/>
            <a:ext cx="14254692" cy="7399063"/>
          </a:xfrm>
          <a:custGeom>
            <a:avLst/>
            <a:gdLst/>
            <a:ahLst/>
            <a:cxnLst/>
            <a:rect r="r" b="b" t="t" l="l"/>
            <a:pathLst>
              <a:path h="7399063" w="14254692">
                <a:moveTo>
                  <a:pt x="0" y="0"/>
                </a:moveTo>
                <a:lnTo>
                  <a:pt x="14254692" y="0"/>
                </a:lnTo>
                <a:lnTo>
                  <a:pt x="14254692" y="7399063"/>
                </a:lnTo>
                <a:lnTo>
                  <a:pt x="0" y="7399063"/>
                </a:lnTo>
                <a:lnTo>
                  <a:pt x="0" y="0"/>
                </a:lnTo>
                <a:close/>
              </a:path>
            </a:pathLst>
          </a:custGeom>
          <a:blipFill>
            <a:blip r:embed="rId5"/>
            <a:stretch>
              <a:fillRect l="0" t="0" r="0" b="0"/>
            </a:stretch>
          </a:blipFill>
        </p:spPr>
      </p:sp>
      <p:sp>
        <p:nvSpPr>
          <p:cNvPr name="TextBox 10" id="10"/>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Scoreboard &amp; Golden Model</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grpSp>
        <p:nvGrpSpPr>
          <p:cNvPr name="Group 2" id="2"/>
          <p:cNvGrpSpPr/>
          <p:nvPr/>
        </p:nvGrpSpPr>
        <p:grpSpPr>
          <a:xfrm rot="0">
            <a:off x="384039" y="3655450"/>
            <a:ext cx="5775960" cy="2900950"/>
            <a:chOff x="0" y="0"/>
            <a:chExt cx="6786880" cy="3408680"/>
          </a:xfrm>
        </p:grpSpPr>
        <p:sp>
          <p:nvSpPr>
            <p:cNvPr name="Freeform 3" id="3"/>
            <p:cNvSpPr/>
            <p:nvPr/>
          </p:nvSpPr>
          <p:spPr>
            <a:xfrm flipH="false" flipV="false" rot="0">
              <a:off x="0" y="0"/>
              <a:ext cx="6786880" cy="3408680"/>
            </a:xfrm>
            <a:custGeom>
              <a:avLst/>
              <a:gdLst/>
              <a:ahLst/>
              <a:cxnLst/>
              <a:rect r="r" b="b" t="t" l="l"/>
              <a:pathLst>
                <a:path h="3408680" w="6786880">
                  <a:moveTo>
                    <a:pt x="0" y="191897"/>
                  </a:moveTo>
                  <a:cubicBezTo>
                    <a:pt x="0" y="85979"/>
                    <a:pt x="85979" y="0"/>
                    <a:pt x="191897" y="0"/>
                  </a:cubicBezTo>
                  <a:lnTo>
                    <a:pt x="6594983" y="0"/>
                  </a:lnTo>
                  <a:cubicBezTo>
                    <a:pt x="6701027" y="0"/>
                    <a:pt x="6786880" y="85979"/>
                    <a:pt x="6786880" y="191897"/>
                  </a:cubicBezTo>
                  <a:lnTo>
                    <a:pt x="6786880" y="3216783"/>
                  </a:lnTo>
                  <a:cubicBezTo>
                    <a:pt x="6786880" y="3322828"/>
                    <a:pt x="6700901" y="3408680"/>
                    <a:pt x="6594983" y="3408680"/>
                  </a:cubicBezTo>
                  <a:lnTo>
                    <a:pt x="191897" y="3408680"/>
                  </a:lnTo>
                  <a:cubicBezTo>
                    <a:pt x="85979" y="3408680"/>
                    <a:pt x="0" y="3322701"/>
                    <a:pt x="0" y="3216783"/>
                  </a:cubicBezTo>
                  <a:close/>
                </a:path>
              </a:pathLst>
            </a:custGeom>
            <a:solidFill>
              <a:srgbClr val="DCE3EC"/>
            </a:solidFill>
            <a:ln w="19050" cap="sq">
              <a:solidFill>
                <a:srgbClr val="D8D4C8"/>
              </a:solidFill>
              <a:prstDash val="solid"/>
              <a:miter/>
            </a:ln>
          </p:spPr>
        </p:sp>
      </p:grpSp>
      <p:sp>
        <p:nvSpPr>
          <p:cNvPr name="TextBox 4" id="4"/>
          <p:cNvSpPr txBox="true"/>
          <p:nvPr/>
        </p:nvSpPr>
        <p:spPr>
          <a:xfrm rot="0">
            <a:off x="638090" y="3831465"/>
            <a:ext cx="4426610" cy="485775"/>
          </a:xfrm>
          <a:prstGeom prst="rect">
            <a:avLst/>
          </a:prstGeom>
        </p:spPr>
        <p:txBody>
          <a:bodyPr anchor="t" rtlCol="false" tIns="0" lIns="0" bIns="0" rIns="0">
            <a:spAutoFit/>
          </a:bodyPr>
          <a:lstStyle/>
          <a:p>
            <a:pPr algn="l">
              <a:lnSpc>
                <a:spcPts val="3839"/>
              </a:lnSpc>
            </a:pPr>
            <a:r>
              <a:rPr lang="en-US" sz="3199">
                <a:solidFill>
                  <a:srgbClr val="2D5986"/>
                </a:solidFill>
                <a:latin typeface="Anton"/>
                <a:ea typeface="Anton"/>
                <a:cs typeface="Anton"/>
                <a:sym typeface="Anton"/>
              </a:rPr>
              <a:t>1. Inputs</a:t>
            </a:r>
          </a:p>
        </p:txBody>
      </p:sp>
      <p:sp>
        <p:nvSpPr>
          <p:cNvPr name="TextBox 5" id="5"/>
          <p:cNvSpPr txBox="true"/>
          <p:nvPr/>
        </p:nvSpPr>
        <p:spPr>
          <a:xfrm rot="0">
            <a:off x="732578" y="4597155"/>
            <a:ext cx="5394960" cy="1646556"/>
          </a:xfrm>
          <a:prstGeom prst="rect">
            <a:avLst/>
          </a:prstGeom>
        </p:spPr>
        <p:txBody>
          <a:bodyPr anchor="t" rtlCol="false" tIns="0" lIns="0" bIns="0" rIns="0">
            <a:spAutoFit/>
          </a:bodyPr>
          <a:lstStyle/>
          <a:p>
            <a:pPr algn="l">
              <a:lnSpc>
                <a:spcPts val="4269"/>
              </a:lnSpc>
            </a:pPr>
            <a:r>
              <a:rPr lang="en-US" sz="3049">
                <a:solidFill>
                  <a:srgbClr val="101828"/>
                </a:solidFill>
                <a:latin typeface="Calibri (MS)"/>
                <a:ea typeface="Calibri (MS)"/>
                <a:cs typeface="Calibri (MS)"/>
                <a:sym typeface="Calibri (MS)"/>
              </a:rPr>
              <a:t>Two analysis exports: ahb_aexport and apb_aexport, fed by the agents</a:t>
            </a:r>
          </a:p>
        </p:txBody>
      </p:sp>
      <p:grpSp>
        <p:nvGrpSpPr>
          <p:cNvPr name="Group 6" id="6"/>
          <p:cNvGrpSpPr/>
          <p:nvPr/>
        </p:nvGrpSpPr>
        <p:grpSpPr>
          <a:xfrm rot="0">
            <a:off x="6256791" y="3655450"/>
            <a:ext cx="5775960" cy="2900950"/>
            <a:chOff x="0" y="0"/>
            <a:chExt cx="6786880" cy="3408680"/>
          </a:xfrm>
        </p:grpSpPr>
        <p:sp>
          <p:nvSpPr>
            <p:cNvPr name="Freeform 7" id="7"/>
            <p:cNvSpPr/>
            <p:nvPr/>
          </p:nvSpPr>
          <p:spPr>
            <a:xfrm flipH="false" flipV="false" rot="0">
              <a:off x="0" y="0"/>
              <a:ext cx="6786880" cy="3408680"/>
            </a:xfrm>
            <a:custGeom>
              <a:avLst/>
              <a:gdLst/>
              <a:ahLst/>
              <a:cxnLst/>
              <a:rect r="r" b="b" t="t" l="l"/>
              <a:pathLst>
                <a:path h="3408680" w="6786880">
                  <a:moveTo>
                    <a:pt x="0" y="191897"/>
                  </a:moveTo>
                  <a:cubicBezTo>
                    <a:pt x="0" y="85979"/>
                    <a:pt x="85979" y="0"/>
                    <a:pt x="191897" y="0"/>
                  </a:cubicBezTo>
                  <a:lnTo>
                    <a:pt x="6594983" y="0"/>
                  </a:lnTo>
                  <a:cubicBezTo>
                    <a:pt x="6701027" y="0"/>
                    <a:pt x="6786880" y="85979"/>
                    <a:pt x="6786880" y="191897"/>
                  </a:cubicBezTo>
                  <a:lnTo>
                    <a:pt x="6786880" y="3216783"/>
                  </a:lnTo>
                  <a:cubicBezTo>
                    <a:pt x="6786880" y="3322828"/>
                    <a:pt x="6700901" y="3408680"/>
                    <a:pt x="6594983" y="3408680"/>
                  </a:cubicBezTo>
                  <a:lnTo>
                    <a:pt x="191897" y="3408680"/>
                  </a:lnTo>
                  <a:cubicBezTo>
                    <a:pt x="85979" y="3408680"/>
                    <a:pt x="0" y="3322701"/>
                    <a:pt x="0" y="3216783"/>
                  </a:cubicBezTo>
                  <a:close/>
                </a:path>
              </a:pathLst>
            </a:custGeom>
            <a:solidFill>
              <a:srgbClr val="DCE3EC"/>
            </a:solidFill>
            <a:ln w="19050" cap="sq">
              <a:solidFill>
                <a:srgbClr val="D8D4C8"/>
              </a:solidFill>
              <a:prstDash val="solid"/>
              <a:miter/>
            </a:ln>
          </p:spPr>
        </p:sp>
      </p:grpSp>
      <p:sp>
        <p:nvSpPr>
          <p:cNvPr name="TextBox 8" id="8"/>
          <p:cNvSpPr txBox="true"/>
          <p:nvPr/>
        </p:nvSpPr>
        <p:spPr>
          <a:xfrm rot="0">
            <a:off x="6587329" y="3831465"/>
            <a:ext cx="4426610" cy="485775"/>
          </a:xfrm>
          <a:prstGeom prst="rect">
            <a:avLst/>
          </a:prstGeom>
        </p:spPr>
        <p:txBody>
          <a:bodyPr anchor="t" rtlCol="false" tIns="0" lIns="0" bIns="0" rIns="0">
            <a:spAutoFit/>
          </a:bodyPr>
          <a:lstStyle/>
          <a:p>
            <a:pPr algn="l">
              <a:lnSpc>
                <a:spcPts val="3839"/>
              </a:lnSpc>
            </a:pPr>
            <a:r>
              <a:rPr lang="en-US" sz="3199">
                <a:solidFill>
                  <a:srgbClr val="2D5986"/>
                </a:solidFill>
                <a:latin typeface="Anton"/>
                <a:ea typeface="Anton"/>
                <a:cs typeface="Anton"/>
                <a:sym typeface="Anton"/>
              </a:rPr>
              <a:t>2. Predictors</a:t>
            </a:r>
          </a:p>
        </p:txBody>
      </p:sp>
      <p:sp>
        <p:nvSpPr>
          <p:cNvPr name="TextBox 9" id="9"/>
          <p:cNvSpPr txBox="true"/>
          <p:nvPr/>
        </p:nvSpPr>
        <p:spPr>
          <a:xfrm rot="0">
            <a:off x="6587329" y="4597155"/>
            <a:ext cx="4426610" cy="1646555"/>
          </a:xfrm>
          <a:prstGeom prst="rect">
            <a:avLst/>
          </a:prstGeom>
        </p:spPr>
        <p:txBody>
          <a:bodyPr anchor="t" rtlCol="false" tIns="0" lIns="0" bIns="0" rIns="0">
            <a:spAutoFit/>
          </a:bodyPr>
          <a:lstStyle/>
          <a:p>
            <a:pPr algn="l">
              <a:lnSpc>
                <a:spcPts val="4270"/>
              </a:lnSpc>
            </a:pPr>
            <a:r>
              <a:rPr lang="en-US" sz="3050">
                <a:solidFill>
                  <a:srgbClr val="101828"/>
                </a:solidFill>
                <a:latin typeface="Calibri (MS)"/>
                <a:ea typeface="Calibri (MS)"/>
                <a:cs typeface="Calibri (MS)"/>
                <a:sym typeface="Calibri (MS)"/>
              </a:rPr>
              <a:t>ahb_prd and apb_prd turn each observed transaction into the expected one</a:t>
            </a:r>
          </a:p>
        </p:txBody>
      </p:sp>
      <p:grpSp>
        <p:nvGrpSpPr>
          <p:cNvPr name="Group 10" id="10"/>
          <p:cNvGrpSpPr/>
          <p:nvPr/>
        </p:nvGrpSpPr>
        <p:grpSpPr>
          <a:xfrm rot="0">
            <a:off x="12128001" y="3655450"/>
            <a:ext cx="5775960" cy="2900950"/>
            <a:chOff x="0" y="0"/>
            <a:chExt cx="6786880" cy="3408680"/>
          </a:xfrm>
        </p:grpSpPr>
        <p:sp>
          <p:nvSpPr>
            <p:cNvPr name="Freeform 11" id="11"/>
            <p:cNvSpPr/>
            <p:nvPr/>
          </p:nvSpPr>
          <p:spPr>
            <a:xfrm flipH="false" flipV="false" rot="0">
              <a:off x="0" y="0"/>
              <a:ext cx="6786880" cy="3408680"/>
            </a:xfrm>
            <a:custGeom>
              <a:avLst/>
              <a:gdLst/>
              <a:ahLst/>
              <a:cxnLst/>
              <a:rect r="r" b="b" t="t" l="l"/>
              <a:pathLst>
                <a:path h="3408680" w="6786880">
                  <a:moveTo>
                    <a:pt x="0" y="191897"/>
                  </a:moveTo>
                  <a:cubicBezTo>
                    <a:pt x="0" y="85979"/>
                    <a:pt x="85979" y="0"/>
                    <a:pt x="191897" y="0"/>
                  </a:cubicBezTo>
                  <a:lnTo>
                    <a:pt x="6594983" y="0"/>
                  </a:lnTo>
                  <a:cubicBezTo>
                    <a:pt x="6701027" y="0"/>
                    <a:pt x="6786880" y="85979"/>
                    <a:pt x="6786880" y="191897"/>
                  </a:cubicBezTo>
                  <a:lnTo>
                    <a:pt x="6786880" y="3216783"/>
                  </a:lnTo>
                  <a:cubicBezTo>
                    <a:pt x="6786880" y="3322828"/>
                    <a:pt x="6700901" y="3408680"/>
                    <a:pt x="6594983" y="3408680"/>
                  </a:cubicBezTo>
                  <a:lnTo>
                    <a:pt x="191897" y="3408680"/>
                  </a:lnTo>
                  <a:cubicBezTo>
                    <a:pt x="85979" y="3408680"/>
                    <a:pt x="0" y="3322701"/>
                    <a:pt x="0" y="3216783"/>
                  </a:cubicBezTo>
                  <a:close/>
                </a:path>
              </a:pathLst>
            </a:custGeom>
            <a:solidFill>
              <a:srgbClr val="DCE3EC"/>
            </a:solidFill>
            <a:ln w="19050" cap="sq">
              <a:solidFill>
                <a:srgbClr val="D8D4C8"/>
              </a:solidFill>
              <a:prstDash val="solid"/>
              <a:miter/>
            </a:ln>
          </p:spPr>
        </p:sp>
      </p:grpSp>
      <p:sp>
        <p:nvSpPr>
          <p:cNvPr name="TextBox 12" id="12"/>
          <p:cNvSpPr txBox="true"/>
          <p:nvPr/>
        </p:nvSpPr>
        <p:spPr>
          <a:xfrm rot="0">
            <a:off x="12371943" y="3850515"/>
            <a:ext cx="4426610" cy="466725"/>
          </a:xfrm>
          <a:prstGeom prst="rect">
            <a:avLst/>
          </a:prstGeom>
        </p:spPr>
        <p:txBody>
          <a:bodyPr anchor="t" rtlCol="false" tIns="0" lIns="0" bIns="0" rIns="0">
            <a:spAutoFit/>
          </a:bodyPr>
          <a:lstStyle/>
          <a:p>
            <a:pPr algn="l">
              <a:lnSpc>
                <a:spcPts val="3719"/>
              </a:lnSpc>
            </a:pPr>
            <a:r>
              <a:rPr lang="en-US" sz="3099">
                <a:solidFill>
                  <a:srgbClr val="2D5986"/>
                </a:solidFill>
                <a:latin typeface="Anton"/>
                <a:ea typeface="Anton"/>
                <a:cs typeface="Anton"/>
                <a:sym typeface="Anton"/>
              </a:rPr>
              <a:t>3. Comparator</a:t>
            </a:r>
          </a:p>
        </p:txBody>
      </p:sp>
      <p:sp>
        <p:nvSpPr>
          <p:cNvPr name="TextBox 13" id="13"/>
          <p:cNvSpPr txBox="true"/>
          <p:nvPr/>
        </p:nvSpPr>
        <p:spPr>
          <a:xfrm rot="0">
            <a:off x="12489951" y="4597155"/>
            <a:ext cx="4426610" cy="1646555"/>
          </a:xfrm>
          <a:prstGeom prst="rect">
            <a:avLst/>
          </a:prstGeom>
        </p:spPr>
        <p:txBody>
          <a:bodyPr anchor="t" rtlCol="false" tIns="0" lIns="0" bIns="0" rIns="0">
            <a:spAutoFit/>
          </a:bodyPr>
          <a:lstStyle/>
          <a:p>
            <a:pPr algn="l">
              <a:lnSpc>
                <a:spcPts val="4270"/>
              </a:lnSpc>
            </a:pPr>
            <a:r>
              <a:rPr lang="en-US" sz="3050">
                <a:solidFill>
                  <a:srgbClr val="000000"/>
                </a:solidFill>
                <a:latin typeface="Calibri (MS)"/>
                <a:ea typeface="Calibri (MS)"/>
                <a:cs typeface="Calibri (MS)"/>
                <a:sym typeface="Calibri (MS)"/>
              </a:rPr>
              <a:t>Matches expected against actual, counts passes and failures, prints a report</a:t>
            </a:r>
          </a:p>
        </p:txBody>
      </p:sp>
      <p:sp>
        <p:nvSpPr>
          <p:cNvPr name="TextBox 14" id="14"/>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Scoreboard structure</a:t>
            </a:r>
          </a:p>
        </p:txBody>
      </p:sp>
      <p:grpSp>
        <p:nvGrpSpPr>
          <p:cNvPr name="Group 15" id="15"/>
          <p:cNvGrpSpPr/>
          <p:nvPr/>
        </p:nvGrpSpPr>
        <p:grpSpPr>
          <a:xfrm rot="0">
            <a:off x="157086" y="9885045"/>
            <a:ext cx="10972800" cy="411480"/>
            <a:chOff x="0" y="0"/>
            <a:chExt cx="14630400" cy="548640"/>
          </a:xfrm>
        </p:grpSpPr>
        <p:sp>
          <p:nvSpPr>
            <p:cNvPr name="Freeform 16" id="1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17" id="17"/>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18" id="18"/>
          <p:cNvGrpSpPr/>
          <p:nvPr/>
        </p:nvGrpSpPr>
        <p:grpSpPr>
          <a:xfrm rot="0">
            <a:off x="16911828" y="9710928"/>
            <a:ext cx="685800" cy="411480"/>
            <a:chOff x="0" y="0"/>
            <a:chExt cx="914400" cy="548640"/>
          </a:xfrm>
        </p:grpSpPr>
        <p:sp>
          <p:nvSpPr>
            <p:cNvPr name="Freeform 19" id="1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20" id="20"/>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17</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512538" y="3034387"/>
          <a:ext cx="11262925" cy="3542503"/>
        </p:xfrm>
        <a:graphic>
          <a:graphicData uri="http://schemas.openxmlformats.org/drawingml/2006/table">
            <a:tbl>
              <a:tblPr/>
              <a:tblGrid>
                <a:gridCol w="5631462"/>
                <a:gridCol w="5631462"/>
              </a:tblGrid>
              <a:tr h="885626">
                <a:tc>
                  <a:txBody>
                    <a:bodyPr anchor="t" rtlCol="false"/>
                    <a:lstStyle/>
                    <a:p>
                      <a:pPr algn="l">
                        <a:lnSpc>
                          <a:spcPts val="3569"/>
                        </a:lnSpc>
                        <a:defRPr/>
                      </a:pPr>
                      <a:r>
                        <a:rPr lang="en-US" sz="2550" b="true">
                          <a:solidFill>
                            <a:srgbClr val="2D5986"/>
                          </a:solidFill>
                          <a:latin typeface="Helvetica World Bold"/>
                          <a:ea typeface="Helvetica World Bold"/>
                          <a:cs typeface="Helvetica World Bold"/>
                          <a:sym typeface="Helvetica World Bold"/>
                        </a:rPr>
                        <a:t>Expected AHB</a:t>
                      </a:r>
                      <a:endParaRPr lang="en-US" sz="1100"/>
                    </a:p>
                  </a:txBody>
                  <a:tcPr marL="75565" marR="75565" marT="75565" marB="75565" anchor="t">
                    <a:lnL cmpd="sng" algn="ctr" cap="flat" w="12700">
                      <a:solidFill>
                        <a:srgbClr val="2D5986"/>
                      </a:solidFill>
                      <a:prstDash val="solid"/>
                      <a:round/>
                      <a:headEnd type="none" w="med" len="med"/>
                      <a:tailEnd type="none" w="med" len="med"/>
                    </a:lnL>
                    <a:lnR cmpd="sng" algn="ctr" cap="flat" w="12700">
                      <a:solidFill>
                        <a:srgbClr val="B6B5B0"/>
                      </a:solidFill>
                      <a:prstDash val="solid"/>
                      <a:round/>
                      <a:headEnd type="none" w="med" len="med"/>
                      <a:tailEnd type="none" w="med" len="med"/>
                    </a:lnR>
                    <a:lnT cmpd="sng" algn="ctr" cap="flat" w="12700">
                      <a:solidFill>
                        <a:srgbClr val="2D5986"/>
                      </a:solidFill>
                      <a:prstDash val="solid"/>
                      <a:round/>
                      <a:headEnd type="none" w="med" len="med"/>
                      <a:tailEnd type="none" w="med" len="med"/>
                    </a:lnT>
                    <a:lnB cmpd="sng" algn="ctr" cap="flat" w="12700">
                      <a:solidFill>
                        <a:srgbClr val="B6B5B0"/>
                      </a:solidFill>
                      <a:prstDash val="solid"/>
                      <a:round/>
                      <a:headEnd type="none" w="med" len="med"/>
                      <a:tailEnd type="none" w="med" len="med"/>
                    </a:lnB>
                    <a:solidFill>
                      <a:srgbClr val="E9EDF4"/>
                    </a:solidFill>
                  </a:tcPr>
                </a:tc>
                <a:tc>
                  <a:txBody>
                    <a:bodyPr anchor="t" rtlCol="false"/>
                    <a:lstStyle/>
                    <a:p>
                      <a:pPr algn="l">
                        <a:lnSpc>
                          <a:spcPts val="3569"/>
                        </a:lnSpc>
                        <a:defRPr/>
                      </a:pPr>
                      <a:r>
                        <a:rPr lang="en-US" b="true" sz="2550">
                          <a:solidFill>
                            <a:srgbClr val="2D5986"/>
                          </a:solidFill>
                          <a:latin typeface="Helvetica World Bold"/>
                          <a:ea typeface="Helvetica World Bold"/>
                          <a:cs typeface="Helvetica World Bold"/>
                          <a:sym typeface="Helvetica World Bold"/>
                        </a:rPr>
                        <a:t>Taken from APB</a:t>
                      </a:r>
                      <a:endParaRPr lang="en-US" sz="1100"/>
                    </a:p>
                  </a:txBody>
                  <a:tcPr marL="75565" marR="75565" marT="75565" marB="75565" anchor="t">
                    <a:lnL cmpd="sng" algn="ctr" cap="flat" w="12700">
                      <a:solidFill>
                        <a:srgbClr val="B6B5B0"/>
                      </a:solidFill>
                      <a:prstDash val="solid"/>
                      <a:round/>
                      <a:headEnd type="none" w="med" len="med"/>
                      <a:tailEnd type="none" w="med" len="med"/>
                    </a:lnL>
                    <a:lnR cmpd="sng" algn="ctr" cap="flat" w="12700">
                      <a:solidFill>
                        <a:srgbClr val="2D5986"/>
                      </a:solidFill>
                      <a:prstDash val="solid"/>
                      <a:round/>
                      <a:headEnd type="none" w="med" len="med"/>
                      <a:tailEnd type="none" w="med" len="med"/>
                    </a:lnR>
                    <a:lnT cmpd="sng" algn="ctr" cap="flat" w="12700">
                      <a:solidFill>
                        <a:srgbClr val="2D5986"/>
                      </a:solidFill>
                      <a:prstDash val="solid"/>
                      <a:round/>
                      <a:headEnd type="none" w="med" len="med"/>
                      <a:tailEnd type="none" w="med" len="med"/>
                    </a:lnT>
                    <a:lnB cmpd="sng" algn="ctr" cap="flat" w="12700">
                      <a:solidFill>
                        <a:srgbClr val="B6B5B0"/>
                      </a:solidFill>
                      <a:prstDash val="solid"/>
                      <a:round/>
                      <a:headEnd type="none" w="med" len="med"/>
                      <a:tailEnd type="none" w="med" len="med"/>
                    </a:lnB>
                    <a:solidFill>
                      <a:srgbClr val="E9EDF4"/>
                    </a:solidFill>
                  </a:tcPr>
                </a:tc>
              </a:tr>
              <a:tr h="885626">
                <a:tc>
                  <a:txBody>
                    <a:bodyPr anchor="t" rtlCol="false"/>
                    <a:lstStyle/>
                    <a:p>
                      <a:pPr algn="l">
                        <a:lnSpc>
                          <a:spcPts val="3569"/>
                        </a:lnSpc>
                        <a:defRPr/>
                      </a:pPr>
                      <a:r>
                        <a:rPr lang="en-US" sz="2550">
                          <a:solidFill>
                            <a:srgbClr val="101828"/>
                          </a:solidFill>
                          <a:latin typeface="Helvetica World"/>
                          <a:ea typeface="Helvetica World"/>
                          <a:cs typeface="Helvetica World"/>
                          <a:sym typeface="Helvetica World"/>
                        </a:rPr>
                        <a:t>HREADYOUT</a:t>
                      </a:r>
                      <a:endParaRPr lang="en-US" sz="1100"/>
                    </a:p>
                  </a:txBody>
                  <a:tcPr marL="75565" marR="75565" marT="75565" marB="75565" anchor="t">
                    <a:lnL cmpd="sng" algn="ctr" cap="flat" w="12700">
                      <a:solidFill>
                        <a:srgbClr val="2D5986"/>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B6B5B0"/>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3569"/>
                        </a:lnSpc>
                        <a:defRPr/>
                      </a:pPr>
                      <a:r>
                        <a:rPr lang="en-US" sz="2550">
                          <a:solidFill>
                            <a:srgbClr val="101828"/>
                          </a:solidFill>
                          <a:latin typeface="Helvetica World"/>
                          <a:ea typeface="Helvetica World"/>
                          <a:cs typeface="Helvetica World"/>
                          <a:sym typeface="Helvetica World"/>
                        </a:rPr>
                        <a:t>PREADY</a:t>
                      </a:r>
                      <a:endParaRPr lang="en-US" sz="1100"/>
                    </a:p>
                  </a:txBody>
                  <a:tcPr marL="75565" marR="75565" marT="75565" marB="75565" anchor="t">
                    <a:lnL cmpd="sng" algn="ctr" cap="flat" w="12700">
                      <a:solidFill>
                        <a:srgbClr val="C4C3BE"/>
                      </a:solidFill>
                      <a:prstDash val="solid"/>
                      <a:round/>
                      <a:headEnd type="none" w="med" len="med"/>
                      <a:tailEnd type="none" w="med" len="med"/>
                    </a:lnL>
                    <a:lnR cmpd="sng" algn="ctr" cap="flat" w="12700">
                      <a:solidFill>
                        <a:srgbClr val="2D5986"/>
                      </a:solidFill>
                      <a:prstDash val="solid"/>
                      <a:round/>
                      <a:headEnd type="none" w="med" len="med"/>
                      <a:tailEnd type="none" w="med" len="med"/>
                    </a:lnR>
                    <a:lnT cmpd="sng" algn="ctr" cap="flat" w="12700">
                      <a:solidFill>
                        <a:srgbClr val="B6B5B0"/>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r>
              <a:tr h="885626">
                <a:tc>
                  <a:txBody>
                    <a:bodyPr anchor="t" rtlCol="false"/>
                    <a:lstStyle/>
                    <a:p>
                      <a:pPr algn="l">
                        <a:lnSpc>
                          <a:spcPts val="3569"/>
                        </a:lnSpc>
                        <a:defRPr/>
                      </a:pPr>
                      <a:r>
                        <a:rPr lang="en-US" sz="2550">
                          <a:solidFill>
                            <a:srgbClr val="101828"/>
                          </a:solidFill>
                          <a:latin typeface="Helvetica World"/>
                          <a:ea typeface="Helvetica World"/>
                          <a:cs typeface="Helvetica World"/>
                          <a:sym typeface="Helvetica World"/>
                        </a:rPr>
                        <a:t>HRESP</a:t>
                      </a:r>
                      <a:endParaRPr lang="en-US" sz="1100"/>
                    </a:p>
                  </a:txBody>
                  <a:tcPr marL="75565" marR="75565" marT="75565" marB="75565" anchor="t">
                    <a:lnL cmpd="sng" algn="ctr" cap="flat" w="12700">
                      <a:solidFill>
                        <a:srgbClr val="2D5986"/>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3569"/>
                        </a:lnSpc>
                        <a:defRPr/>
                      </a:pPr>
                      <a:r>
                        <a:rPr lang="en-US" sz="2550">
                          <a:solidFill>
                            <a:srgbClr val="101828"/>
                          </a:solidFill>
                          <a:latin typeface="Helvetica World"/>
                          <a:ea typeface="Helvetica World"/>
                          <a:cs typeface="Helvetica World"/>
                          <a:sym typeface="Helvetica World"/>
                        </a:rPr>
                        <a:t>PSLVERR</a:t>
                      </a:r>
                      <a:endParaRPr lang="en-US" sz="1100"/>
                    </a:p>
                  </a:txBody>
                  <a:tcPr marL="75565" marR="75565" marT="75565" marB="75565" anchor="t">
                    <a:lnL cmpd="sng" algn="ctr" cap="flat" w="12700">
                      <a:solidFill>
                        <a:srgbClr val="C4C3BE"/>
                      </a:solidFill>
                      <a:prstDash val="solid"/>
                      <a:round/>
                      <a:headEnd type="none" w="med" len="med"/>
                      <a:tailEnd type="none" w="med" len="med"/>
                    </a:lnL>
                    <a:lnR cmpd="sng" algn="ctr" cap="flat" w="12700">
                      <a:solidFill>
                        <a:srgbClr val="2D5986"/>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r>
              <a:tr h="885626">
                <a:tc>
                  <a:txBody>
                    <a:bodyPr anchor="t" rtlCol="false"/>
                    <a:lstStyle/>
                    <a:p>
                      <a:pPr algn="l">
                        <a:lnSpc>
                          <a:spcPts val="3569"/>
                        </a:lnSpc>
                        <a:defRPr/>
                      </a:pPr>
                      <a:r>
                        <a:rPr lang="en-US" sz="2550">
                          <a:solidFill>
                            <a:srgbClr val="101828"/>
                          </a:solidFill>
                          <a:latin typeface="Helvetica World"/>
                          <a:ea typeface="Helvetica World"/>
                          <a:cs typeface="Helvetica World"/>
                          <a:sym typeface="Helvetica World"/>
                        </a:rPr>
                        <a:t>HRDATA</a:t>
                      </a:r>
                      <a:endParaRPr lang="en-US" sz="1100"/>
                    </a:p>
                  </a:txBody>
                  <a:tcPr marL="75565" marR="75565" marT="75565" marB="75565" anchor="t">
                    <a:lnL cmpd="sng" algn="ctr" cap="flat" w="12700">
                      <a:solidFill>
                        <a:srgbClr val="2D5986"/>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2D5986"/>
                      </a:solidFill>
                      <a:prstDash val="solid"/>
                      <a:round/>
                      <a:headEnd type="none" w="med" len="med"/>
                      <a:tailEnd type="none" w="med" len="med"/>
                    </a:lnB>
                  </a:tcPr>
                </a:tc>
                <a:tc>
                  <a:txBody>
                    <a:bodyPr anchor="t" rtlCol="false"/>
                    <a:lstStyle/>
                    <a:p>
                      <a:pPr algn="l">
                        <a:lnSpc>
                          <a:spcPts val="3569"/>
                        </a:lnSpc>
                        <a:defRPr/>
                      </a:pPr>
                      <a:r>
                        <a:rPr lang="en-US" sz="2550">
                          <a:solidFill>
                            <a:srgbClr val="101828"/>
                          </a:solidFill>
                          <a:latin typeface="Helvetica World"/>
                          <a:ea typeface="Helvetica World"/>
                          <a:cs typeface="Helvetica World"/>
                          <a:sym typeface="Helvetica World"/>
                        </a:rPr>
                        <a:t>PRDATA</a:t>
                      </a:r>
                      <a:endParaRPr lang="en-US" sz="1100"/>
                    </a:p>
                  </a:txBody>
                  <a:tcPr marL="75565" marR="75565" marT="75565" marB="75565" anchor="t">
                    <a:lnL cmpd="sng" algn="ctr" cap="flat" w="12700">
                      <a:solidFill>
                        <a:srgbClr val="C4C3BE"/>
                      </a:solidFill>
                      <a:prstDash val="solid"/>
                      <a:round/>
                      <a:headEnd type="none" w="med" len="med"/>
                      <a:tailEnd type="none" w="med" len="med"/>
                    </a:lnL>
                    <a:lnR cmpd="sng" algn="ctr" cap="flat" w="12700">
                      <a:solidFill>
                        <a:srgbClr val="2D5986"/>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2D5986"/>
                      </a:solidFill>
                      <a:prstDash val="solid"/>
                      <a:round/>
                      <a:headEnd type="none" w="med" len="med"/>
                      <a:tailEnd type="none" w="med" len="med"/>
                    </a:lnB>
                  </a:tcPr>
                </a:tc>
              </a:tr>
            </a:tbl>
          </a:graphicData>
        </a:graphic>
      </p:graphicFrame>
      <p:sp>
        <p:nvSpPr>
          <p:cNvPr name="TextBox 3" id="3"/>
          <p:cNvSpPr txBox="true"/>
          <p:nvPr/>
        </p:nvSpPr>
        <p:spPr>
          <a:xfrm rot="0">
            <a:off x="492561" y="7154927"/>
            <a:ext cx="16325088" cy="537210"/>
          </a:xfrm>
          <a:prstGeom prst="rect">
            <a:avLst/>
          </a:prstGeom>
        </p:spPr>
        <p:txBody>
          <a:bodyPr anchor="t" rtlCol="false" tIns="0" lIns="0" bIns="0" rIns="0">
            <a:spAutoFit/>
          </a:bodyPr>
          <a:lstStyle/>
          <a:p>
            <a:pPr algn="l" marL="615312" indent="-307656" lvl="1">
              <a:lnSpc>
                <a:spcPts val="3989"/>
              </a:lnSpc>
              <a:buFont typeface="Arial"/>
              <a:buChar char="•"/>
            </a:pPr>
            <a:r>
              <a:rPr lang="en-US" sz="2849">
                <a:solidFill>
                  <a:srgbClr val="101828"/>
                </a:solidFill>
                <a:latin typeface="Calibri (MS)"/>
                <a:ea typeface="Calibri (MS)"/>
                <a:cs typeface="Calibri (MS)"/>
                <a:sym typeface="Calibri (MS)"/>
              </a:rPr>
              <a:t>Every APB item produces one expected AHB item, sent through ahb_exp_aport.</a:t>
            </a:r>
          </a:p>
        </p:txBody>
      </p:sp>
      <p:sp>
        <p:nvSpPr>
          <p:cNvPr name="TextBox 4" id="4"/>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AHB Predictor</a:t>
            </a:r>
          </a:p>
        </p:txBody>
      </p:sp>
      <p:grpSp>
        <p:nvGrpSpPr>
          <p:cNvPr name="Group 5" id="5"/>
          <p:cNvGrpSpPr/>
          <p:nvPr/>
        </p:nvGrpSpPr>
        <p:grpSpPr>
          <a:xfrm rot="0">
            <a:off x="157086" y="9885045"/>
            <a:ext cx="10972800" cy="411480"/>
            <a:chOff x="0" y="0"/>
            <a:chExt cx="14630400" cy="548640"/>
          </a:xfrm>
        </p:grpSpPr>
        <p:sp>
          <p:nvSpPr>
            <p:cNvPr name="Freeform 6" id="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7" id="7"/>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8" id="8"/>
          <p:cNvGrpSpPr/>
          <p:nvPr/>
        </p:nvGrpSpPr>
        <p:grpSpPr>
          <a:xfrm rot="0">
            <a:off x="16911828" y="9710928"/>
            <a:ext cx="685800" cy="411480"/>
            <a:chOff x="0" y="0"/>
            <a:chExt cx="914400" cy="548640"/>
          </a:xfrm>
        </p:grpSpPr>
        <p:sp>
          <p:nvSpPr>
            <p:cNvPr name="Freeform 9" id="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10" id="10"/>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18</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244218" y="2735580"/>
          <a:ext cx="15799564" cy="4965700"/>
        </p:xfrm>
        <a:graphic>
          <a:graphicData uri="http://schemas.openxmlformats.org/drawingml/2006/table">
            <a:tbl>
              <a:tblPr/>
              <a:tblGrid>
                <a:gridCol w="7899782"/>
                <a:gridCol w="7899782"/>
              </a:tblGrid>
              <a:tr h="859448">
                <a:tc>
                  <a:txBody>
                    <a:bodyPr anchor="t" rtlCol="false"/>
                    <a:lstStyle/>
                    <a:p>
                      <a:pPr algn="l">
                        <a:lnSpc>
                          <a:spcPts val="3709"/>
                        </a:lnSpc>
                        <a:defRPr/>
                      </a:pPr>
                      <a:r>
                        <a:rPr lang="en-US" sz="2649" b="true">
                          <a:solidFill>
                            <a:srgbClr val="2D5986"/>
                          </a:solidFill>
                          <a:latin typeface="Helvetica World Bold"/>
                          <a:ea typeface="Helvetica World Bold"/>
                          <a:cs typeface="Helvetica World Bold"/>
                          <a:sym typeface="Helvetica World Bold"/>
                        </a:rPr>
                        <a:t>Expected APB</a:t>
                      </a:r>
                      <a:endParaRPr lang="en-US" sz="1100"/>
                    </a:p>
                  </a:txBody>
                  <a:tcPr marL="66675" marR="66675" marT="66675" marB="66675" anchor="t">
                    <a:lnL cmpd="sng" algn="ctr" cap="flat" w="12700">
                      <a:solidFill>
                        <a:srgbClr val="2D5986"/>
                      </a:solidFill>
                      <a:prstDash val="solid"/>
                      <a:round/>
                      <a:headEnd type="none" w="med" len="med"/>
                      <a:tailEnd type="none" w="med" len="med"/>
                    </a:lnL>
                    <a:lnR cmpd="sng" algn="ctr" cap="flat" w="12700">
                      <a:solidFill>
                        <a:srgbClr val="B6B5B0"/>
                      </a:solidFill>
                      <a:prstDash val="solid"/>
                      <a:round/>
                      <a:headEnd type="none" w="med" len="med"/>
                      <a:tailEnd type="none" w="med" len="med"/>
                    </a:lnR>
                    <a:lnT cmpd="sng" algn="ctr" cap="flat" w="12700">
                      <a:solidFill>
                        <a:srgbClr val="2D5986"/>
                      </a:solidFill>
                      <a:prstDash val="solid"/>
                      <a:round/>
                      <a:headEnd type="none" w="med" len="med"/>
                      <a:tailEnd type="none" w="med" len="med"/>
                    </a:lnT>
                    <a:lnB cmpd="sng" algn="ctr" cap="flat" w="12700">
                      <a:solidFill>
                        <a:srgbClr val="B6B5B0"/>
                      </a:solidFill>
                      <a:prstDash val="solid"/>
                      <a:round/>
                      <a:headEnd type="none" w="med" len="med"/>
                      <a:tailEnd type="none" w="med" len="med"/>
                    </a:lnB>
                    <a:solidFill>
                      <a:srgbClr val="E9EDF4"/>
                    </a:solidFill>
                  </a:tcPr>
                </a:tc>
                <a:tc>
                  <a:txBody>
                    <a:bodyPr anchor="t" rtlCol="false"/>
                    <a:lstStyle/>
                    <a:p>
                      <a:pPr algn="l">
                        <a:lnSpc>
                          <a:spcPts val="3709"/>
                        </a:lnSpc>
                        <a:defRPr/>
                      </a:pPr>
                      <a:r>
                        <a:rPr lang="en-US" sz="2649" b="true">
                          <a:solidFill>
                            <a:srgbClr val="2D5986"/>
                          </a:solidFill>
                          <a:latin typeface="Helvetica World Bold"/>
                          <a:ea typeface="Helvetica World Bold"/>
                          <a:cs typeface="Helvetica World Bold"/>
                          <a:sym typeface="Helvetica World Bold"/>
                        </a:rPr>
                        <a:t>Mapping</a:t>
                      </a:r>
                      <a:endParaRPr lang="en-US" sz="1100"/>
                    </a:p>
                  </a:txBody>
                  <a:tcPr marL="66675" marR="66675" marT="66675" marB="66675" anchor="t">
                    <a:lnL cmpd="sng" algn="ctr" cap="flat" w="12700">
                      <a:solidFill>
                        <a:srgbClr val="B6B5B0"/>
                      </a:solidFill>
                      <a:prstDash val="solid"/>
                      <a:round/>
                      <a:headEnd type="none" w="med" len="med"/>
                      <a:tailEnd type="none" w="med" len="med"/>
                    </a:lnL>
                    <a:lnR cmpd="sng" algn="ctr" cap="flat" w="12700">
                      <a:solidFill>
                        <a:srgbClr val="2D5986"/>
                      </a:solidFill>
                      <a:prstDash val="solid"/>
                      <a:round/>
                      <a:headEnd type="none" w="med" len="med"/>
                      <a:tailEnd type="none" w="med" len="med"/>
                    </a:lnR>
                    <a:lnT cmpd="sng" algn="ctr" cap="flat" w="12700">
                      <a:solidFill>
                        <a:srgbClr val="2D5986"/>
                      </a:solidFill>
                      <a:prstDash val="solid"/>
                      <a:round/>
                      <a:headEnd type="none" w="med" len="med"/>
                      <a:tailEnd type="none" w="med" len="med"/>
                    </a:lnT>
                    <a:lnB cmpd="sng" algn="ctr" cap="flat" w="12700">
                      <a:solidFill>
                        <a:srgbClr val="B6B5B0"/>
                      </a:solidFill>
                      <a:prstDash val="solid"/>
                      <a:round/>
                      <a:headEnd type="none" w="med" len="med"/>
                      <a:tailEnd type="none" w="med" len="med"/>
                    </a:lnB>
                    <a:solidFill>
                      <a:srgbClr val="E9EDF4"/>
                    </a:solidFill>
                  </a:tcPr>
                </a:tc>
              </a:tr>
              <a:tr h="821250">
                <a:tc>
                  <a:txBody>
                    <a:bodyPr anchor="t" rtlCol="false"/>
                    <a:lstStyle/>
                    <a:p>
                      <a:pPr algn="l">
                        <a:lnSpc>
                          <a:spcPts val="3709"/>
                        </a:lnSpc>
                        <a:defRPr/>
                      </a:pPr>
                      <a:r>
                        <a:rPr lang="en-US" sz="2649">
                          <a:solidFill>
                            <a:srgbClr val="101828"/>
                          </a:solidFill>
                          <a:latin typeface="Helvetica World"/>
                          <a:ea typeface="Helvetica World"/>
                          <a:cs typeface="Helvetica World"/>
                          <a:sym typeface="Helvetica World"/>
                        </a:rPr>
                        <a:t>PADDR</a:t>
                      </a:r>
                      <a:endParaRPr lang="en-US" sz="1100"/>
                    </a:p>
                  </a:txBody>
                  <a:tcPr marL="66675" marR="66675" marT="66675" marB="66675" anchor="t">
                    <a:lnL cmpd="sng" algn="ctr" cap="flat" w="12700">
                      <a:solidFill>
                        <a:srgbClr val="2D5986"/>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B6B5B0"/>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3709"/>
                        </a:lnSpc>
                        <a:defRPr/>
                      </a:pPr>
                      <a:r>
                        <a:rPr lang="en-US" sz="2649">
                          <a:solidFill>
                            <a:srgbClr val="101828"/>
                          </a:solidFill>
                          <a:latin typeface="Helvetica World"/>
                          <a:ea typeface="Helvetica World"/>
                          <a:cs typeface="Helvetica World"/>
                          <a:sym typeface="Helvetica World"/>
                        </a:rPr>
                        <a:t>HADDR[15:2]</a:t>
                      </a:r>
                      <a:endParaRPr lang="en-US" sz="1100"/>
                    </a:p>
                  </a:txBody>
                  <a:tcPr marL="66675" marR="66675" marT="66675" marB="66675" anchor="t">
                    <a:lnL cmpd="sng" algn="ctr" cap="flat" w="12700">
                      <a:solidFill>
                        <a:srgbClr val="C4C3BE"/>
                      </a:solidFill>
                      <a:prstDash val="solid"/>
                      <a:round/>
                      <a:headEnd type="none" w="med" len="med"/>
                      <a:tailEnd type="none" w="med" len="med"/>
                    </a:lnL>
                    <a:lnR cmpd="sng" algn="ctr" cap="flat" w="12700">
                      <a:solidFill>
                        <a:srgbClr val="2D5986"/>
                      </a:solidFill>
                      <a:prstDash val="solid"/>
                      <a:round/>
                      <a:headEnd type="none" w="med" len="med"/>
                      <a:tailEnd type="none" w="med" len="med"/>
                    </a:lnR>
                    <a:lnT cmpd="sng" algn="ctr" cap="flat" w="12700">
                      <a:solidFill>
                        <a:srgbClr val="B6B5B0"/>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r>
              <a:tr h="821250">
                <a:tc>
                  <a:txBody>
                    <a:bodyPr anchor="t" rtlCol="false"/>
                    <a:lstStyle/>
                    <a:p>
                      <a:pPr algn="l">
                        <a:lnSpc>
                          <a:spcPts val="3709"/>
                        </a:lnSpc>
                        <a:defRPr/>
                      </a:pPr>
                      <a:r>
                        <a:rPr lang="en-US" sz="2649">
                          <a:solidFill>
                            <a:srgbClr val="101828"/>
                          </a:solidFill>
                          <a:latin typeface="Helvetica World"/>
                          <a:ea typeface="Helvetica World"/>
                          <a:cs typeface="Helvetica World"/>
                          <a:sym typeface="Helvetica World"/>
                        </a:rPr>
                        <a:t>PWRITE / PWDATA</a:t>
                      </a:r>
                      <a:endParaRPr lang="en-US" sz="1100"/>
                    </a:p>
                  </a:txBody>
                  <a:tcPr marL="66675" marR="66675" marT="66675" marB="66675" anchor="t">
                    <a:lnL cmpd="sng" algn="ctr" cap="flat" w="12700">
                      <a:solidFill>
                        <a:srgbClr val="2D5986"/>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3709"/>
                        </a:lnSpc>
                        <a:defRPr/>
                      </a:pPr>
                      <a:r>
                        <a:rPr lang="en-US" sz="2649">
                          <a:solidFill>
                            <a:srgbClr val="101828"/>
                          </a:solidFill>
                          <a:latin typeface="Helvetica World"/>
                          <a:ea typeface="Helvetica World"/>
                          <a:cs typeface="Helvetica World"/>
                          <a:sym typeface="Helvetica World"/>
                        </a:rPr>
                        <a:t>Copied from HWRITE / HWDATA</a:t>
                      </a:r>
                      <a:endParaRPr lang="en-US" sz="1100"/>
                    </a:p>
                  </a:txBody>
                  <a:tcPr marL="66675" marR="66675" marT="66675" marB="66675" anchor="t">
                    <a:lnL cmpd="sng" algn="ctr" cap="flat" w="12700">
                      <a:solidFill>
                        <a:srgbClr val="C4C3BE"/>
                      </a:solidFill>
                      <a:prstDash val="solid"/>
                      <a:round/>
                      <a:headEnd type="none" w="med" len="med"/>
                      <a:tailEnd type="none" w="med" len="med"/>
                    </a:lnL>
                    <a:lnR cmpd="sng" algn="ctr" cap="flat" w="12700">
                      <a:solidFill>
                        <a:srgbClr val="2D5986"/>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r>
              <a:tr h="821250">
                <a:tc>
                  <a:txBody>
                    <a:bodyPr anchor="t" rtlCol="false"/>
                    <a:lstStyle/>
                    <a:p>
                      <a:pPr algn="l">
                        <a:lnSpc>
                          <a:spcPts val="3709"/>
                        </a:lnSpc>
                        <a:defRPr/>
                      </a:pPr>
                      <a:r>
                        <a:rPr lang="en-US" sz="2649">
                          <a:solidFill>
                            <a:srgbClr val="101828"/>
                          </a:solidFill>
                          <a:latin typeface="Helvetica World"/>
                          <a:ea typeface="Helvetica World"/>
                          <a:cs typeface="Helvetica World"/>
                          <a:sym typeface="Helvetica World"/>
                        </a:rPr>
                        <a:t>PPROT</a:t>
                      </a:r>
                      <a:endParaRPr lang="en-US" sz="1100"/>
                    </a:p>
                  </a:txBody>
                  <a:tcPr marL="66675" marR="66675" marT="66675" marB="66675" anchor="t">
                    <a:lnL cmpd="sng" algn="ctr" cap="flat" w="12700">
                      <a:solidFill>
                        <a:srgbClr val="2D5986"/>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3709"/>
                        </a:lnSpc>
                        <a:defRPr/>
                      </a:pPr>
                      <a:r>
                        <a:rPr lang="en-US" sz="2649">
                          <a:solidFill>
                            <a:srgbClr val="101828"/>
                          </a:solidFill>
                          <a:latin typeface="Helvetica World"/>
                          <a:ea typeface="Helvetica World"/>
                          <a:cs typeface="Helvetica World"/>
                          <a:sym typeface="Helvetica World"/>
                        </a:rPr>
                        <a:t>Remapped from HPROT bits</a:t>
                      </a:r>
                      <a:endParaRPr lang="en-US" sz="1100"/>
                    </a:p>
                  </a:txBody>
                  <a:tcPr marL="66675" marR="66675" marT="66675" marB="66675" anchor="t">
                    <a:lnL cmpd="sng" algn="ctr" cap="flat" w="12700">
                      <a:solidFill>
                        <a:srgbClr val="C4C3BE"/>
                      </a:solidFill>
                      <a:prstDash val="solid"/>
                      <a:round/>
                      <a:headEnd type="none" w="med" len="med"/>
                      <a:tailEnd type="none" w="med" len="med"/>
                    </a:lnL>
                    <a:lnR cmpd="sng" algn="ctr" cap="flat" w="12700">
                      <a:solidFill>
                        <a:srgbClr val="2D5986"/>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r>
              <a:tr h="821250">
                <a:tc>
                  <a:txBody>
                    <a:bodyPr anchor="t" rtlCol="false"/>
                    <a:lstStyle/>
                    <a:p>
                      <a:pPr algn="l">
                        <a:lnSpc>
                          <a:spcPts val="3709"/>
                        </a:lnSpc>
                        <a:defRPr/>
                      </a:pPr>
                      <a:r>
                        <a:rPr lang="en-US" sz="2649">
                          <a:solidFill>
                            <a:srgbClr val="101828"/>
                          </a:solidFill>
                          <a:latin typeface="Helvetica World"/>
                          <a:ea typeface="Helvetica World"/>
                          <a:cs typeface="Helvetica World"/>
                          <a:sym typeface="Helvetica World"/>
                        </a:rPr>
                        <a:t>PSEL</a:t>
                      </a:r>
                      <a:endParaRPr lang="en-US" sz="1100"/>
                    </a:p>
                  </a:txBody>
                  <a:tcPr marL="66675" marR="66675" marT="66675" marB="66675" anchor="t">
                    <a:lnL cmpd="sng" algn="ctr" cap="flat" w="12700">
                      <a:solidFill>
                        <a:srgbClr val="2D5986"/>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c>
                  <a:txBody>
                    <a:bodyPr anchor="t" rtlCol="false"/>
                    <a:lstStyle/>
                    <a:p>
                      <a:pPr algn="l">
                        <a:lnSpc>
                          <a:spcPts val="3709"/>
                        </a:lnSpc>
                        <a:defRPr/>
                      </a:pPr>
                      <a:r>
                        <a:rPr lang="en-US" sz="2649">
                          <a:solidFill>
                            <a:srgbClr val="101828"/>
                          </a:solidFill>
                          <a:latin typeface="Helvetica World"/>
                          <a:ea typeface="Helvetica World"/>
                          <a:cs typeface="Helvetica World"/>
                          <a:sym typeface="Helvetica World"/>
                        </a:rPr>
                        <a:t>HSEL and HTRANS[1]</a:t>
                      </a:r>
                      <a:endParaRPr lang="en-US" sz="1100"/>
                    </a:p>
                  </a:txBody>
                  <a:tcPr marL="66675" marR="66675" marT="66675" marB="66675" anchor="t">
                    <a:lnL cmpd="sng" algn="ctr" cap="flat" w="12700">
                      <a:solidFill>
                        <a:srgbClr val="C4C3BE"/>
                      </a:solidFill>
                      <a:prstDash val="solid"/>
                      <a:round/>
                      <a:headEnd type="none" w="med" len="med"/>
                      <a:tailEnd type="none" w="med" len="med"/>
                    </a:lnL>
                    <a:lnR cmpd="sng" algn="ctr" cap="flat" w="12700">
                      <a:solidFill>
                        <a:srgbClr val="2D5986"/>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C4C3BE"/>
                      </a:solidFill>
                      <a:prstDash val="solid"/>
                      <a:round/>
                      <a:headEnd type="none" w="med" len="med"/>
                      <a:tailEnd type="none" w="med" len="med"/>
                    </a:lnB>
                  </a:tcPr>
                </a:tc>
              </a:tr>
              <a:tr h="821250">
                <a:tc>
                  <a:txBody>
                    <a:bodyPr anchor="t" rtlCol="false"/>
                    <a:lstStyle/>
                    <a:p>
                      <a:pPr algn="l">
                        <a:lnSpc>
                          <a:spcPts val="3709"/>
                        </a:lnSpc>
                        <a:defRPr/>
                      </a:pPr>
                      <a:r>
                        <a:rPr lang="en-US" sz="2649">
                          <a:solidFill>
                            <a:srgbClr val="101828"/>
                          </a:solidFill>
                          <a:latin typeface="Helvetica World"/>
                          <a:ea typeface="Helvetica World"/>
                          <a:cs typeface="Helvetica World"/>
                          <a:sym typeface="Helvetica World"/>
                        </a:rPr>
                        <a:t>PSTRB</a:t>
                      </a:r>
                      <a:endParaRPr lang="en-US" sz="1100"/>
                    </a:p>
                  </a:txBody>
                  <a:tcPr marL="66675" marR="66675" marT="66675" marB="66675" anchor="t">
                    <a:lnL cmpd="sng" algn="ctr" cap="flat" w="12700">
                      <a:solidFill>
                        <a:srgbClr val="2D5986"/>
                      </a:solidFill>
                      <a:prstDash val="solid"/>
                      <a:round/>
                      <a:headEnd type="none" w="med" len="med"/>
                      <a:tailEnd type="none" w="med" len="med"/>
                    </a:lnL>
                    <a:lnR cmpd="sng" algn="ctr" cap="flat" w="12700">
                      <a:solidFill>
                        <a:srgbClr val="C4C3BE"/>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2D5986"/>
                      </a:solidFill>
                      <a:prstDash val="solid"/>
                      <a:round/>
                      <a:headEnd type="none" w="med" len="med"/>
                      <a:tailEnd type="none" w="med" len="med"/>
                    </a:lnB>
                  </a:tcPr>
                </a:tc>
                <a:tc>
                  <a:txBody>
                    <a:bodyPr anchor="t" rtlCol="false"/>
                    <a:lstStyle/>
                    <a:p>
                      <a:pPr algn="l">
                        <a:lnSpc>
                          <a:spcPts val="3709"/>
                        </a:lnSpc>
                        <a:defRPr/>
                      </a:pPr>
                      <a:r>
                        <a:rPr lang="en-US" sz="2649">
                          <a:solidFill>
                            <a:srgbClr val="101828"/>
                          </a:solidFill>
                          <a:latin typeface="Helvetica World"/>
                          <a:ea typeface="Helvetica World"/>
                          <a:cs typeface="Helvetica World"/>
                          <a:sym typeface="Helvetica World"/>
                        </a:rPr>
                        <a:t>From HSIZE and HADDR[1:0] on writes, else 0</a:t>
                      </a:r>
                      <a:endParaRPr lang="en-US" sz="1100"/>
                    </a:p>
                  </a:txBody>
                  <a:tcPr marL="66675" marR="66675" marT="66675" marB="66675" anchor="t">
                    <a:lnL cmpd="sng" algn="ctr" cap="flat" w="12700">
                      <a:solidFill>
                        <a:srgbClr val="C4C3BE"/>
                      </a:solidFill>
                      <a:prstDash val="solid"/>
                      <a:round/>
                      <a:headEnd type="none" w="med" len="med"/>
                      <a:tailEnd type="none" w="med" len="med"/>
                    </a:lnL>
                    <a:lnR cmpd="sng" algn="ctr" cap="flat" w="12700">
                      <a:solidFill>
                        <a:srgbClr val="2D5986"/>
                      </a:solidFill>
                      <a:prstDash val="solid"/>
                      <a:round/>
                      <a:headEnd type="none" w="med" len="med"/>
                      <a:tailEnd type="none" w="med" len="med"/>
                    </a:lnR>
                    <a:lnT cmpd="sng" algn="ctr" cap="flat" w="12700">
                      <a:solidFill>
                        <a:srgbClr val="C4C3BE"/>
                      </a:solidFill>
                      <a:prstDash val="solid"/>
                      <a:round/>
                      <a:headEnd type="none" w="med" len="med"/>
                      <a:tailEnd type="none" w="med" len="med"/>
                    </a:lnT>
                    <a:lnB cmpd="sng" algn="ctr" cap="flat" w="12700">
                      <a:solidFill>
                        <a:srgbClr val="2D5986"/>
                      </a:solidFill>
                      <a:prstDash val="solid"/>
                      <a:round/>
                      <a:headEnd type="none" w="med" len="med"/>
                      <a:tailEnd type="none" w="med" len="med"/>
                    </a:lnB>
                  </a:tcPr>
                </a:tc>
              </a:tr>
            </a:tbl>
          </a:graphicData>
        </a:graphic>
      </p:graphicFrame>
      <p:sp>
        <p:nvSpPr>
          <p:cNvPr name="TextBox 3" id="3"/>
          <p:cNvSpPr txBox="true"/>
          <p:nvPr/>
        </p:nvSpPr>
        <p:spPr>
          <a:xfrm rot="0">
            <a:off x="1028700" y="8150976"/>
            <a:ext cx="16325088" cy="456565"/>
          </a:xfrm>
          <a:prstGeom prst="rect">
            <a:avLst/>
          </a:prstGeom>
        </p:spPr>
        <p:txBody>
          <a:bodyPr anchor="t" rtlCol="false" tIns="0" lIns="0" bIns="0" rIns="0">
            <a:spAutoFit/>
          </a:bodyPr>
          <a:lstStyle/>
          <a:p>
            <a:pPr algn="l" marL="572133" indent="-286066" lvl="1">
              <a:lnSpc>
                <a:spcPts val="3709"/>
              </a:lnSpc>
              <a:buFont typeface="Arial"/>
              <a:buChar char="•"/>
            </a:pPr>
            <a:r>
              <a:rPr lang="en-US" sz="2649">
                <a:solidFill>
                  <a:srgbClr val="101828"/>
                </a:solidFill>
                <a:latin typeface="Helvetica World"/>
                <a:ea typeface="Helvetica World"/>
                <a:cs typeface="Helvetica World"/>
                <a:sym typeface="Helvetica World"/>
              </a:rPr>
              <a:t>Only items with PSEL high are sent on to the comparator.</a:t>
            </a:r>
          </a:p>
        </p:txBody>
      </p:sp>
      <p:sp>
        <p:nvSpPr>
          <p:cNvPr name="TextBox 4" id="4"/>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APB Predictor</a:t>
            </a:r>
          </a:p>
        </p:txBody>
      </p:sp>
      <p:grpSp>
        <p:nvGrpSpPr>
          <p:cNvPr name="Group 5" id="5"/>
          <p:cNvGrpSpPr/>
          <p:nvPr/>
        </p:nvGrpSpPr>
        <p:grpSpPr>
          <a:xfrm rot="0">
            <a:off x="157086" y="9885045"/>
            <a:ext cx="10972800" cy="411480"/>
            <a:chOff x="0" y="0"/>
            <a:chExt cx="14630400" cy="548640"/>
          </a:xfrm>
        </p:grpSpPr>
        <p:sp>
          <p:nvSpPr>
            <p:cNvPr name="Freeform 6" id="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7" id="7"/>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8" id="8"/>
          <p:cNvGrpSpPr/>
          <p:nvPr/>
        </p:nvGrpSpPr>
        <p:grpSpPr>
          <a:xfrm rot="0">
            <a:off x="16911828" y="9710928"/>
            <a:ext cx="685800" cy="411480"/>
            <a:chOff x="0" y="0"/>
            <a:chExt cx="914400" cy="548640"/>
          </a:xfrm>
        </p:grpSpPr>
        <p:sp>
          <p:nvSpPr>
            <p:cNvPr name="Freeform 9" id="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10" id="10"/>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19</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grpSp>
        <p:nvGrpSpPr>
          <p:cNvPr name="Group 2" id="2"/>
          <p:cNvGrpSpPr/>
          <p:nvPr/>
        </p:nvGrpSpPr>
        <p:grpSpPr>
          <a:xfrm rot="0">
            <a:off x="395675" y="2998470"/>
            <a:ext cx="5903445" cy="2935534"/>
            <a:chOff x="0" y="0"/>
            <a:chExt cx="6773228" cy="3368040"/>
          </a:xfrm>
        </p:grpSpPr>
        <p:sp>
          <p:nvSpPr>
            <p:cNvPr name="Freeform 3" id="3"/>
            <p:cNvSpPr/>
            <p:nvPr/>
          </p:nvSpPr>
          <p:spPr>
            <a:xfrm flipH="false" flipV="false" rot="0">
              <a:off x="0" y="0"/>
              <a:ext cx="6773291" cy="3368040"/>
            </a:xfrm>
            <a:custGeom>
              <a:avLst/>
              <a:gdLst/>
              <a:ahLst/>
              <a:cxnLst/>
              <a:rect r="r" b="b" t="t" l="l"/>
              <a:pathLst>
                <a:path h="3368040" w="6773291">
                  <a:moveTo>
                    <a:pt x="0" y="203200"/>
                  </a:moveTo>
                  <a:cubicBezTo>
                    <a:pt x="0" y="90932"/>
                    <a:pt x="90932" y="0"/>
                    <a:pt x="203200" y="0"/>
                  </a:cubicBezTo>
                  <a:lnTo>
                    <a:pt x="6570091" y="0"/>
                  </a:lnTo>
                  <a:cubicBezTo>
                    <a:pt x="6682360" y="0"/>
                    <a:pt x="6773291" y="90932"/>
                    <a:pt x="6773291" y="203200"/>
                  </a:cubicBezTo>
                  <a:lnTo>
                    <a:pt x="6773291" y="3164840"/>
                  </a:lnTo>
                  <a:cubicBezTo>
                    <a:pt x="6773291" y="3277108"/>
                    <a:pt x="6682360" y="3368040"/>
                    <a:pt x="6570091" y="3368040"/>
                  </a:cubicBezTo>
                  <a:lnTo>
                    <a:pt x="203200" y="3368040"/>
                  </a:lnTo>
                  <a:cubicBezTo>
                    <a:pt x="90932" y="3368040"/>
                    <a:pt x="0" y="3277108"/>
                    <a:pt x="0" y="3164840"/>
                  </a:cubicBezTo>
                  <a:close/>
                </a:path>
              </a:pathLst>
            </a:custGeom>
            <a:solidFill>
              <a:srgbClr val="2D5986"/>
            </a:solidFill>
          </p:spPr>
        </p:sp>
      </p:grpSp>
      <p:sp>
        <p:nvSpPr>
          <p:cNvPr name="TextBox 4" id="4"/>
          <p:cNvSpPr txBox="true"/>
          <p:nvPr/>
        </p:nvSpPr>
        <p:spPr>
          <a:xfrm rot="0">
            <a:off x="763171" y="3148410"/>
            <a:ext cx="5168455" cy="550545"/>
          </a:xfrm>
          <a:prstGeom prst="rect">
            <a:avLst/>
          </a:prstGeom>
        </p:spPr>
        <p:txBody>
          <a:bodyPr anchor="t" rtlCol="false" tIns="0" lIns="0" bIns="0" rIns="0">
            <a:spAutoFit/>
          </a:bodyPr>
          <a:lstStyle/>
          <a:p>
            <a:pPr algn="l">
              <a:lnSpc>
                <a:spcPts val="4005"/>
              </a:lnSpc>
            </a:pPr>
            <a:r>
              <a:rPr lang="en-US" sz="3337" b="true">
                <a:solidFill>
                  <a:srgbClr val="F6F4EE"/>
                </a:solidFill>
                <a:latin typeface="Helvetica World Bold"/>
                <a:ea typeface="Helvetica World Bold"/>
                <a:cs typeface="Helvetica World Bold"/>
                <a:sym typeface="Helvetica World Bold"/>
              </a:rPr>
              <a:t>Collect</a:t>
            </a:r>
          </a:p>
        </p:txBody>
      </p:sp>
      <p:sp>
        <p:nvSpPr>
          <p:cNvPr name="TextBox 5" id="5"/>
          <p:cNvSpPr txBox="true"/>
          <p:nvPr/>
        </p:nvSpPr>
        <p:spPr>
          <a:xfrm rot="0">
            <a:off x="838441" y="4039378"/>
            <a:ext cx="5168455" cy="1031234"/>
          </a:xfrm>
          <a:prstGeom prst="rect">
            <a:avLst/>
          </a:prstGeom>
        </p:spPr>
        <p:txBody>
          <a:bodyPr anchor="t" rtlCol="false" tIns="0" lIns="0" bIns="0" rIns="0">
            <a:spAutoFit/>
          </a:bodyPr>
          <a:lstStyle/>
          <a:p>
            <a:pPr algn="l">
              <a:lnSpc>
                <a:spcPts val="3660"/>
              </a:lnSpc>
            </a:pPr>
            <a:r>
              <a:rPr lang="en-US" sz="2614">
                <a:solidFill>
                  <a:srgbClr val="F6F4EE"/>
                </a:solidFill>
                <a:latin typeface="Helvetica World"/>
                <a:ea typeface="Helvetica World"/>
                <a:cs typeface="Helvetica World"/>
                <a:sym typeface="Helvetica World"/>
              </a:rPr>
              <a:t>Four analysis FIFOs: expected and actual, for AHB and for APB</a:t>
            </a:r>
          </a:p>
        </p:txBody>
      </p:sp>
      <p:grpSp>
        <p:nvGrpSpPr>
          <p:cNvPr name="Group 6" id="6"/>
          <p:cNvGrpSpPr/>
          <p:nvPr/>
        </p:nvGrpSpPr>
        <p:grpSpPr>
          <a:xfrm rot="0">
            <a:off x="6457813" y="2998470"/>
            <a:ext cx="5669537" cy="2819158"/>
            <a:chOff x="0" y="0"/>
            <a:chExt cx="6773380" cy="3368040"/>
          </a:xfrm>
        </p:grpSpPr>
        <p:sp>
          <p:nvSpPr>
            <p:cNvPr name="Freeform 7" id="7"/>
            <p:cNvSpPr/>
            <p:nvPr/>
          </p:nvSpPr>
          <p:spPr>
            <a:xfrm flipH="false" flipV="false" rot="0">
              <a:off x="0" y="0"/>
              <a:ext cx="6773418" cy="3368040"/>
            </a:xfrm>
            <a:custGeom>
              <a:avLst/>
              <a:gdLst/>
              <a:ahLst/>
              <a:cxnLst/>
              <a:rect r="r" b="b" t="t" l="l"/>
              <a:pathLst>
                <a:path h="3368040" w="6773418">
                  <a:moveTo>
                    <a:pt x="0" y="203200"/>
                  </a:moveTo>
                  <a:cubicBezTo>
                    <a:pt x="0" y="90932"/>
                    <a:pt x="90932" y="0"/>
                    <a:pt x="203200" y="0"/>
                  </a:cubicBezTo>
                  <a:lnTo>
                    <a:pt x="6570218" y="0"/>
                  </a:lnTo>
                  <a:cubicBezTo>
                    <a:pt x="6682487" y="0"/>
                    <a:pt x="6773418" y="90932"/>
                    <a:pt x="6773418" y="203200"/>
                  </a:cubicBezTo>
                  <a:lnTo>
                    <a:pt x="6773418" y="3164840"/>
                  </a:lnTo>
                  <a:cubicBezTo>
                    <a:pt x="6773418" y="3277108"/>
                    <a:pt x="6682487" y="3368040"/>
                    <a:pt x="6570218" y="3368040"/>
                  </a:cubicBezTo>
                  <a:lnTo>
                    <a:pt x="203200" y="3368040"/>
                  </a:lnTo>
                  <a:cubicBezTo>
                    <a:pt x="90932" y="3368040"/>
                    <a:pt x="0" y="3277108"/>
                    <a:pt x="0" y="3164840"/>
                  </a:cubicBezTo>
                  <a:close/>
                </a:path>
              </a:pathLst>
            </a:custGeom>
            <a:solidFill>
              <a:srgbClr val="2D5986"/>
            </a:solidFill>
          </p:spPr>
        </p:sp>
      </p:grpSp>
      <p:sp>
        <p:nvSpPr>
          <p:cNvPr name="TextBox 8" id="8"/>
          <p:cNvSpPr txBox="true"/>
          <p:nvPr/>
        </p:nvSpPr>
        <p:spPr>
          <a:xfrm rot="0">
            <a:off x="6883025" y="3172807"/>
            <a:ext cx="4963695" cy="501751"/>
          </a:xfrm>
          <a:prstGeom prst="rect">
            <a:avLst/>
          </a:prstGeom>
        </p:spPr>
        <p:txBody>
          <a:bodyPr anchor="t" rtlCol="false" tIns="0" lIns="0" bIns="0" rIns="0">
            <a:spAutoFit/>
          </a:bodyPr>
          <a:lstStyle/>
          <a:p>
            <a:pPr algn="l">
              <a:lnSpc>
                <a:spcPts val="3615"/>
              </a:lnSpc>
            </a:pPr>
            <a:r>
              <a:rPr lang="en-US" sz="3013" b="true">
                <a:solidFill>
                  <a:srgbClr val="F6F4EE"/>
                </a:solidFill>
                <a:latin typeface="Helvetica World Bold"/>
                <a:ea typeface="Helvetica World Bold"/>
                <a:cs typeface="Helvetica World Bold"/>
                <a:sym typeface="Helvetica World Bold"/>
              </a:rPr>
              <a:t>Compare</a:t>
            </a:r>
          </a:p>
        </p:txBody>
      </p:sp>
      <p:sp>
        <p:nvSpPr>
          <p:cNvPr name="TextBox 9" id="9"/>
          <p:cNvSpPr txBox="true"/>
          <p:nvPr/>
        </p:nvSpPr>
        <p:spPr>
          <a:xfrm rot="0">
            <a:off x="6883025" y="4005372"/>
            <a:ext cx="4963695" cy="1429565"/>
          </a:xfrm>
          <a:prstGeom prst="rect">
            <a:avLst/>
          </a:prstGeom>
        </p:spPr>
        <p:txBody>
          <a:bodyPr anchor="t" rtlCol="false" tIns="0" lIns="0" bIns="0" rIns="0">
            <a:spAutoFit/>
          </a:bodyPr>
          <a:lstStyle/>
          <a:p>
            <a:pPr algn="l">
              <a:lnSpc>
                <a:spcPts val="3515"/>
              </a:lnSpc>
            </a:pPr>
            <a:r>
              <a:rPr lang="en-US" sz="2511">
                <a:solidFill>
                  <a:srgbClr val="F6F4EE"/>
                </a:solidFill>
                <a:latin typeface="Helvetica World"/>
                <a:ea typeface="Helvetica World"/>
                <a:cs typeface="Helvetica World"/>
                <a:sym typeface="Helvetica World"/>
              </a:rPr>
              <a:t>run_phase takes one item from each FIFO and calls compare on each pair</a:t>
            </a:r>
          </a:p>
        </p:txBody>
      </p:sp>
      <p:grpSp>
        <p:nvGrpSpPr>
          <p:cNvPr name="Group 10" id="10"/>
          <p:cNvGrpSpPr/>
          <p:nvPr/>
        </p:nvGrpSpPr>
        <p:grpSpPr>
          <a:xfrm rot="0">
            <a:off x="12289275" y="2998470"/>
            <a:ext cx="5669537" cy="2819158"/>
            <a:chOff x="0" y="0"/>
            <a:chExt cx="6773380" cy="3368040"/>
          </a:xfrm>
        </p:grpSpPr>
        <p:sp>
          <p:nvSpPr>
            <p:cNvPr name="Freeform 11" id="11"/>
            <p:cNvSpPr/>
            <p:nvPr/>
          </p:nvSpPr>
          <p:spPr>
            <a:xfrm flipH="false" flipV="false" rot="0">
              <a:off x="0" y="0"/>
              <a:ext cx="6773418" cy="3368040"/>
            </a:xfrm>
            <a:custGeom>
              <a:avLst/>
              <a:gdLst/>
              <a:ahLst/>
              <a:cxnLst/>
              <a:rect r="r" b="b" t="t" l="l"/>
              <a:pathLst>
                <a:path h="3368040" w="6773418">
                  <a:moveTo>
                    <a:pt x="0" y="203200"/>
                  </a:moveTo>
                  <a:cubicBezTo>
                    <a:pt x="0" y="90932"/>
                    <a:pt x="90932" y="0"/>
                    <a:pt x="203200" y="0"/>
                  </a:cubicBezTo>
                  <a:lnTo>
                    <a:pt x="6570218" y="0"/>
                  </a:lnTo>
                  <a:cubicBezTo>
                    <a:pt x="6682487" y="0"/>
                    <a:pt x="6773418" y="90932"/>
                    <a:pt x="6773418" y="203200"/>
                  </a:cubicBezTo>
                  <a:lnTo>
                    <a:pt x="6773418" y="3164840"/>
                  </a:lnTo>
                  <a:cubicBezTo>
                    <a:pt x="6773418" y="3277108"/>
                    <a:pt x="6682487" y="3368040"/>
                    <a:pt x="6570218" y="3368040"/>
                  </a:cubicBezTo>
                  <a:lnTo>
                    <a:pt x="203200" y="3368040"/>
                  </a:lnTo>
                  <a:cubicBezTo>
                    <a:pt x="90932" y="3368040"/>
                    <a:pt x="0" y="3277108"/>
                    <a:pt x="0" y="3164840"/>
                  </a:cubicBezTo>
                  <a:close/>
                </a:path>
              </a:pathLst>
            </a:custGeom>
            <a:solidFill>
              <a:srgbClr val="2D5986"/>
            </a:solidFill>
          </p:spPr>
        </p:sp>
      </p:grpSp>
      <p:sp>
        <p:nvSpPr>
          <p:cNvPr name="TextBox 12" id="12"/>
          <p:cNvSpPr txBox="true"/>
          <p:nvPr/>
        </p:nvSpPr>
        <p:spPr>
          <a:xfrm rot="0">
            <a:off x="12642196" y="3172807"/>
            <a:ext cx="4963695" cy="501751"/>
          </a:xfrm>
          <a:prstGeom prst="rect">
            <a:avLst/>
          </a:prstGeom>
        </p:spPr>
        <p:txBody>
          <a:bodyPr anchor="t" rtlCol="false" tIns="0" lIns="0" bIns="0" rIns="0">
            <a:spAutoFit/>
          </a:bodyPr>
          <a:lstStyle/>
          <a:p>
            <a:pPr algn="l">
              <a:lnSpc>
                <a:spcPts val="3615"/>
              </a:lnSpc>
            </a:pPr>
            <a:r>
              <a:rPr lang="en-US" sz="3013" b="true">
                <a:solidFill>
                  <a:srgbClr val="F6F4EE"/>
                </a:solidFill>
                <a:latin typeface="Helvetica World Bold"/>
                <a:ea typeface="Helvetica World Bold"/>
                <a:cs typeface="Helvetica World Bold"/>
                <a:sym typeface="Helvetica World Bold"/>
              </a:rPr>
              <a:t>Report</a:t>
            </a:r>
          </a:p>
        </p:txBody>
      </p:sp>
      <p:sp>
        <p:nvSpPr>
          <p:cNvPr name="TextBox 13" id="13"/>
          <p:cNvSpPr txBox="true"/>
          <p:nvPr/>
        </p:nvSpPr>
        <p:spPr>
          <a:xfrm rot="0">
            <a:off x="12714487" y="4005372"/>
            <a:ext cx="4963695" cy="1429565"/>
          </a:xfrm>
          <a:prstGeom prst="rect">
            <a:avLst/>
          </a:prstGeom>
        </p:spPr>
        <p:txBody>
          <a:bodyPr anchor="t" rtlCol="false" tIns="0" lIns="0" bIns="0" rIns="0">
            <a:spAutoFit/>
          </a:bodyPr>
          <a:lstStyle/>
          <a:p>
            <a:pPr algn="l">
              <a:lnSpc>
                <a:spcPts val="3515"/>
              </a:lnSpc>
            </a:pPr>
            <a:r>
              <a:rPr lang="en-US" sz="2511">
                <a:solidFill>
                  <a:srgbClr val="F6F4EE"/>
                </a:solidFill>
                <a:latin typeface="Helvetica World"/>
                <a:ea typeface="Helvetica World"/>
                <a:cs typeface="Helvetica World"/>
                <a:sym typeface="Helvetica World"/>
              </a:rPr>
              <a:t>Pass and fail counts with pass rate per bus, then an overall verdict</a:t>
            </a:r>
          </a:p>
        </p:txBody>
      </p:sp>
      <p:sp>
        <p:nvSpPr>
          <p:cNvPr name="TextBox 14" id="14"/>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Comparator</a:t>
            </a:r>
          </a:p>
        </p:txBody>
      </p:sp>
      <p:grpSp>
        <p:nvGrpSpPr>
          <p:cNvPr name="Group 15" id="15"/>
          <p:cNvGrpSpPr/>
          <p:nvPr/>
        </p:nvGrpSpPr>
        <p:grpSpPr>
          <a:xfrm rot="0">
            <a:off x="16911828" y="9710928"/>
            <a:ext cx="685800" cy="411480"/>
            <a:chOff x="0" y="0"/>
            <a:chExt cx="914400" cy="548640"/>
          </a:xfrm>
        </p:grpSpPr>
        <p:sp>
          <p:nvSpPr>
            <p:cNvPr name="Freeform 16" id="1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17" id="1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F6F4EE"/>
                  </a:solidFill>
                  <a:latin typeface="Calibri (MS)"/>
                  <a:ea typeface="Calibri (MS)"/>
                  <a:cs typeface="Calibri (MS)"/>
                  <a:sym typeface="Calibri (MS)"/>
                </a:rPr>
                <a:t>19</a:t>
              </a:r>
            </a:p>
          </p:txBody>
        </p:sp>
      </p:grpSp>
      <p:grpSp>
        <p:nvGrpSpPr>
          <p:cNvPr name="Group 18" id="18"/>
          <p:cNvGrpSpPr/>
          <p:nvPr/>
        </p:nvGrpSpPr>
        <p:grpSpPr>
          <a:xfrm rot="0">
            <a:off x="309486" y="9897618"/>
            <a:ext cx="10972800" cy="411480"/>
            <a:chOff x="0" y="0"/>
            <a:chExt cx="14630400" cy="548640"/>
          </a:xfrm>
        </p:grpSpPr>
        <p:sp>
          <p:nvSpPr>
            <p:cNvPr name="Freeform 19" id="1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20" id="20"/>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21" id="21"/>
          <p:cNvGrpSpPr/>
          <p:nvPr/>
        </p:nvGrpSpPr>
        <p:grpSpPr>
          <a:xfrm rot="0">
            <a:off x="17064228" y="9863328"/>
            <a:ext cx="685800" cy="411480"/>
            <a:chOff x="0" y="0"/>
            <a:chExt cx="914400" cy="548640"/>
          </a:xfrm>
        </p:grpSpPr>
        <p:sp>
          <p:nvSpPr>
            <p:cNvPr name="Freeform 22" id="2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23" id="23"/>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20</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TextBox 2" id="2"/>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Assertions </a:t>
            </a:r>
          </a:p>
        </p:txBody>
      </p:sp>
      <p:grpSp>
        <p:nvGrpSpPr>
          <p:cNvPr name="Group 3" id="3"/>
          <p:cNvGrpSpPr/>
          <p:nvPr/>
        </p:nvGrpSpPr>
        <p:grpSpPr>
          <a:xfrm rot="0">
            <a:off x="685800" y="9710928"/>
            <a:ext cx="10972800" cy="411480"/>
            <a:chOff x="0" y="0"/>
            <a:chExt cx="14630400" cy="548640"/>
          </a:xfrm>
        </p:grpSpPr>
        <p:sp>
          <p:nvSpPr>
            <p:cNvPr name="Freeform 4" id="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5" id="5"/>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6" id="6"/>
          <p:cNvGrpSpPr/>
          <p:nvPr/>
        </p:nvGrpSpPr>
        <p:grpSpPr>
          <a:xfrm rot="0">
            <a:off x="16911828" y="9710928"/>
            <a:ext cx="685800" cy="411480"/>
            <a:chOff x="0" y="0"/>
            <a:chExt cx="914400" cy="548640"/>
          </a:xfrm>
        </p:grpSpPr>
        <p:sp>
          <p:nvSpPr>
            <p:cNvPr name="Freeform 7" id="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8" id="8"/>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21</a:t>
              </a:r>
            </a:p>
          </p:txBody>
        </p:sp>
      </p:grpSp>
      <p:sp>
        <p:nvSpPr>
          <p:cNvPr name="Freeform 9" id="9"/>
          <p:cNvSpPr/>
          <p:nvPr/>
        </p:nvSpPr>
        <p:spPr>
          <a:xfrm flipH="false" flipV="false" rot="0">
            <a:off x="16084009" y="-161685"/>
            <a:ext cx="4407982" cy="1407455"/>
          </a:xfrm>
          <a:custGeom>
            <a:avLst/>
            <a:gdLst/>
            <a:ahLst/>
            <a:cxnLst/>
            <a:rect r="r" b="b" t="t" l="l"/>
            <a:pathLst>
              <a:path h="1407455" w="4407982">
                <a:moveTo>
                  <a:pt x="0" y="0"/>
                </a:moveTo>
                <a:lnTo>
                  <a:pt x="4407982" y="0"/>
                </a:lnTo>
                <a:lnTo>
                  <a:pt x="4407982" y="1407455"/>
                </a:lnTo>
                <a:lnTo>
                  <a:pt x="0" y="14074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2131520" y="1645820"/>
            <a:ext cx="6964084" cy="3497680"/>
            <a:chOff x="0" y="0"/>
            <a:chExt cx="6786880" cy="3408680"/>
          </a:xfrm>
        </p:grpSpPr>
        <p:sp>
          <p:nvSpPr>
            <p:cNvPr name="Freeform 11" id="11"/>
            <p:cNvSpPr/>
            <p:nvPr/>
          </p:nvSpPr>
          <p:spPr>
            <a:xfrm flipH="false" flipV="false" rot="0">
              <a:off x="0" y="0"/>
              <a:ext cx="6786880" cy="3408680"/>
            </a:xfrm>
            <a:custGeom>
              <a:avLst/>
              <a:gdLst/>
              <a:ahLst/>
              <a:cxnLst/>
              <a:rect r="r" b="b" t="t" l="l"/>
              <a:pathLst>
                <a:path h="3408680" w="6786880">
                  <a:moveTo>
                    <a:pt x="0" y="191897"/>
                  </a:moveTo>
                  <a:cubicBezTo>
                    <a:pt x="0" y="85979"/>
                    <a:pt x="85979" y="0"/>
                    <a:pt x="191897" y="0"/>
                  </a:cubicBezTo>
                  <a:lnTo>
                    <a:pt x="6594983" y="0"/>
                  </a:lnTo>
                  <a:cubicBezTo>
                    <a:pt x="6701027" y="0"/>
                    <a:pt x="6786880" y="85979"/>
                    <a:pt x="6786880" y="191897"/>
                  </a:cubicBezTo>
                  <a:lnTo>
                    <a:pt x="6786880" y="3216783"/>
                  </a:lnTo>
                  <a:cubicBezTo>
                    <a:pt x="6786880" y="3322828"/>
                    <a:pt x="6700901" y="3408680"/>
                    <a:pt x="6594983" y="3408680"/>
                  </a:cubicBezTo>
                  <a:lnTo>
                    <a:pt x="191897" y="3408680"/>
                  </a:lnTo>
                  <a:cubicBezTo>
                    <a:pt x="85979" y="3408680"/>
                    <a:pt x="0" y="3322701"/>
                    <a:pt x="0" y="3216783"/>
                  </a:cubicBezTo>
                  <a:close/>
                </a:path>
              </a:pathLst>
            </a:custGeom>
            <a:solidFill>
              <a:srgbClr val="DCE3EC"/>
            </a:solidFill>
            <a:ln w="19050" cap="sq">
              <a:solidFill>
                <a:srgbClr val="D8D4C8"/>
              </a:solidFill>
              <a:prstDash val="solid"/>
              <a:miter/>
            </a:ln>
          </p:spPr>
        </p:sp>
      </p:grpSp>
      <p:sp>
        <p:nvSpPr>
          <p:cNvPr name="TextBox 12" id="12"/>
          <p:cNvSpPr txBox="true"/>
          <p:nvPr/>
        </p:nvSpPr>
        <p:spPr>
          <a:xfrm rot="0">
            <a:off x="2437829" y="1848516"/>
            <a:ext cx="5337171" cy="595225"/>
          </a:xfrm>
          <a:prstGeom prst="rect">
            <a:avLst/>
          </a:prstGeom>
        </p:spPr>
        <p:txBody>
          <a:bodyPr anchor="t" rtlCol="false" tIns="0" lIns="0" bIns="0" rIns="0">
            <a:spAutoFit/>
          </a:bodyPr>
          <a:lstStyle/>
          <a:p>
            <a:pPr algn="l">
              <a:lnSpc>
                <a:spcPts val="4629"/>
              </a:lnSpc>
            </a:pPr>
            <a:r>
              <a:rPr lang="en-US" sz="3858">
                <a:solidFill>
                  <a:srgbClr val="2D5986"/>
                </a:solidFill>
                <a:latin typeface="Anton"/>
                <a:ea typeface="Anton"/>
                <a:cs typeface="Anton"/>
                <a:sym typeface="Anton"/>
              </a:rPr>
              <a:t>1. Phases  legality</a:t>
            </a:r>
          </a:p>
        </p:txBody>
      </p:sp>
      <p:sp>
        <p:nvSpPr>
          <p:cNvPr name="TextBox 13" id="13"/>
          <p:cNvSpPr txBox="true"/>
          <p:nvPr/>
        </p:nvSpPr>
        <p:spPr>
          <a:xfrm rot="0">
            <a:off x="2551754" y="2787656"/>
            <a:ext cx="6504712" cy="2621955"/>
          </a:xfrm>
          <a:prstGeom prst="rect">
            <a:avLst/>
          </a:prstGeom>
        </p:spPr>
        <p:txBody>
          <a:bodyPr anchor="t" rtlCol="false" tIns="0" lIns="0" bIns="0" rIns="0">
            <a:spAutoFit/>
          </a:bodyPr>
          <a:lstStyle/>
          <a:p>
            <a:pPr algn="l">
              <a:lnSpc>
                <a:spcPts val="5148"/>
              </a:lnSpc>
            </a:pPr>
            <a:r>
              <a:rPr lang="en-US" sz="3677">
                <a:solidFill>
                  <a:srgbClr val="101828"/>
                </a:solidFill>
                <a:latin typeface="Calibri (MS)"/>
                <a:ea typeface="Calibri (MS)"/>
                <a:cs typeface="Calibri (MS)"/>
                <a:sym typeface="Calibri (MS)"/>
              </a:rPr>
              <a:t>SETUP/ACCESS legality, PREADY completion, signals stable during wait states</a:t>
            </a:r>
          </a:p>
          <a:p>
            <a:pPr algn="l">
              <a:lnSpc>
                <a:spcPts val="5148"/>
              </a:lnSpc>
            </a:pPr>
          </a:p>
        </p:txBody>
      </p:sp>
      <p:grpSp>
        <p:nvGrpSpPr>
          <p:cNvPr name="Group 14" id="14"/>
          <p:cNvGrpSpPr/>
          <p:nvPr/>
        </p:nvGrpSpPr>
        <p:grpSpPr>
          <a:xfrm rot="0">
            <a:off x="9192396" y="1645820"/>
            <a:ext cx="6964084" cy="3497680"/>
            <a:chOff x="0" y="0"/>
            <a:chExt cx="6786880" cy="3408680"/>
          </a:xfrm>
        </p:grpSpPr>
        <p:sp>
          <p:nvSpPr>
            <p:cNvPr name="Freeform 15" id="15"/>
            <p:cNvSpPr/>
            <p:nvPr/>
          </p:nvSpPr>
          <p:spPr>
            <a:xfrm flipH="false" flipV="false" rot="0">
              <a:off x="0" y="0"/>
              <a:ext cx="6786880" cy="3408680"/>
            </a:xfrm>
            <a:custGeom>
              <a:avLst/>
              <a:gdLst/>
              <a:ahLst/>
              <a:cxnLst/>
              <a:rect r="r" b="b" t="t" l="l"/>
              <a:pathLst>
                <a:path h="3408680" w="6786880">
                  <a:moveTo>
                    <a:pt x="0" y="191897"/>
                  </a:moveTo>
                  <a:cubicBezTo>
                    <a:pt x="0" y="85979"/>
                    <a:pt x="85979" y="0"/>
                    <a:pt x="191897" y="0"/>
                  </a:cubicBezTo>
                  <a:lnTo>
                    <a:pt x="6594983" y="0"/>
                  </a:lnTo>
                  <a:cubicBezTo>
                    <a:pt x="6701027" y="0"/>
                    <a:pt x="6786880" y="85979"/>
                    <a:pt x="6786880" y="191897"/>
                  </a:cubicBezTo>
                  <a:lnTo>
                    <a:pt x="6786880" y="3216783"/>
                  </a:lnTo>
                  <a:cubicBezTo>
                    <a:pt x="6786880" y="3322828"/>
                    <a:pt x="6700901" y="3408680"/>
                    <a:pt x="6594983" y="3408680"/>
                  </a:cubicBezTo>
                  <a:lnTo>
                    <a:pt x="191897" y="3408680"/>
                  </a:lnTo>
                  <a:cubicBezTo>
                    <a:pt x="85979" y="3408680"/>
                    <a:pt x="0" y="3322701"/>
                    <a:pt x="0" y="3216783"/>
                  </a:cubicBezTo>
                  <a:close/>
                </a:path>
              </a:pathLst>
            </a:custGeom>
            <a:solidFill>
              <a:srgbClr val="DCE3EC"/>
            </a:solidFill>
            <a:ln w="19050" cap="sq">
              <a:solidFill>
                <a:srgbClr val="D8D4C8"/>
              </a:solidFill>
              <a:prstDash val="solid"/>
              <a:miter/>
            </a:ln>
          </p:spPr>
        </p:sp>
      </p:grpSp>
      <p:sp>
        <p:nvSpPr>
          <p:cNvPr name="TextBox 16" id="16"/>
          <p:cNvSpPr txBox="true"/>
          <p:nvPr/>
        </p:nvSpPr>
        <p:spPr>
          <a:xfrm rot="0">
            <a:off x="9590926" y="1848516"/>
            <a:ext cx="5337171" cy="595225"/>
          </a:xfrm>
          <a:prstGeom prst="rect">
            <a:avLst/>
          </a:prstGeom>
        </p:spPr>
        <p:txBody>
          <a:bodyPr anchor="t" rtlCol="false" tIns="0" lIns="0" bIns="0" rIns="0">
            <a:spAutoFit/>
          </a:bodyPr>
          <a:lstStyle/>
          <a:p>
            <a:pPr algn="l">
              <a:lnSpc>
                <a:spcPts val="4629"/>
              </a:lnSpc>
            </a:pPr>
            <a:r>
              <a:rPr lang="en-US" sz="3858">
                <a:solidFill>
                  <a:srgbClr val="2D5986"/>
                </a:solidFill>
                <a:latin typeface="Anton"/>
                <a:ea typeface="Anton"/>
                <a:cs typeface="Anton"/>
                <a:sym typeface="Anton"/>
              </a:rPr>
              <a:t>2. AHB to APB tracking</a:t>
            </a:r>
          </a:p>
        </p:txBody>
      </p:sp>
      <p:sp>
        <p:nvSpPr>
          <p:cNvPr name="TextBox 17" id="17"/>
          <p:cNvSpPr txBox="true"/>
          <p:nvPr/>
        </p:nvSpPr>
        <p:spPr>
          <a:xfrm rot="0">
            <a:off x="9590926" y="2787656"/>
            <a:ext cx="5337171" cy="2640269"/>
          </a:xfrm>
          <a:prstGeom prst="rect">
            <a:avLst/>
          </a:prstGeom>
        </p:spPr>
        <p:txBody>
          <a:bodyPr anchor="t" rtlCol="false" tIns="0" lIns="0" bIns="0" rIns="0">
            <a:spAutoFit/>
          </a:bodyPr>
          <a:lstStyle/>
          <a:p>
            <a:pPr algn="l">
              <a:lnSpc>
                <a:spcPts val="5148"/>
              </a:lnSpc>
            </a:pPr>
            <a:r>
              <a:rPr lang="en-US" sz="3677">
                <a:solidFill>
                  <a:srgbClr val="101828"/>
                </a:solidFill>
                <a:latin typeface="Calibri (MS)"/>
                <a:ea typeface="Calibri (MS)"/>
                <a:cs typeface="Calibri (MS)"/>
                <a:sym typeface="Calibri (MS)"/>
              </a:rPr>
              <a:t>No phantom or duplicate APB request for an accepted AHB transfer</a:t>
            </a:r>
          </a:p>
          <a:p>
            <a:pPr algn="l">
              <a:lnSpc>
                <a:spcPts val="5148"/>
              </a:lnSpc>
            </a:pPr>
          </a:p>
        </p:txBody>
      </p:sp>
      <p:grpSp>
        <p:nvGrpSpPr>
          <p:cNvPr name="Group 18" id="18"/>
          <p:cNvGrpSpPr/>
          <p:nvPr/>
        </p:nvGrpSpPr>
        <p:grpSpPr>
          <a:xfrm rot="0">
            <a:off x="2131520" y="5543550"/>
            <a:ext cx="7012480" cy="3521987"/>
            <a:chOff x="0" y="0"/>
            <a:chExt cx="6786880" cy="3408680"/>
          </a:xfrm>
        </p:grpSpPr>
        <p:sp>
          <p:nvSpPr>
            <p:cNvPr name="Freeform 19" id="19"/>
            <p:cNvSpPr/>
            <p:nvPr/>
          </p:nvSpPr>
          <p:spPr>
            <a:xfrm flipH="false" flipV="false" rot="0">
              <a:off x="0" y="0"/>
              <a:ext cx="6786880" cy="3408680"/>
            </a:xfrm>
            <a:custGeom>
              <a:avLst/>
              <a:gdLst/>
              <a:ahLst/>
              <a:cxnLst/>
              <a:rect r="r" b="b" t="t" l="l"/>
              <a:pathLst>
                <a:path h="3408680" w="6786880">
                  <a:moveTo>
                    <a:pt x="0" y="191897"/>
                  </a:moveTo>
                  <a:cubicBezTo>
                    <a:pt x="0" y="85979"/>
                    <a:pt x="85979" y="0"/>
                    <a:pt x="191897" y="0"/>
                  </a:cubicBezTo>
                  <a:lnTo>
                    <a:pt x="6594983" y="0"/>
                  </a:lnTo>
                  <a:cubicBezTo>
                    <a:pt x="6701027" y="0"/>
                    <a:pt x="6786880" y="85979"/>
                    <a:pt x="6786880" y="191897"/>
                  </a:cubicBezTo>
                  <a:lnTo>
                    <a:pt x="6786880" y="3216783"/>
                  </a:lnTo>
                  <a:cubicBezTo>
                    <a:pt x="6786880" y="3322828"/>
                    <a:pt x="6700901" y="3408680"/>
                    <a:pt x="6594983" y="3408680"/>
                  </a:cubicBezTo>
                  <a:lnTo>
                    <a:pt x="191897" y="3408680"/>
                  </a:lnTo>
                  <a:cubicBezTo>
                    <a:pt x="85979" y="3408680"/>
                    <a:pt x="0" y="3322701"/>
                    <a:pt x="0" y="3216783"/>
                  </a:cubicBezTo>
                  <a:close/>
                </a:path>
              </a:pathLst>
            </a:custGeom>
            <a:solidFill>
              <a:srgbClr val="DCE3EC"/>
            </a:solidFill>
            <a:ln w="19050" cap="sq">
              <a:solidFill>
                <a:srgbClr val="D8D4C8"/>
              </a:solidFill>
              <a:prstDash val="solid"/>
              <a:miter/>
            </a:ln>
          </p:spPr>
        </p:sp>
      </p:grpSp>
      <p:sp>
        <p:nvSpPr>
          <p:cNvPr name="TextBox 20" id="20"/>
          <p:cNvSpPr txBox="true"/>
          <p:nvPr/>
        </p:nvSpPr>
        <p:spPr>
          <a:xfrm rot="0">
            <a:off x="2439958" y="5757246"/>
            <a:ext cx="5374261" cy="589770"/>
          </a:xfrm>
          <a:prstGeom prst="rect">
            <a:avLst/>
          </a:prstGeom>
        </p:spPr>
        <p:txBody>
          <a:bodyPr anchor="t" rtlCol="false" tIns="0" lIns="0" bIns="0" rIns="0">
            <a:spAutoFit/>
          </a:bodyPr>
          <a:lstStyle/>
          <a:p>
            <a:pPr algn="l" marL="838781" indent="-419390" lvl="1">
              <a:lnSpc>
                <a:spcPts val="4662"/>
              </a:lnSpc>
              <a:buAutoNum type="arabicPeriod" startAt="1"/>
            </a:pPr>
            <a:r>
              <a:rPr lang="en-US" sz="3885">
                <a:solidFill>
                  <a:srgbClr val="2D5986"/>
                </a:solidFill>
                <a:latin typeface="Anton"/>
                <a:ea typeface="Anton"/>
                <a:cs typeface="Anton"/>
                <a:sym typeface="Anton"/>
              </a:rPr>
              <a:t>CDC handshake</a:t>
            </a:r>
          </a:p>
        </p:txBody>
      </p:sp>
      <p:sp>
        <p:nvSpPr>
          <p:cNvPr name="TextBox 21" id="21"/>
          <p:cNvSpPr txBox="true"/>
          <p:nvPr/>
        </p:nvSpPr>
        <p:spPr>
          <a:xfrm rot="0">
            <a:off x="2554674" y="6694314"/>
            <a:ext cx="6549915" cy="2639183"/>
          </a:xfrm>
          <a:prstGeom prst="rect">
            <a:avLst/>
          </a:prstGeom>
        </p:spPr>
        <p:txBody>
          <a:bodyPr anchor="t" rtlCol="false" tIns="0" lIns="0" bIns="0" rIns="0">
            <a:spAutoFit/>
          </a:bodyPr>
          <a:lstStyle/>
          <a:p>
            <a:pPr algn="l">
              <a:lnSpc>
                <a:spcPts val="5184"/>
              </a:lnSpc>
            </a:pPr>
            <a:r>
              <a:rPr lang="en-US" sz="3702">
                <a:solidFill>
                  <a:srgbClr val="101828"/>
                </a:solidFill>
                <a:latin typeface="Calibri (MS)"/>
                <a:ea typeface="Calibri (MS)"/>
                <a:cs typeface="Calibri (MS)"/>
                <a:sym typeface="Calibri (MS)"/>
              </a:rPr>
              <a:t>Four req/ack ordering checks ported from the DUT OVL assertions to SVA</a:t>
            </a:r>
          </a:p>
          <a:p>
            <a:pPr algn="l">
              <a:lnSpc>
                <a:spcPts val="5184"/>
              </a:lnSpc>
            </a:pPr>
          </a:p>
        </p:txBody>
      </p:sp>
      <p:grpSp>
        <p:nvGrpSpPr>
          <p:cNvPr name="Group 22" id="22"/>
          <p:cNvGrpSpPr/>
          <p:nvPr/>
        </p:nvGrpSpPr>
        <p:grpSpPr>
          <a:xfrm rot="0">
            <a:off x="9240792" y="5543550"/>
            <a:ext cx="6915689" cy="3473374"/>
            <a:chOff x="0" y="0"/>
            <a:chExt cx="6786880" cy="3408680"/>
          </a:xfrm>
        </p:grpSpPr>
        <p:sp>
          <p:nvSpPr>
            <p:cNvPr name="Freeform 23" id="23"/>
            <p:cNvSpPr/>
            <p:nvPr/>
          </p:nvSpPr>
          <p:spPr>
            <a:xfrm flipH="false" flipV="false" rot="0">
              <a:off x="0" y="0"/>
              <a:ext cx="6786880" cy="3408680"/>
            </a:xfrm>
            <a:custGeom>
              <a:avLst/>
              <a:gdLst/>
              <a:ahLst/>
              <a:cxnLst/>
              <a:rect r="r" b="b" t="t" l="l"/>
              <a:pathLst>
                <a:path h="3408680" w="6786880">
                  <a:moveTo>
                    <a:pt x="0" y="191897"/>
                  </a:moveTo>
                  <a:cubicBezTo>
                    <a:pt x="0" y="85979"/>
                    <a:pt x="85979" y="0"/>
                    <a:pt x="191897" y="0"/>
                  </a:cubicBezTo>
                  <a:lnTo>
                    <a:pt x="6594983" y="0"/>
                  </a:lnTo>
                  <a:cubicBezTo>
                    <a:pt x="6701027" y="0"/>
                    <a:pt x="6786880" y="85979"/>
                    <a:pt x="6786880" y="191897"/>
                  </a:cubicBezTo>
                  <a:lnTo>
                    <a:pt x="6786880" y="3216783"/>
                  </a:lnTo>
                  <a:cubicBezTo>
                    <a:pt x="6786880" y="3322828"/>
                    <a:pt x="6700901" y="3408680"/>
                    <a:pt x="6594983" y="3408680"/>
                  </a:cubicBezTo>
                  <a:lnTo>
                    <a:pt x="191897" y="3408680"/>
                  </a:lnTo>
                  <a:cubicBezTo>
                    <a:pt x="85979" y="3408680"/>
                    <a:pt x="0" y="3322701"/>
                    <a:pt x="0" y="3216783"/>
                  </a:cubicBezTo>
                  <a:close/>
                </a:path>
              </a:pathLst>
            </a:custGeom>
            <a:solidFill>
              <a:srgbClr val="DCE3EC"/>
            </a:solidFill>
            <a:ln w="19050" cap="sq">
              <a:solidFill>
                <a:srgbClr val="D8D4C8"/>
              </a:solidFill>
              <a:prstDash val="solid"/>
              <a:miter/>
            </a:ln>
          </p:spPr>
        </p:sp>
      </p:grpSp>
      <p:sp>
        <p:nvSpPr>
          <p:cNvPr name="TextBox 24" id="24"/>
          <p:cNvSpPr txBox="true"/>
          <p:nvPr/>
        </p:nvSpPr>
        <p:spPr>
          <a:xfrm rot="0">
            <a:off x="9636552" y="5754296"/>
            <a:ext cx="5300081" cy="581629"/>
          </a:xfrm>
          <a:prstGeom prst="rect">
            <a:avLst/>
          </a:prstGeom>
        </p:spPr>
        <p:txBody>
          <a:bodyPr anchor="t" rtlCol="false" tIns="0" lIns="0" bIns="0" rIns="0">
            <a:spAutoFit/>
          </a:bodyPr>
          <a:lstStyle/>
          <a:p>
            <a:pPr algn="l">
              <a:lnSpc>
                <a:spcPts val="4597"/>
              </a:lnSpc>
            </a:pPr>
            <a:r>
              <a:rPr lang="en-US" sz="3831">
                <a:solidFill>
                  <a:srgbClr val="2D5986"/>
                </a:solidFill>
                <a:latin typeface="Anton"/>
                <a:ea typeface="Anton"/>
                <a:cs typeface="Anton"/>
                <a:sym typeface="Anton"/>
              </a:rPr>
              <a:t>4</a:t>
            </a:r>
            <a:r>
              <a:rPr lang="en-US" sz="3831">
                <a:solidFill>
                  <a:srgbClr val="2D5986"/>
                </a:solidFill>
                <a:latin typeface="Anton"/>
                <a:ea typeface="Anton"/>
                <a:cs typeface="Anton"/>
                <a:sym typeface="Anton"/>
              </a:rPr>
              <a:t>. Data and response</a:t>
            </a:r>
          </a:p>
        </p:txBody>
      </p:sp>
      <p:sp>
        <p:nvSpPr>
          <p:cNvPr name="TextBox 25" id="25"/>
          <p:cNvSpPr txBox="true"/>
          <p:nvPr/>
        </p:nvSpPr>
        <p:spPr>
          <a:xfrm rot="0">
            <a:off x="9636552" y="6330300"/>
            <a:ext cx="6519928" cy="3243378"/>
          </a:xfrm>
          <a:prstGeom prst="rect">
            <a:avLst/>
          </a:prstGeom>
        </p:spPr>
        <p:txBody>
          <a:bodyPr anchor="t" rtlCol="false" tIns="0" lIns="0" bIns="0" rIns="0">
            <a:spAutoFit/>
          </a:bodyPr>
          <a:lstStyle/>
          <a:p>
            <a:pPr algn="l">
              <a:lnSpc>
                <a:spcPts val="5112"/>
              </a:lnSpc>
            </a:pPr>
            <a:r>
              <a:rPr lang="en-US" sz="3651">
                <a:solidFill>
                  <a:srgbClr val="101828"/>
                </a:solidFill>
                <a:latin typeface="Calibri (MS)"/>
                <a:ea typeface="Calibri (MS)"/>
                <a:cs typeface="Calibri (MS)"/>
                <a:sym typeface="Calibri (MS)"/>
              </a:rPr>
              <a:t>HRDATA = PRDATA, HRESP = PSLVERR, PWDATA = HWDATA on writes, APBACTIVE high when needed</a:t>
            </a:r>
          </a:p>
          <a:p>
            <a:pPr algn="l">
              <a:lnSpc>
                <a:spcPts val="5112"/>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grpSp>
        <p:nvGrpSpPr>
          <p:cNvPr name="Group 2" id="2"/>
          <p:cNvGrpSpPr/>
          <p:nvPr/>
        </p:nvGrpSpPr>
        <p:grpSpPr>
          <a:xfrm rot="0">
            <a:off x="1028700" y="1553152"/>
            <a:ext cx="16252392" cy="4114800"/>
            <a:chOff x="0" y="0"/>
            <a:chExt cx="4280465" cy="1083733"/>
          </a:xfrm>
        </p:grpSpPr>
        <p:sp>
          <p:nvSpPr>
            <p:cNvPr name="Freeform 3" id="3"/>
            <p:cNvSpPr/>
            <p:nvPr/>
          </p:nvSpPr>
          <p:spPr>
            <a:xfrm flipH="false" flipV="false" rot="0">
              <a:off x="0" y="0"/>
              <a:ext cx="4280465" cy="1083733"/>
            </a:xfrm>
            <a:custGeom>
              <a:avLst/>
              <a:gdLst/>
              <a:ahLst/>
              <a:cxnLst/>
              <a:rect r="r" b="b" t="t" l="l"/>
              <a:pathLst>
                <a:path h="1083733" w="4280465">
                  <a:moveTo>
                    <a:pt x="5240" y="0"/>
                  </a:moveTo>
                  <a:lnTo>
                    <a:pt x="4275225" y="0"/>
                  </a:lnTo>
                  <a:cubicBezTo>
                    <a:pt x="4276615" y="0"/>
                    <a:pt x="4277948" y="552"/>
                    <a:pt x="4278931" y="1535"/>
                  </a:cubicBezTo>
                  <a:cubicBezTo>
                    <a:pt x="4279914" y="2517"/>
                    <a:pt x="4280465" y="3850"/>
                    <a:pt x="4280465" y="5240"/>
                  </a:cubicBezTo>
                  <a:lnTo>
                    <a:pt x="4280465" y="1078493"/>
                  </a:lnTo>
                  <a:cubicBezTo>
                    <a:pt x="4280465" y="1081387"/>
                    <a:pt x="4278119" y="1083733"/>
                    <a:pt x="4275225" y="1083733"/>
                  </a:cubicBezTo>
                  <a:lnTo>
                    <a:pt x="5240" y="1083733"/>
                  </a:lnTo>
                  <a:cubicBezTo>
                    <a:pt x="2346" y="1083733"/>
                    <a:pt x="0" y="1081387"/>
                    <a:pt x="0" y="1078493"/>
                  </a:cubicBezTo>
                  <a:lnTo>
                    <a:pt x="0" y="5240"/>
                  </a:lnTo>
                  <a:cubicBezTo>
                    <a:pt x="0" y="2346"/>
                    <a:pt x="2346" y="0"/>
                    <a:pt x="5240" y="0"/>
                  </a:cubicBezTo>
                  <a:close/>
                </a:path>
              </a:pathLst>
            </a:custGeom>
            <a:solidFill>
              <a:srgbClr val="DCE3EC"/>
            </a:solidFill>
            <a:ln w="9525" cap="sq">
              <a:solidFill>
                <a:srgbClr val="23496D"/>
              </a:solidFill>
              <a:prstDash val="solid"/>
              <a:miter/>
            </a:ln>
          </p:spPr>
        </p:sp>
        <p:sp>
          <p:nvSpPr>
            <p:cNvPr name="TextBox 4" id="4"/>
            <p:cNvSpPr txBox="true"/>
            <p:nvPr/>
          </p:nvSpPr>
          <p:spPr>
            <a:xfrm>
              <a:off x="0" y="-28575"/>
              <a:ext cx="4280465" cy="1112308"/>
            </a:xfrm>
            <a:prstGeom prst="rect">
              <a:avLst/>
            </a:prstGeom>
          </p:spPr>
          <p:txBody>
            <a:bodyPr anchor="ctr" rtlCol="false" tIns="50800" lIns="50800" bIns="50800" rIns="50800"/>
            <a:lstStyle/>
            <a:p>
              <a:pPr algn="ctr">
                <a:lnSpc>
                  <a:spcPts val="1620"/>
                </a:lnSpc>
              </a:pPr>
            </a:p>
          </p:txBody>
        </p:sp>
      </p:grpSp>
      <p:sp>
        <p:nvSpPr>
          <p:cNvPr name="Freeform 5" id="5"/>
          <p:cNvSpPr/>
          <p:nvPr/>
        </p:nvSpPr>
        <p:spPr>
          <a:xfrm flipH="false" flipV="false" rot="0">
            <a:off x="2211624" y="5667952"/>
            <a:ext cx="13081144" cy="4619048"/>
          </a:xfrm>
          <a:custGeom>
            <a:avLst/>
            <a:gdLst/>
            <a:ahLst/>
            <a:cxnLst/>
            <a:rect r="r" b="b" t="t" l="l"/>
            <a:pathLst>
              <a:path h="4619048" w="13081144">
                <a:moveTo>
                  <a:pt x="0" y="0"/>
                </a:moveTo>
                <a:lnTo>
                  <a:pt x="13081144" y="0"/>
                </a:lnTo>
                <a:lnTo>
                  <a:pt x="13081144" y="4619048"/>
                </a:lnTo>
                <a:lnTo>
                  <a:pt x="0" y="4619048"/>
                </a:lnTo>
                <a:lnTo>
                  <a:pt x="0" y="0"/>
                </a:lnTo>
                <a:close/>
              </a:path>
            </a:pathLst>
          </a:custGeom>
          <a:blipFill>
            <a:blip r:embed="rId2"/>
            <a:stretch>
              <a:fillRect l="0" t="0" r="0" b="0"/>
            </a:stretch>
          </a:blipFill>
        </p:spPr>
      </p:sp>
      <p:sp>
        <p:nvSpPr>
          <p:cNvPr name="TextBox 6" id="6"/>
          <p:cNvSpPr txBox="true"/>
          <p:nvPr/>
        </p:nvSpPr>
        <p:spPr>
          <a:xfrm rot="0">
            <a:off x="217050" y="27295"/>
            <a:ext cx="11910300" cy="1361439"/>
          </a:xfrm>
          <a:prstGeom prst="rect">
            <a:avLst/>
          </a:prstGeom>
        </p:spPr>
        <p:txBody>
          <a:bodyPr anchor="t" rtlCol="false" tIns="0" lIns="0" bIns="0" rIns="0">
            <a:spAutoFit/>
          </a:bodyPr>
          <a:lstStyle/>
          <a:p>
            <a:pPr algn="l">
              <a:lnSpc>
                <a:spcPts val="11060"/>
              </a:lnSpc>
              <a:spcBef>
                <a:spcPct val="0"/>
              </a:spcBef>
            </a:pPr>
            <a:r>
              <a:rPr lang="en-US" sz="7900">
                <a:solidFill>
                  <a:srgbClr val="2D5986"/>
                </a:solidFill>
                <a:latin typeface="Anton"/>
                <a:ea typeface="Anton"/>
                <a:cs typeface="Anton"/>
                <a:sym typeface="Anton"/>
              </a:rPr>
              <a:t>Assertions - phases legality </a:t>
            </a:r>
          </a:p>
        </p:txBody>
      </p:sp>
      <p:sp>
        <p:nvSpPr>
          <p:cNvPr name="TextBox 7" id="7"/>
          <p:cNvSpPr txBox="true"/>
          <p:nvPr/>
        </p:nvSpPr>
        <p:spPr>
          <a:xfrm rot="0">
            <a:off x="1028700" y="1523054"/>
            <a:ext cx="15446993" cy="4509158"/>
          </a:xfrm>
          <a:prstGeom prst="rect">
            <a:avLst/>
          </a:prstGeom>
        </p:spPr>
        <p:txBody>
          <a:bodyPr anchor="t" rtlCol="false" tIns="0" lIns="0" bIns="0" rIns="0">
            <a:spAutoFit/>
          </a:bodyPr>
          <a:lstStyle/>
          <a:p>
            <a:pPr algn="l" marL="777042" indent="-388521" lvl="1">
              <a:lnSpc>
                <a:spcPts val="5038"/>
              </a:lnSpc>
              <a:spcBef>
                <a:spcPct val="0"/>
              </a:spcBef>
              <a:buFont typeface="Arial"/>
              <a:buChar char="•"/>
            </a:pPr>
            <a:r>
              <a:rPr lang="en-US" sz="3599">
                <a:solidFill>
                  <a:srgbClr val="2D5986"/>
                </a:solidFill>
                <a:latin typeface="Consolas"/>
                <a:ea typeface="Consolas"/>
                <a:cs typeface="Consolas"/>
                <a:sym typeface="Consolas"/>
              </a:rPr>
              <a:t>$rose(PSEL) |-&gt; !PENABLE</a:t>
            </a:r>
          </a:p>
          <a:p>
            <a:pPr algn="l" marL="777042" indent="-388521" lvl="1">
              <a:lnSpc>
                <a:spcPts val="5038"/>
              </a:lnSpc>
              <a:spcBef>
                <a:spcPct val="0"/>
              </a:spcBef>
              <a:buFont typeface="Arial"/>
              <a:buChar char="•"/>
            </a:pPr>
            <a:r>
              <a:rPr lang="en-US" sz="3599">
                <a:solidFill>
                  <a:srgbClr val="2D5986"/>
                </a:solidFill>
                <a:latin typeface="Consolas"/>
                <a:ea typeface="Consolas"/>
                <a:cs typeface="Consolas"/>
                <a:sym typeface="Consolas"/>
              </a:rPr>
              <a:t>PENABLE |-&gt; PSEL</a:t>
            </a:r>
          </a:p>
          <a:p>
            <a:pPr algn="l" marL="777042" indent="-388521" lvl="1">
              <a:lnSpc>
                <a:spcPts val="5038"/>
              </a:lnSpc>
              <a:spcBef>
                <a:spcPct val="0"/>
              </a:spcBef>
              <a:buFont typeface="Arial"/>
              <a:buChar char="•"/>
            </a:pPr>
            <a:r>
              <a:rPr lang="en-US" sz="3599">
                <a:solidFill>
                  <a:srgbClr val="2D5986"/>
                </a:solidFill>
                <a:latin typeface="Consolas"/>
                <a:ea typeface="Consolas"/>
                <a:cs typeface="Consolas"/>
                <a:sym typeface="Consolas"/>
              </a:rPr>
              <a:t>apb_setup |=&gt; (apb_access and p_apb_ctrl_stable)</a:t>
            </a:r>
          </a:p>
          <a:p>
            <a:pPr algn="l" marL="777042" indent="-388521" lvl="1">
              <a:lnSpc>
                <a:spcPts val="5038"/>
              </a:lnSpc>
              <a:spcBef>
                <a:spcPct val="0"/>
              </a:spcBef>
              <a:buFont typeface="Arial"/>
              <a:buChar char="•"/>
            </a:pPr>
            <a:r>
              <a:rPr lang="en-US" sz="3599">
                <a:solidFill>
                  <a:srgbClr val="2D5986"/>
                </a:solidFill>
                <a:latin typeface="Consolas"/>
                <a:ea typeface="Consolas"/>
                <a:cs typeface="Consolas"/>
                <a:sym typeface="Consolas"/>
              </a:rPr>
              <a:t>(apb_access &amp;&amp; !PREADY) |=&gt; apb_access</a:t>
            </a:r>
          </a:p>
          <a:p>
            <a:pPr algn="l" marL="777042" indent="-388521" lvl="1">
              <a:lnSpc>
                <a:spcPts val="5038"/>
              </a:lnSpc>
              <a:spcBef>
                <a:spcPct val="0"/>
              </a:spcBef>
              <a:buFont typeface="Arial"/>
              <a:buChar char="•"/>
            </a:pPr>
            <a:r>
              <a:rPr lang="en-US" sz="3599">
                <a:solidFill>
                  <a:srgbClr val="2D5986"/>
                </a:solidFill>
                <a:latin typeface="Consolas"/>
                <a:ea typeface="Consolas"/>
                <a:cs typeface="Consolas"/>
                <a:sym typeface="Consolas"/>
              </a:rPr>
              <a:t>(apb_access &amp;&amp; !PREADY) |=&gt; p_apb_ctrl_stable</a:t>
            </a:r>
          </a:p>
          <a:p>
            <a:pPr algn="l" marL="777042" indent="-388521" lvl="1">
              <a:lnSpc>
                <a:spcPts val="5038"/>
              </a:lnSpc>
              <a:spcBef>
                <a:spcPct val="0"/>
              </a:spcBef>
              <a:buFont typeface="Arial"/>
              <a:buChar char="•"/>
            </a:pPr>
            <a:r>
              <a:rPr lang="en-US" sz="3599">
                <a:solidFill>
                  <a:srgbClr val="2D5986"/>
                </a:solidFill>
                <a:latin typeface="Consolas"/>
                <a:ea typeface="Consolas"/>
                <a:cs typeface="Consolas"/>
                <a:sym typeface="Consolas"/>
              </a:rPr>
              <a:t>apb_done |=&gt; !PENABLE</a:t>
            </a:r>
          </a:p>
          <a:p>
            <a:pPr algn="l">
              <a:lnSpc>
                <a:spcPts val="5038"/>
              </a:lnSpc>
              <a:spcBef>
                <a:spcPct val="0"/>
              </a:spcBef>
            </a:pPr>
          </a:p>
        </p:txBody>
      </p:sp>
      <p:grpSp>
        <p:nvGrpSpPr>
          <p:cNvPr name="Group 8" id="8"/>
          <p:cNvGrpSpPr/>
          <p:nvPr/>
        </p:nvGrpSpPr>
        <p:grpSpPr>
          <a:xfrm rot="0">
            <a:off x="685800" y="9710928"/>
            <a:ext cx="10972800" cy="411480"/>
            <a:chOff x="0" y="0"/>
            <a:chExt cx="14630400" cy="548640"/>
          </a:xfrm>
        </p:grpSpPr>
        <p:sp>
          <p:nvSpPr>
            <p:cNvPr name="Freeform 9" id="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10" id="10"/>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11" id="11"/>
          <p:cNvGrpSpPr/>
          <p:nvPr/>
        </p:nvGrpSpPr>
        <p:grpSpPr>
          <a:xfrm rot="0">
            <a:off x="16911828" y="9710928"/>
            <a:ext cx="685800" cy="411480"/>
            <a:chOff x="0" y="0"/>
            <a:chExt cx="914400" cy="548640"/>
          </a:xfrm>
        </p:grpSpPr>
        <p:sp>
          <p:nvSpPr>
            <p:cNvPr name="Freeform 12" id="1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3" id="13"/>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22</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grpSp>
        <p:nvGrpSpPr>
          <p:cNvPr name="Group 2" id="2"/>
          <p:cNvGrpSpPr/>
          <p:nvPr/>
        </p:nvGrpSpPr>
        <p:grpSpPr>
          <a:xfrm rot="0">
            <a:off x="217050" y="3699851"/>
            <a:ext cx="2659924" cy="1422724"/>
            <a:chOff x="0" y="0"/>
            <a:chExt cx="700556" cy="374709"/>
          </a:xfrm>
        </p:grpSpPr>
        <p:sp>
          <p:nvSpPr>
            <p:cNvPr name="Freeform 3" id="3"/>
            <p:cNvSpPr/>
            <p:nvPr/>
          </p:nvSpPr>
          <p:spPr>
            <a:xfrm flipH="false" flipV="false" rot="0">
              <a:off x="0" y="0"/>
              <a:ext cx="700556" cy="374709"/>
            </a:xfrm>
            <a:custGeom>
              <a:avLst/>
              <a:gdLst/>
              <a:ahLst/>
              <a:cxnLst/>
              <a:rect r="r" b="b" t="t" l="l"/>
              <a:pathLst>
                <a:path h="374709" w="700556">
                  <a:moveTo>
                    <a:pt x="148440" y="0"/>
                  </a:moveTo>
                  <a:lnTo>
                    <a:pt x="552117" y="0"/>
                  </a:lnTo>
                  <a:cubicBezTo>
                    <a:pt x="634098" y="0"/>
                    <a:pt x="700556" y="66459"/>
                    <a:pt x="700556" y="148440"/>
                  </a:cubicBezTo>
                  <a:lnTo>
                    <a:pt x="700556" y="226270"/>
                  </a:lnTo>
                  <a:cubicBezTo>
                    <a:pt x="700556" y="308251"/>
                    <a:pt x="634098" y="374709"/>
                    <a:pt x="552117" y="374709"/>
                  </a:cubicBezTo>
                  <a:lnTo>
                    <a:pt x="148440" y="374709"/>
                  </a:lnTo>
                  <a:cubicBezTo>
                    <a:pt x="66459" y="374709"/>
                    <a:pt x="0" y="308251"/>
                    <a:pt x="0" y="226270"/>
                  </a:cubicBezTo>
                  <a:lnTo>
                    <a:pt x="0" y="148440"/>
                  </a:lnTo>
                  <a:cubicBezTo>
                    <a:pt x="0" y="66459"/>
                    <a:pt x="66459" y="0"/>
                    <a:pt x="148440" y="0"/>
                  </a:cubicBezTo>
                  <a:close/>
                </a:path>
              </a:pathLst>
            </a:custGeom>
            <a:solidFill>
              <a:srgbClr val="DCE3EC"/>
            </a:solidFill>
            <a:ln w="38100" cap="rnd">
              <a:solidFill>
                <a:srgbClr val="2D5986"/>
              </a:solidFill>
              <a:prstDash val="solid"/>
              <a:round/>
            </a:ln>
          </p:spPr>
        </p:sp>
        <p:sp>
          <p:nvSpPr>
            <p:cNvPr name="TextBox 4" id="4"/>
            <p:cNvSpPr txBox="true"/>
            <p:nvPr/>
          </p:nvSpPr>
          <p:spPr>
            <a:xfrm>
              <a:off x="0" y="-38100"/>
              <a:ext cx="700556" cy="412809"/>
            </a:xfrm>
            <a:prstGeom prst="rect">
              <a:avLst/>
            </a:prstGeom>
          </p:spPr>
          <p:txBody>
            <a:bodyPr anchor="ctr" rtlCol="false" tIns="50800" lIns="50800" bIns="50800" rIns="50800"/>
            <a:lstStyle/>
            <a:p>
              <a:pPr algn="ctr">
                <a:lnSpc>
                  <a:spcPts val="2400"/>
                </a:lnSpc>
              </a:pPr>
              <a:r>
                <a:rPr lang="en-US" sz="2000">
                  <a:solidFill>
                    <a:srgbClr val="000000"/>
                  </a:solidFill>
                  <a:latin typeface="Calibri (MS)"/>
                  <a:ea typeface="Calibri (MS)"/>
                  <a:cs typeface="Calibri (MS)"/>
                  <a:sym typeface="Calibri (MS)"/>
                </a:rPr>
                <a:t>AHB Counter</a:t>
              </a:r>
            </a:p>
            <a:p>
              <a:pPr algn="ctr">
                <a:lnSpc>
                  <a:spcPts val="2400"/>
                </a:lnSpc>
              </a:pPr>
              <a:r>
                <a:rPr lang="en-US" sz="2000">
                  <a:solidFill>
                    <a:srgbClr val="000000"/>
                  </a:solidFill>
                  <a:latin typeface="Calibri (MS)"/>
                  <a:ea typeface="Calibri (MS)"/>
                  <a:cs typeface="Calibri (MS)"/>
                  <a:sym typeface="Calibri (MS)"/>
                </a:rPr>
                <a:t>@(posedge HCLK)</a:t>
              </a:r>
            </a:p>
            <a:p>
              <a:pPr algn="ctr">
                <a:lnSpc>
                  <a:spcPts val="2400"/>
                </a:lnSpc>
              </a:pPr>
              <a:r>
                <a:rPr lang="en-US" sz="2000">
                  <a:solidFill>
                    <a:srgbClr val="000000"/>
                  </a:solidFill>
                  <a:latin typeface="Calibri (MS)"/>
                  <a:ea typeface="Calibri (MS)"/>
                  <a:cs typeface="Calibri (MS)"/>
                  <a:sym typeface="Calibri (MS)"/>
                </a:rPr>
                <a:t>ahb_acc_cnt</a:t>
              </a:r>
            </a:p>
          </p:txBody>
        </p:sp>
      </p:grpSp>
      <p:sp>
        <p:nvSpPr>
          <p:cNvPr name="TextBox 5" id="5"/>
          <p:cNvSpPr txBox="true"/>
          <p:nvPr/>
        </p:nvSpPr>
        <p:spPr>
          <a:xfrm rot="0">
            <a:off x="410987" y="1414923"/>
            <a:ext cx="17466025" cy="981075"/>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Calibri (MS)"/>
                <a:ea typeface="Calibri (MS)"/>
                <a:cs typeface="Calibri (MS)"/>
                <a:sym typeface="Calibri (MS)"/>
              </a:rPr>
              <a:t>the bridge must preserve a one-to-one relationship between accepted AHB transfers and APB transfer starts, even though the two interfaces use different clocks.</a:t>
            </a:r>
          </a:p>
        </p:txBody>
      </p:sp>
      <p:sp>
        <p:nvSpPr>
          <p:cNvPr name="TextBox 6" id="6"/>
          <p:cNvSpPr txBox="true"/>
          <p:nvPr/>
        </p:nvSpPr>
        <p:spPr>
          <a:xfrm rot="0">
            <a:off x="217050" y="46345"/>
            <a:ext cx="11910300" cy="1236341"/>
          </a:xfrm>
          <a:prstGeom prst="rect">
            <a:avLst/>
          </a:prstGeom>
        </p:spPr>
        <p:txBody>
          <a:bodyPr anchor="t" rtlCol="false" tIns="0" lIns="0" bIns="0" rIns="0">
            <a:spAutoFit/>
          </a:bodyPr>
          <a:lstStyle/>
          <a:p>
            <a:pPr algn="l">
              <a:lnSpc>
                <a:spcPts val="10080"/>
              </a:lnSpc>
              <a:spcBef>
                <a:spcPct val="0"/>
              </a:spcBef>
            </a:pPr>
            <a:r>
              <a:rPr lang="en-US" sz="7200">
                <a:solidFill>
                  <a:srgbClr val="2D5986"/>
                </a:solidFill>
                <a:latin typeface="Anton"/>
                <a:ea typeface="Anton"/>
                <a:cs typeface="Anton"/>
                <a:sym typeface="Anton"/>
              </a:rPr>
              <a:t>Assertions - AHB to APB tracking </a:t>
            </a:r>
          </a:p>
        </p:txBody>
      </p:sp>
      <p:grpSp>
        <p:nvGrpSpPr>
          <p:cNvPr name="Group 7" id="7"/>
          <p:cNvGrpSpPr/>
          <p:nvPr/>
        </p:nvGrpSpPr>
        <p:grpSpPr>
          <a:xfrm rot="0">
            <a:off x="3712137" y="3854175"/>
            <a:ext cx="3409908" cy="1114076"/>
            <a:chOff x="0" y="0"/>
            <a:chExt cx="898083" cy="293419"/>
          </a:xfrm>
        </p:grpSpPr>
        <p:sp>
          <p:nvSpPr>
            <p:cNvPr name="Freeform 8" id="8"/>
            <p:cNvSpPr/>
            <p:nvPr/>
          </p:nvSpPr>
          <p:spPr>
            <a:xfrm flipH="false" flipV="false" rot="0">
              <a:off x="0" y="0"/>
              <a:ext cx="898083" cy="293419"/>
            </a:xfrm>
            <a:custGeom>
              <a:avLst/>
              <a:gdLst/>
              <a:ahLst/>
              <a:cxnLst/>
              <a:rect r="r" b="b" t="t" l="l"/>
              <a:pathLst>
                <a:path h="293419" w="898083">
                  <a:moveTo>
                    <a:pt x="68113" y="0"/>
                  </a:moveTo>
                  <a:lnTo>
                    <a:pt x="829970" y="0"/>
                  </a:lnTo>
                  <a:cubicBezTo>
                    <a:pt x="867588" y="0"/>
                    <a:pt x="898083" y="30495"/>
                    <a:pt x="898083" y="68113"/>
                  </a:cubicBezTo>
                  <a:lnTo>
                    <a:pt x="898083" y="225307"/>
                  </a:lnTo>
                  <a:cubicBezTo>
                    <a:pt x="898083" y="243371"/>
                    <a:pt x="890907" y="260696"/>
                    <a:pt x="878133" y="273470"/>
                  </a:cubicBezTo>
                  <a:cubicBezTo>
                    <a:pt x="865359" y="286243"/>
                    <a:pt x="848035" y="293419"/>
                    <a:pt x="829970" y="293419"/>
                  </a:cubicBezTo>
                  <a:lnTo>
                    <a:pt x="68113" y="293419"/>
                  </a:lnTo>
                  <a:cubicBezTo>
                    <a:pt x="50048" y="293419"/>
                    <a:pt x="32723" y="286243"/>
                    <a:pt x="19950" y="273470"/>
                  </a:cubicBezTo>
                  <a:cubicBezTo>
                    <a:pt x="7176" y="260696"/>
                    <a:pt x="0" y="243371"/>
                    <a:pt x="0" y="225307"/>
                  </a:cubicBezTo>
                  <a:lnTo>
                    <a:pt x="0" y="68113"/>
                  </a:lnTo>
                  <a:cubicBezTo>
                    <a:pt x="0" y="50048"/>
                    <a:pt x="7176" y="32723"/>
                    <a:pt x="19950" y="19950"/>
                  </a:cubicBezTo>
                  <a:cubicBezTo>
                    <a:pt x="32723" y="7176"/>
                    <a:pt x="50048" y="0"/>
                    <a:pt x="68113" y="0"/>
                  </a:cubicBezTo>
                  <a:close/>
                </a:path>
              </a:pathLst>
            </a:custGeom>
            <a:solidFill>
              <a:srgbClr val="DCE3EC"/>
            </a:solidFill>
            <a:ln w="38100" cap="rnd">
              <a:solidFill>
                <a:srgbClr val="2D5986"/>
              </a:solidFill>
              <a:prstDash val="solid"/>
              <a:round/>
            </a:ln>
          </p:spPr>
        </p:sp>
        <p:sp>
          <p:nvSpPr>
            <p:cNvPr name="TextBox 9" id="9"/>
            <p:cNvSpPr txBox="true"/>
            <p:nvPr/>
          </p:nvSpPr>
          <p:spPr>
            <a:xfrm>
              <a:off x="0" y="-47625"/>
              <a:ext cx="898083" cy="341044"/>
            </a:xfrm>
            <a:prstGeom prst="rect">
              <a:avLst/>
            </a:prstGeom>
          </p:spPr>
          <p:txBody>
            <a:bodyPr anchor="ctr" rtlCol="false" tIns="50800" lIns="50800" bIns="50800" rIns="50800"/>
            <a:lstStyle/>
            <a:p>
              <a:pPr algn="ctr">
                <a:lnSpc>
                  <a:spcPts val="2999"/>
                </a:lnSpc>
              </a:pPr>
              <a:r>
                <a:rPr lang="en-US" sz="2499">
                  <a:solidFill>
                    <a:srgbClr val="000000"/>
                  </a:solidFill>
                  <a:latin typeface="Calibri (MS)"/>
                  <a:ea typeface="Calibri (MS)"/>
                  <a:cs typeface="Calibri (MS)"/>
                  <a:sym typeface="Calibri (MS)"/>
                </a:rPr>
                <a:t> if ( ahb_accept)</a:t>
              </a:r>
            </a:p>
            <a:p>
              <a:pPr algn="ctr">
                <a:lnSpc>
                  <a:spcPts val="2999"/>
                </a:lnSpc>
              </a:pPr>
              <a:r>
                <a:rPr lang="en-US" sz="2499">
                  <a:solidFill>
                    <a:srgbClr val="000000"/>
                  </a:solidFill>
                  <a:latin typeface="Calibri (MS)"/>
                  <a:ea typeface="Calibri (MS)"/>
                  <a:cs typeface="Calibri (MS)"/>
                  <a:sym typeface="Calibri (MS)"/>
                </a:rPr>
                <a:t>     ahb_acc_cnt ++;</a:t>
              </a:r>
            </a:p>
          </p:txBody>
        </p:sp>
      </p:grpSp>
      <p:grpSp>
        <p:nvGrpSpPr>
          <p:cNvPr name="Group 10" id="10"/>
          <p:cNvGrpSpPr/>
          <p:nvPr/>
        </p:nvGrpSpPr>
        <p:grpSpPr>
          <a:xfrm rot="0">
            <a:off x="8268787" y="4903970"/>
            <a:ext cx="2773774" cy="1490637"/>
            <a:chOff x="0" y="0"/>
            <a:chExt cx="730541" cy="392596"/>
          </a:xfrm>
        </p:grpSpPr>
        <p:sp>
          <p:nvSpPr>
            <p:cNvPr name="Freeform 11" id="11"/>
            <p:cNvSpPr/>
            <p:nvPr/>
          </p:nvSpPr>
          <p:spPr>
            <a:xfrm flipH="false" flipV="false" rot="0">
              <a:off x="0" y="0"/>
              <a:ext cx="730541" cy="392596"/>
            </a:xfrm>
            <a:custGeom>
              <a:avLst/>
              <a:gdLst/>
              <a:ahLst/>
              <a:cxnLst/>
              <a:rect r="r" b="b" t="t" l="l"/>
              <a:pathLst>
                <a:path h="392596" w="730541">
                  <a:moveTo>
                    <a:pt x="97689" y="0"/>
                  </a:moveTo>
                  <a:lnTo>
                    <a:pt x="632852" y="0"/>
                  </a:lnTo>
                  <a:cubicBezTo>
                    <a:pt x="658761" y="0"/>
                    <a:pt x="683609" y="10292"/>
                    <a:pt x="701929" y="28612"/>
                  </a:cubicBezTo>
                  <a:cubicBezTo>
                    <a:pt x="720249" y="46933"/>
                    <a:pt x="730541" y="71780"/>
                    <a:pt x="730541" y="97689"/>
                  </a:cubicBezTo>
                  <a:lnTo>
                    <a:pt x="730541" y="294907"/>
                  </a:lnTo>
                  <a:cubicBezTo>
                    <a:pt x="730541" y="320815"/>
                    <a:pt x="720249" y="345663"/>
                    <a:pt x="701929" y="363983"/>
                  </a:cubicBezTo>
                  <a:cubicBezTo>
                    <a:pt x="683609" y="382304"/>
                    <a:pt x="658761" y="392596"/>
                    <a:pt x="632852" y="392596"/>
                  </a:cubicBezTo>
                  <a:lnTo>
                    <a:pt x="97689" y="392596"/>
                  </a:lnTo>
                  <a:cubicBezTo>
                    <a:pt x="71780" y="392596"/>
                    <a:pt x="46933" y="382304"/>
                    <a:pt x="28612" y="363983"/>
                  </a:cubicBezTo>
                  <a:cubicBezTo>
                    <a:pt x="10292" y="345663"/>
                    <a:pt x="0" y="320815"/>
                    <a:pt x="0" y="294907"/>
                  </a:cubicBezTo>
                  <a:lnTo>
                    <a:pt x="0" y="97689"/>
                  </a:lnTo>
                  <a:cubicBezTo>
                    <a:pt x="0" y="71780"/>
                    <a:pt x="10292" y="46933"/>
                    <a:pt x="28612" y="28612"/>
                  </a:cubicBezTo>
                  <a:cubicBezTo>
                    <a:pt x="46933" y="10292"/>
                    <a:pt x="71780" y="0"/>
                    <a:pt x="97689" y="0"/>
                  </a:cubicBezTo>
                  <a:close/>
                </a:path>
              </a:pathLst>
            </a:custGeom>
            <a:solidFill>
              <a:srgbClr val="DCE3EC"/>
            </a:solidFill>
            <a:ln w="38100" cap="rnd">
              <a:solidFill>
                <a:srgbClr val="2D5986"/>
              </a:solidFill>
              <a:prstDash val="solid"/>
              <a:round/>
            </a:ln>
          </p:spPr>
        </p:sp>
        <p:sp>
          <p:nvSpPr>
            <p:cNvPr name="TextBox 12" id="12"/>
            <p:cNvSpPr txBox="true"/>
            <p:nvPr/>
          </p:nvSpPr>
          <p:spPr>
            <a:xfrm>
              <a:off x="0" y="-47625"/>
              <a:ext cx="730541" cy="440221"/>
            </a:xfrm>
            <a:prstGeom prst="rect">
              <a:avLst/>
            </a:prstGeom>
          </p:spPr>
          <p:txBody>
            <a:bodyPr anchor="ctr" rtlCol="false" tIns="50800" lIns="50800" bIns="50800" rIns="50800"/>
            <a:lstStyle/>
            <a:p>
              <a:pPr algn="ctr">
                <a:lnSpc>
                  <a:spcPts val="2999"/>
                </a:lnSpc>
              </a:pPr>
              <a:r>
                <a:rPr lang="en-US" sz="2499">
                  <a:solidFill>
                    <a:srgbClr val="000000"/>
                  </a:solidFill>
                  <a:latin typeface="Calibri (MS)"/>
                  <a:ea typeface="Calibri (MS)"/>
                  <a:cs typeface="Calibri (MS)"/>
                  <a:sym typeface="Calibri (MS)"/>
                </a:rPr>
                <a:t>Compare Counters</a:t>
              </a:r>
            </a:p>
          </p:txBody>
        </p:sp>
      </p:grpSp>
      <p:grpSp>
        <p:nvGrpSpPr>
          <p:cNvPr name="Group 13" id="13"/>
          <p:cNvGrpSpPr/>
          <p:nvPr/>
        </p:nvGrpSpPr>
        <p:grpSpPr>
          <a:xfrm rot="0">
            <a:off x="11678737" y="3180807"/>
            <a:ext cx="6479236" cy="1346736"/>
            <a:chOff x="0" y="0"/>
            <a:chExt cx="1706465" cy="354696"/>
          </a:xfrm>
        </p:grpSpPr>
        <p:sp>
          <p:nvSpPr>
            <p:cNvPr name="Freeform 14" id="14"/>
            <p:cNvSpPr/>
            <p:nvPr/>
          </p:nvSpPr>
          <p:spPr>
            <a:xfrm flipH="false" flipV="false" rot="0">
              <a:off x="0" y="0"/>
              <a:ext cx="1706465" cy="354696"/>
            </a:xfrm>
            <a:custGeom>
              <a:avLst/>
              <a:gdLst/>
              <a:ahLst/>
              <a:cxnLst/>
              <a:rect r="r" b="b" t="t" l="l"/>
              <a:pathLst>
                <a:path h="354696" w="1706465">
                  <a:moveTo>
                    <a:pt x="35846" y="0"/>
                  </a:moveTo>
                  <a:lnTo>
                    <a:pt x="1670619" y="0"/>
                  </a:lnTo>
                  <a:cubicBezTo>
                    <a:pt x="1680126" y="0"/>
                    <a:pt x="1689244" y="3777"/>
                    <a:pt x="1695966" y="10499"/>
                  </a:cubicBezTo>
                  <a:cubicBezTo>
                    <a:pt x="1702689" y="17222"/>
                    <a:pt x="1706465" y="26339"/>
                    <a:pt x="1706465" y="35846"/>
                  </a:cubicBezTo>
                  <a:lnTo>
                    <a:pt x="1706465" y="318849"/>
                  </a:lnTo>
                  <a:cubicBezTo>
                    <a:pt x="1706465" y="328356"/>
                    <a:pt x="1702689" y="337474"/>
                    <a:pt x="1695966" y="344197"/>
                  </a:cubicBezTo>
                  <a:cubicBezTo>
                    <a:pt x="1689244" y="350919"/>
                    <a:pt x="1680126" y="354696"/>
                    <a:pt x="1670619" y="354696"/>
                  </a:cubicBezTo>
                  <a:lnTo>
                    <a:pt x="35846" y="354696"/>
                  </a:lnTo>
                  <a:cubicBezTo>
                    <a:pt x="26339" y="354696"/>
                    <a:pt x="17222" y="350919"/>
                    <a:pt x="10499" y="344197"/>
                  </a:cubicBezTo>
                  <a:cubicBezTo>
                    <a:pt x="3777" y="337474"/>
                    <a:pt x="0" y="328356"/>
                    <a:pt x="0" y="318849"/>
                  </a:cubicBezTo>
                  <a:lnTo>
                    <a:pt x="0" y="35846"/>
                  </a:lnTo>
                  <a:cubicBezTo>
                    <a:pt x="0" y="26339"/>
                    <a:pt x="3777" y="17222"/>
                    <a:pt x="10499" y="10499"/>
                  </a:cubicBezTo>
                  <a:cubicBezTo>
                    <a:pt x="17222" y="3777"/>
                    <a:pt x="26339" y="0"/>
                    <a:pt x="35846" y="0"/>
                  </a:cubicBezTo>
                  <a:close/>
                </a:path>
              </a:pathLst>
            </a:custGeom>
            <a:solidFill>
              <a:srgbClr val="DCE3EC"/>
            </a:solidFill>
            <a:ln w="38100" cap="rnd">
              <a:solidFill>
                <a:srgbClr val="2D5986"/>
              </a:solidFill>
              <a:prstDash val="solid"/>
              <a:round/>
            </a:ln>
          </p:spPr>
        </p:sp>
        <p:sp>
          <p:nvSpPr>
            <p:cNvPr name="TextBox 15" id="15"/>
            <p:cNvSpPr txBox="true"/>
            <p:nvPr/>
          </p:nvSpPr>
          <p:spPr>
            <a:xfrm>
              <a:off x="0" y="-47625"/>
              <a:ext cx="1706465" cy="402321"/>
            </a:xfrm>
            <a:prstGeom prst="rect">
              <a:avLst/>
            </a:prstGeom>
          </p:spPr>
          <p:txBody>
            <a:bodyPr anchor="ctr" rtlCol="false" tIns="50800" lIns="50800" bIns="50800" rIns="50800"/>
            <a:lstStyle/>
            <a:p>
              <a:pPr algn="l" marL="496571" indent="-248285" lvl="1">
                <a:lnSpc>
                  <a:spcPts val="2760"/>
                </a:lnSpc>
                <a:buAutoNum type="arabicPeriod" startAt="1"/>
              </a:pPr>
              <a:r>
                <a:rPr lang="en-US" sz="2300">
                  <a:solidFill>
                    <a:srgbClr val="000000"/>
                  </a:solidFill>
                  <a:latin typeface="Calibri (MS)"/>
                  <a:ea typeface="Calibri (MS)"/>
                  <a:cs typeface="Calibri (MS)"/>
                  <a:sym typeface="Calibri (MS)"/>
                </a:rPr>
                <a:t> APB SETUP needs a pending AHB request</a:t>
              </a:r>
            </a:p>
            <a:p>
              <a:pPr algn="ctr">
                <a:lnSpc>
                  <a:spcPts val="1620"/>
                </a:lnSpc>
              </a:pPr>
            </a:p>
            <a:p>
              <a:pPr algn="l">
                <a:lnSpc>
                  <a:spcPts val="2099"/>
                </a:lnSpc>
              </a:pPr>
              <a:r>
                <a:rPr lang="en-US" sz="1749">
                  <a:solidFill>
                    <a:srgbClr val="000000"/>
                  </a:solidFill>
                  <a:latin typeface="Consolas"/>
                  <a:ea typeface="Consolas"/>
                  <a:cs typeface="Consolas"/>
                  <a:sym typeface="Consolas"/>
                </a:rPr>
                <a:t> </a:t>
              </a:r>
              <a:r>
                <a:rPr lang="en-US" sz="1749">
                  <a:solidFill>
                    <a:srgbClr val="000000"/>
                  </a:solidFill>
                  <a:latin typeface="Consolas"/>
                  <a:ea typeface="Consolas"/>
                  <a:cs typeface="Consolas"/>
                  <a:sym typeface="Consolas"/>
                </a:rPr>
                <a:t>apb_setup |-&gt; (apb_start_cnt &lt; ahb_acc_cnt)</a:t>
              </a:r>
            </a:p>
          </p:txBody>
        </p:sp>
      </p:grpSp>
      <p:grpSp>
        <p:nvGrpSpPr>
          <p:cNvPr name="Group 16" id="16"/>
          <p:cNvGrpSpPr/>
          <p:nvPr/>
        </p:nvGrpSpPr>
        <p:grpSpPr>
          <a:xfrm rot="0">
            <a:off x="217050" y="6301960"/>
            <a:ext cx="2659924" cy="1422724"/>
            <a:chOff x="0" y="0"/>
            <a:chExt cx="700556" cy="374709"/>
          </a:xfrm>
        </p:grpSpPr>
        <p:sp>
          <p:nvSpPr>
            <p:cNvPr name="Freeform 17" id="17"/>
            <p:cNvSpPr/>
            <p:nvPr/>
          </p:nvSpPr>
          <p:spPr>
            <a:xfrm flipH="false" flipV="false" rot="0">
              <a:off x="0" y="0"/>
              <a:ext cx="700556" cy="374709"/>
            </a:xfrm>
            <a:custGeom>
              <a:avLst/>
              <a:gdLst/>
              <a:ahLst/>
              <a:cxnLst/>
              <a:rect r="r" b="b" t="t" l="l"/>
              <a:pathLst>
                <a:path h="374709" w="700556">
                  <a:moveTo>
                    <a:pt x="148440" y="0"/>
                  </a:moveTo>
                  <a:lnTo>
                    <a:pt x="552117" y="0"/>
                  </a:lnTo>
                  <a:cubicBezTo>
                    <a:pt x="634098" y="0"/>
                    <a:pt x="700556" y="66459"/>
                    <a:pt x="700556" y="148440"/>
                  </a:cubicBezTo>
                  <a:lnTo>
                    <a:pt x="700556" y="226270"/>
                  </a:lnTo>
                  <a:cubicBezTo>
                    <a:pt x="700556" y="308251"/>
                    <a:pt x="634098" y="374709"/>
                    <a:pt x="552117" y="374709"/>
                  </a:cubicBezTo>
                  <a:lnTo>
                    <a:pt x="148440" y="374709"/>
                  </a:lnTo>
                  <a:cubicBezTo>
                    <a:pt x="66459" y="374709"/>
                    <a:pt x="0" y="308251"/>
                    <a:pt x="0" y="226270"/>
                  </a:cubicBezTo>
                  <a:lnTo>
                    <a:pt x="0" y="148440"/>
                  </a:lnTo>
                  <a:cubicBezTo>
                    <a:pt x="0" y="66459"/>
                    <a:pt x="66459" y="0"/>
                    <a:pt x="148440" y="0"/>
                  </a:cubicBezTo>
                  <a:close/>
                </a:path>
              </a:pathLst>
            </a:custGeom>
            <a:solidFill>
              <a:srgbClr val="DCE3EC"/>
            </a:solidFill>
            <a:ln w="38100" cap="rnd">
              <a:solidFill>
                <a:srgbClr val="2D5986"/>
              </a:solidFill>
              <a:prstDash val="solid"/>
              <a:round/>
            </a:ln>
          </p:spPr>
        </p:sp>
        <p:sp>
          <p:nvSpPr>
            <p:cNvPr name="TextBox 18" id="18"/>
            <p:cNvSpPr txBox="true"/>
            <p:nvPr/>
          </p:nvSpPr>
          <p:spPr>
            <a:xfrm>
              <a:off x="0" y="-38100"/>
              <a:ext cx="700556" cy="412809"/>
            </a:xfrm>
            <a:prstGeom prst="rect">
              <a:avLst/>
            </a:prstGeom>
          </p:spPr>
          <p:txBody>
            <a:bodyPr anchor="ctr" rtlCol="false" tIns="50800" lIns="50800" bIns="50800" rIns="50800"/>
            <a:lstStyle/>
            <a:p>
              <a:pPr algn="ctr">
                <a:lnSpc>
                  <a:spcPts val="2400"/>
                </a:lnSpc>
              </a:pPr>
              <a:r>
                <a:rPr lang="en-US" sz="2000">
                  <a:solidFill>
                    <a:srgbClr val="000000"/>
                  </a:solidFill>
                  <a:latin typeface="Calibri (MS)"/>
                  <a:ea typeface="Calibri (MS)"/>
                  <a:cs typeface="Calibri (MS)"/>
                  <a:sym typeface="Calibri (MS)"/>
                </a:rPr>
                <a:t>APB Counter</a:t>
              </a:r>
            </a:p>
            <a:p>
              <a:pPr algn="ctr">
                <a:lnSpc>
                  <a:spcPts val="2400"/>
                </a:lnSpc>
              </a:pPr>
              <a:r>
                <a:rPr lang="en-US" sz="2000">
                  <a:solidFill>
                    <a:srgbClr val="000000"/>
                  </a:solidFill>
                  <a:latin typeface="Calibri (MS)"/>
                  <a:ea typeface="Calibri (MS)"/>
                  <a:cs typeface="Calibri (MS)"/>
                  <a:sym typeface="Calibri (MS)"/>
                </a:rPr>
                <a:t>@(posedge PCLK)</a:t>
              </a:r>
            </a:p>
            <a:p>
              <a:pPr algn="ctr">
                <a:lnSpc>
                  <a:spcPts val="2400"/>
                </a:lnSpc>
              </a:pPr>
              <a:r>
                <a:rPr lang="en-US" sz="2000">
                  <a:solidFill>
                    <a:srgbClr val="000000"/>
                  </a:solidFill>
                  <a:latin typeface="Calibri (MS)"/>
                  <a:ea typeface="Calibri (MS)"/>
                  <a:cs typeface="Calibri (MS)"/>
                  <a:sym typeface="Calibri (MS)"/>
                </a:rPr>
                <a:t>apb_start_cnt</a:t>
              </a:r>
            </a:p>
          </p:txBody>
        </p:sp>
      </p:grpSp>
      <p:grpSp>
        <p:nvGrpSpPr>
          <p:cNvPr name="Group 19" id="19"/>
          <p:cNvGrpSpPr/>
          <p:nvPr/>
        </p:nvGrpSpPr>
        <p:grpSpPr>
          <a:xfrm rot="0">
            <a:off x="3712137" y="6465809"/>
            <a:ext cx="3409908" cy="1114076"/>
            <a:chOff x="0" y="0"/>
            <a:chExt cx="898083" cy="293419"/>
          </a:xfrm>
        </p:grpSpPr>
        <p:sp>
          <p:nvSpPr>
            <p:cNvPr name="Freeform 20" id="20"/>
            <p:cNvSpPr/>
            <p:nvPr/>
          </p:nvSpPr>
          <p:spPr>
            <a:xfrm flipH="false" flipV="false" rot="0">
              <a:off x="0" y="0"/>
              <a:ext cx="898083" cy="293419"/>
            </a:xfrm>
            <a:custGeom>
              <a:avLst/>
              <a:gdLst/>
              <a:ahLst/>
              <a:cxnLst/>
              <a:rect r="r" b="b" t="t" l="l"/>
              <a:pathLst>
                <a:path h="293419" w="898083">
                  <a:moveTo>
                    <a:pt x="68113" y="0"/>
                  </a:moveTo>
                  <a:lnTo>
                    <a:pt x="829970" y="0"/>
                  </a:lnTo>
                  <a:cubicBezTo>
                    <a:pt x="867588" y="0"/>
                    <a:pt x="898083" y="30495"/>
                    <a:pt x="898083" y="68113"/>
                  </a:cubicBezTo>
                  <a:lnTo>
                    <a:pt x="898083" y="225307"/>
                  </a:lnTo>
                  <a:cubicBezTo>
                    <a:pt x="898083" y="243371"/>
                    <a:pt x="890907" y="260696"/>
                    <a:pt x="878133" y="273470"/>
                  </a:cubicBezTo>
                  <a:cubicBezTo>
                    <a:pt x="865359" y="286243"/>
                    <a:pt x="848035" y="293419"/>
                    <a:pt x="829970" y="293419"/>
                  </a:cubicBezTo>
                  <a:lnTo>
                    <a:pt x="68113" y="293419"/>
                  </a:lnTo>
                  <a:cubicBezTo>
                    <a:pt x="50048" y="293419"/>
                    <a:pt x="32723" y="286243"/>
                    <a:pt x="19950" y="273470"/>
                  </a:cubicBezTo>
                  <a:cubicBezTo>
                    <a:pt x="7176" y="260696"/>
                    <a:pt x="0" y="243371"/>
                    <a:pt x="0" y="225307"/>
                  </a:cubicBezTo>
                  <a:lnTo>
                    <a:pt x="0" y="68113"/>
                  </a:lnTo>
                  <a:cubicBezTo>
                    <a:pt x="0" y="50048"/>
                    <a:pt x="7176" y="32723"/>
                    <a:pt x="19950" y="19950"/>
                  </a:cubicBezTo>
                  <a:cubicBezTo>
                    <a:pt x="32723" y="7176"/>
                    <a:pt x="50048" y="0"/>
                    <a:pt x="68113" y="0"/>
                  </a:cubicBezTo>
                  <a:close/>
                </a:path>
              </a:pathLst>
            </a:custGeom>
            <a:solidFill>
              <a:srgbClr val="DCE3EC"/>
            </a:solidFill>
            <a:ln w="38100" cap="rnd">
              <a:solidFill>
                <a:srgbClr val="2D5986"/>
              </a:solidFill>
              <a:prstDash val="solid"/>
              <a:round/>
            </a:ln>
          </p:spPr>
        </p:sp>
        <p:sp>
          <p:nvSpPr>
            <p:cNvPr name="TextBox 21" id="21"/>
            <p:cNvSpPr txBox="true"/>
            <p:nvPr/>
          </p:nvSpPr>
          <p:spPr>
            <a:xfrm>
              <a:off x="0" y="-47625"/>
              <a:ext cx="898083" cy="341044"/>
            </a:xfrm>
            <a:prstGeom prst="rect">
              <a:avLst/>
            </a:prstGeom>
          </p:spPr>
          <p:txBody>
            <a:bodyPr anchor="ctr" rtlCol="false" tIns="50800" lIns="50800" bIns="50800" rIns="50800"/>
            <a:lstStyle/>
            <a:p>
              <a:pPr algn="ctr">
                <a:lnSpc>
                  <a:spcPts val="2999"/>
                </a:lnSpc>
              </a:pPr>
              <a:r>
                <a:rPr lang="en-US" sz="2499">
                  <a:solidFill>
                    <a:srgbClr val="000000"/>
                  </a:solidFill>
                  <a:latin typeface="Calibri (MS)"/>
                  <a:ea typeface="Calibri (MS)"/>
                  <a:cs typeface="Calibri (MS)"/>
                  <a:sym typeface="Calibri (MS)"/>
                </a:rPr>
                <a:t> if ( apb_setup)</a:t>
              </a:r>
            </a:p>
            <a:p>
              <a:pPr algn="ctr">
                <a:lnSpc>
                  <a:spcPts val="2999"/>
                </a:lnSpc>
              </a:pPr>
              <a:r>
                <a:rPr lang="en-US" sz="2499">
                  <a:solidFill>
                    <a:srgbClr val="000000"/>
                  </a:solidFill>
                  <a:latin typeface="Calibri (MS)"/>
                  <a:ea typeface="Calibri (MS)"/>
                  <a:cs typeface="Calibri (MS)"/>
                  <a:sym typeface="Calibri (MS)"/>
                </a:rPr>
                <a:t>     </a:t>
              </a:r>
              <a:r>
                <a:rPr lang="en-US" sz="2499">
                  <a:solidFill>
                    <a:srgbClr val="000000"/>
                  </a:solidFill>
                  <a:latin typeface="Calibri (MS)"/>
                  <a:ea typeface="Calibri (MS)"/>
                  <a:cs typeface="Calibri (MS)"/>
                  <a:sym typeface="Calibri (MS)"/>
                </a:rPr>
                <a:t>apb_start_cnt ++;</a:t>
              </a:r>
            </a:p>
          </p:txBody>
        </p:sp>
      </p:grpSp>
      <p:sp>
        <p:nvSpPr>
          <p:cNvPr name="Freeform 22" id="22"/>
          <p:cNvSpPr/>
          <p:nvPr/>
        </p:nvSpPr>
        <p:spPr>
          <a:xfrm>
            <a:off x="7122045" y="4411213"/>
            <a:ext cx="1146742" cy="1238076"/>
          </a:xfrm>
          <a:custGeom>
            <a:avLst/>
            <a:gdLst/>
            <a:ahLst/>
            <a:cxnLst/>
            <a:rect r="r" b="b" t="t" l="l"/>
            <a:pathLst>
              <a:path h="1238076" w="1146742">
                <a:moveTo>
                  <a:pt x="0" y="0"/>
                </a:moveTo>
                <a:lnTo>
                  <a:pt x="0" y="390438"/>
                </a:lnTo>
                <a:cubicBezTo>
                  <a:pt x="0" y="516690"/>
                  <a:pt x="102348" y="619038"/>
                  <a:pt x="228600" y="619038"/>
                </a:cubicBezTo>
                <a:lnTo>
                  <a:pt x="918142" y="619038"/>
                </a:lnTo>
                <a:cubicBezTo>
                  <a:pt x="1044394" y="619038"/>
                  <a:pt x="1146742" y="721385"/>
                  <a:pt x="1146742" y="847638"/>
                </a:cubicBezTo>
                <a:lnTo>
                  <a:pt x="1146742" y="1238076"/>
                </a:lnTo>
              </a:path>
            </a:pathLst>
          </a:custGeom>
          <a:ln cap="flat" w="38100">
            <a:solidFill>
              <a:srgbClr val="2D5986"/>
            </a:solidFill>
            <a:prstDash val="solid"/>
            <a:headEnd type="none" len="sm" w="sm"/>
            <a:tailEnd type="triangle" len="med" w="lg"/>
          </a:ln>
        </p:spPr>
      </p:sp>
      <p:sp>
        <p:nvSpPr>
          <p:cNvPr name="Freeform 23" id="23"/>
          <p:cNvSpPr/>
          <p:nvPr/>
        </p:nvSpPr>
        <p:spPr>
          <a:xfrm>
            <a:off x="7122045" y="5649289"/>
            <a:ext cx="1146742" cy="1373559"/>
          </a:xfrm>
          <a:custGeom>
            <a:avLst/>
            <a:gdLst/>
            <a:ahLst/>
            <a:cxnLst/>
            <a:rect r="r" b="b" t="t" l="l"/>
            <a:pathLst>
              <a:path h="1373559" w="1146742">
                <a:moveTo>
                  <a:pt x="0" y="1373558"/>
                </a:moveTo>
                <a:lnTo>
                  <a:pt x="0" y="915379"/>
                </a:lnTo>
                <a:cubicBezTo>
                  <a:pt x="0" y="789127"/>
                  <a:pt x="102348" y="686779"/>
                  <a:pt x="228600" y="686779"/>
                </a:cubicBezTo>
                <a:lnTo>
                  <a:pt x="918142" y="686779"/>
                </a:lnTo>
                <a:cubicBezTo>
                  <a:pt x="978771" y="686779"/>
                  <a:pt x="1036916" y="662694"/>
                  <a:pt x="1079786" y="619824"/>
                </a:cubicBezTo>
                <a:cubicBezTo>
                  <a:pt x="1122657" y="576953"/>
                  <a:pt x="1146742" y="518807"/>
                  <a:pt x="1146742" y="458179"/>
                </a:cubicBezTo>
                <a:lnTo>
                  <a:pt x="1146742" y="0"/>
                </a:lnTo>
              </a:path>
            </a:pathLst>
          </a:custGeom>
          <a:ln cap="flat" w="38100">
            <a:solidFill>
              <a:srgbClr val="2D5986"/>
            </a:solidFill>
            <a:prstDash val="solid"/>
            <a:headEnd type="none" len="sm" w="sm"/>
            <a:tailEnd type="triangle" len="med" w="lg"/>
          </a:ln>
        </p:spPr>
      </p:sp>
      <p:sp>
        <p:nvSpPr>
          <p:cNvPr name="AutoShape 24" id="24"/>
          <p:cNvSpPr/>
          <p:nvPr/>
        </p:nvSpPr>
        <p:spPr>
          <a:xfrm>
            <a:off x="2876974" y="4411213"/>
            <a:ext cx="835163" cy="0"/>
          </a:xfrm>
          <a:prstGeom prst="line">
            <a:avLst/>
          </a:prstGeom>
          <a:ln cap="flat" w="38100">
            <a:solidFill>
              <a:srgbClr val="2D5986"/>
            </a:solidFill>
            <a:prstDash val="solid"/>
            <a:headEnd type="none" len="sm" w="sm"/>
            <a:tailEnd type="triangle" len="med" w="lg"/>
          </a:ln>
        </p:spPr>
      </p:sp>
      <p:sp>
        <p:nvSpPr>
          <p:cNvPr name="AutoShape 25" id="25"/>
          <p:cNvSpPr/>
          <p:nvPr/>
        </p:nvSpPr>
        <p:spPr>
          <a:xfrm>
            <a:off x="2876974" y="7013322"/>
            <a:ext cx="835163" cy="9525"/>
          </a:xfrm>
          <a:prstGeom prst="line">
            <a:avLst/>
          </a:prstGeom>
          <a:ln cap="flat" w="38100">
            <a:solidFill>
              <a:srgbClr val="2D5986"/>
            </a:solidFill>
            <a:prstDash val="solid"/>
            <a:headEnd type="none" len="sm" w="sm"/>
            <a:tailEnd type="triangle" len="med" w="lg"/>
          </a:ln>
        </p:spPr>
      </p:sp>
      <p:grpSp>
        <p:nvGrpSpPr>
          <p:cNvPr name="Group 26" id="26"/>
          <p:cNvGrpSpPr/>
          <p:nvPr/>
        </p:nvGrpSpPr>
        <p:grpSpPr>
          <a:xfrm rot="0">
            <a:off x="11678737" y="6733148"/>
            <a:ext cx="6479236" cy="1649801"/>
            <a:chOff x="0" y="0"/>
            <a:chExt cx="1706465" cy="434516"/>
          </a:xfrm>
        </p:grpSpPr>
        <p:sp>
          <p:nvSpPr>
            <p:cNvPr name="Freeform 27" id="27"/>
            <p:cNvSpPr/>
            <p:nvPr/>
          </p:nvSpPr>
          <p:spPr>
            <a:xfrm flipH="false" flipV="false" rot="0">
              <a:off x="0" y="0"/>
              <a:ext cx="1706465" cy="434516"/>
            </a:xfrm>
            <a:custGeom>
              <a:avLst/>
              <a:gdLst/>
              <a:ahLst/>
              <a:cxnLst/>
              <a:rect r="r" b="b" t="t" l="l"/>
              <a:pathLst>
                <a:path h="434516" w="1706465">
                  <a:moveTo>
                    <a:pt x="35846" y="0"/>
                  </a:moveTo>
                  <a:lnTo>
                    <a:pt x="1670619" y="0"/>
                  </a:lnTo>
                  <a:cubicBezTo>
                    <a:pt x="1680126" y="0"/>
                    <a:pt x="1689244" y="3777"/>
                    <a:pt x="1695966" y="10499"/>
                  </a:cubicBezTo>
                  <a:cubicBezTo>
                    <a:pt x="1702689" y="17222"/>
                    <a:pt x="1706465" y="26339"/>
                    <a:pt x="1706465" y="35846"/>
                  </a:cubicBezTo>
                  <a:lnTo>
                    <a:pt x="1706465" y="398669"/>
                  </a:lnTo>
                  <a:cubicBezTo>
                    <a:pt x="1706465" y="408176"/>
                    <a:pt x="1702689" y="417294"/>
                    <a:pt x="1695966" y="424016"/>
                  </a:cubicBezTo>
                  <a:cubicBezTo>
                    <a:pt x="1689244" y="430739"/>
                    <a:pt x="1680126" y="434516"/>
                    <a:pt x="1670619" y="434516"/>
                  </a:cubicBezTo>
                  <a:lnTo>
                    <a:pt x="35846" y="434516"/>
                  </a:lnTo>
                  <a:cubicBezTo>
                    <a:pt x="26339" y="434516"/>
                    <a:pt x="17222" y="430739"/>
                    <a:pt x="10499" y="424016"/>
                  </a:cubicBezTo>
                  <a:cubicBezTo>
                    <a:pt x="3777" y="417294"/>
                    <a:pt x="0" y="408176"/>
                    <a:pt x="0" y="398669"/>
                  </a:cubicBezTo>
                  <a:lnTo>
                    <a:pt x="0" y="35846"/>
                  </a:lnTo>
                  <a:cubicBezTo>
                    <a:pt x="0" y="26339"/>
                    <a:pt x="3777" y="17222"/>
                    <a:pt x="10499" y="10499"/>
                  </a:cubicBezTo>
                  <a:cubicBezTo>
                    <a:pt x="17222" y="3777"/>
                    <a:pt x="26339" y="0"/>
                    <a:pt x="35846" y="0"/>
                  </a:cubicBezTo>
                  <a:close/>
                </a:path>
              </a:pathLst>
            </a:custGeom>
            <a:solidFill>
              <a:srgbClr val="DCE3EC"/>
            </a:solidFill>
            <a:ln w="38100" cap="rnd">
              <a:solidFill>
                <a:srgbClr val="2D5986"/>
              </a:solidFill>
              <a:prstDash val="solid"/>
              <a:round/>
            </a:ln>
          </p:spPr>
        </p:sp>
        <p:sp>
          <p:nvSpPr>
            <p:cNvPr name="TextBox 28" id="28"/>
            <p:cNvSpPr txBox="true"/>
            <p:nvPr/>
          </p:nvSpPr>
          <p:spPr>
            <a:xfrm>
              <a:off x="0" y="-47625"/>
              <a:ext cx="1706465" cy="482141"/>
            </a:xfrm>
            <a:prstGeom prst="rect">
              <a:avLst/>
            </a:prstGeom>
          </p:spPr>
          <p:txBody>
            <a:bodyPr anchor="ctr" rtlCol="false" tIns="50800" lIns="50800" bIns="50800" rIns="50800"/>
            <a:lstStyle/>
            <a:p>
              <a:pPr algn="l" marL="496571" indent="-248285" lvl="1">
                <a:lnSpc>
                  <a:spcPts val="2760"/>
                </a:lnSpc>
                <a:buAutoNum type="arabicPeriod" startAt="1"/>
              </a:pPr>
              <a:r>
                <a:rPr lang="en-US" sz="2300">
                  <a:solidFill>
                    <a:srgbClr val="000000"/>
                  </a:solidFill>
                  <a:latin typeface="Calibri (MS)"/>
                  <a:ea typeface="Calibri (MS)"/>
                  <a:cs typeface="Calibri (MS)"/>
                  <a:sym typeface="Calibri (MS)"/>
                </a:rPr>
                <a:t> </a:t>
              </a:r>
              <a:r>
                <a:rPr lang="en-US" sz="2300">
                  <a:solidFill>
                    <a:srgbClr val="000000"/>
                  </a:solidFill>
                  <a:latin typeface="Calibri (MS)"/>
                  <a:ea typeface="Calibri (MS)"/>
                  <a:cs typeface="Calibri (MS)"/>
                  <a:sym typeface="Calibri (MS)"/>
                </a:rPr>
                <a:t>When the</a:t>
              </a:r>
              <a:r>
                <a:rPr lang="en-US" sz="2300">
                  <a:solidFill>
                    <a:srgbClr val="000000"/>
                  </a:solidFill>
                  <a:latin typeface="Calibri (MS)"/>
                  <a:ea typeface="Calibri (MS)"/>
                  <a:cs typeface="Calibri (MS)"/>
                  <a:sym typeface="Calibri (MS)"/>
                </a:rPr>
                <a:t> AHB side completes (HREADYOUT = 1) the counters must match.</a:t>
              </a:r>
            </a:p>
            <a:p>
              <a:pPr algn="ctr">
                <a:lnSpc>
                  <a:spcPts val="1620"/>
                </a:lnSpc>
              </a:pPr>
            </a:p>
            <a:p>
              <a:pPr algn="l">
                <a:lnSpc>
                  <a:spcPts val="2099"/>
                </a:lnSpc>
              </a:pPr>
              <a:r>
                <a:rPr lang="en-US" sz="1749">
                  <a:solidFill>
                    <a:srgbClr val="000000"/>
                  </a:solidFill>
                  <a:latin typeface="Consolas"/>
                  <a:ea typeface="Consolas"/>
                  <a:cs typeface="Consolas"/>
                  <a:sym typeface="Consolas"/>
                </a:rPr>
                <a:t> $rose(HREADYOUT) |-&gt; (apb_start_cnt==ahb_acc_cnt)</a:t>
              </a:r>
            </a:p>
            <a:p>
              <a:pPr algn="l">
                <a:lnSpc>
                  <a:spcPts val="2099"/>
                </a:lnSpc>
              </a:pPr>
            </a:p>
          </p:txBody>
        </p:sp>
      </p:grpSp>
      <p:sp>
        <p:nvSpPr>
          <p:cNvPr name="Freeform 29" id="29"/>
          <p:cNvSpPr/>
          <p:nvPr/>
        </p:nvSpPr>
        <p:spPr>
          <a:xfrm>
            <a:off x="11042562" y="3854174"/>
            <a:ext cx="636175" cy="1795114"/>
          </a:xfrm>
          <a:custGeom>
            <a:avLst/>
            <a:gdLst/>
            <a:ahLst/>
            <a:cxnLst/>
            <a:rect r="r" b="b" t="t" l="l"/>
            <a:pathLst>
              <a:path h="1795114" w="636175">
                <a:moveTo>
                  <a:pt x="0" y="1795115"/>
                </a:moveTo>
                <a:lnTo>
                  <a:pt x="0" y="1126158"/>
                </a:lnTo>
                <a:cubicBezTo>
                  <a:pt x="0" y="999905"/>
                  <a:pt x="102348" y="897558"/>
                  <a:pt x="228600" y="897558"/>
                </a:cubicBezTo>
                <a:lnTo>
                  <a:pt x="407575" y="897558"/>
                </a:lnTo>
                <a:cubicBezTo>
                  <a:pt x="468204" y="897558"/>
                  <a:pt x="526349" y="873473"/>
                  <a:pt x="569219" y="830602"/>
                </a:cubicBezTo>
                <a:cubicBezTo>
                  <a:pt x="612090" y="787731"/>
                  <a:pt x="636175" y="729586"/>
                  <a:pt x="636175" y="668958"/>
                </a:cubicBezTo>
                <a:lnTo>
                  <a:pt x="636175" y="0"/>
                </a:lnTo>
              </a:path>
            </a:pathLst>
          </a:custGeom>
          <a:ln cap="flat" w="38100">
            <a:solidFill>
              <a:srgbClr val="2D5986"/>
            </a:solidFill>
            <a:prstDash val="solid"/>
            <a:headEnd type="none" len="sm" w="sm"/>
            <a:tailEnd type="triangle" len="med" w="lg"/>
          </a:ln>
        </p:spPr>
      </p:sp>
      <p:sp>
        <p:nvSpPr>
          <p:cNvPr name="Freeform 30" id="30"/>
          <p:cNvSpPr/>
          <p:nvPr/>
        </p:nvSpPr>
        <p:spPr>
          <a:xfrm>
            <a:off x="11042562" y="5671662"/>
            <a:ext cx="528522" cy="1997335"/>
          </a:xfrm>
          <a:custGeom>
            <a:avLst/>
            <a:gdLst/>
            <a:ahLst/>
            <a:cxnLst/>
            <a:rect r="r" b="b" t="t" l="l"/>
            <a:pathLst>
              <a:path h="1997335" w="528522">
                <a:moveTo>
                  <a:pt x="0" y="0"/>
                </a:moveTo>
                <a:lnTo>
                  <a:pt x="0" y="770067"/>
                </a:lnTo>
                <a:cubicBezTo>
                  <a:pt x="0" y="896319"/>
                  <a:pt x="102348" y="998667"/>
                  <a:pt x="228600" y="998667"/>
                </a:cubicBezTo>
                <a:lnTo>
                  <a:pt x="299922" y="998667"/>
                </a:lnTo>
                <a:cubicBezTo>
                  <a:pt x="426174" y="998667"/>
                  <a:pt x="528522" y="1101015"/>
                  <a:pt x="528522" y="1227267"/>
                </a:cubicBezTo>
                <a:lnTo>
                  <a:pt x="528522" y="1997334"/>
                </a:lnTo>
              </a:path>
            </a:pathLst>
          </a:custGeom>
          <a:ln cap="flat" w="38100">
            <a:solidFill>
              <a:srgbClr val="2D5986"/>
            </a:solidFill>
            <a:prstDash val="solid"/>
            <a:headEnd type="none" len="sm" w="sm"/>
            <a:tailEnd type="triangle" len="med" w="lg"/>
          </a:ln>
        </p:spPr>
      </p:sp>
      <p:grpSp>
        <p:nvGrpSpPr>
          <p:cNvPr name="Group 31" id="31"/>
          <p:cNvGrpSpPr/>
          <p:nvPr/>
        </p:nvGrpSpPr>
        <p:grpSpPr>
          <a:xfrm rot="0">
            <a:off x="685800" y="9710928"/>
            <a:ext cx="10972800" cy="411480"/>
            <a:chOff x="0" y="0"/>
            <a:chExt cx="14630400" cy="548640"/>
          </a:xfrm>
        </p:grpSpPr>
        <p:sp>
          <p:nvSpPr>
            <p:cNvPr name="Freeform 32" id="3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33" id="33"/>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34" id="34"/>
          <p:cNvGrpSpPr/>
          <p:nvPr/>
        </p:nvGrpSpPr>
        <p:grpSpPr>
          <a:xfrm rot="0">
            <a:off x="16911828" y="9710928"/>
            <a:ext cx="685800" cy="411480"/>
            <a:chOff x="0" y="0"/>
            <a:chExt cx="914400" cy="548640"/>
          </a:xfrm>
        </p:grpSpPr>
        <p:sp>
          <p:nvSpPr>
            <p:cNvPr name="Freeform 35" id="3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36" id="36"/>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23</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grpSp>
        <p:nvGrpSpPr>
          <p:cNvPr name="Group 2" id="2"/>
          <p:cNvGrpSpPr/>
          <p:nvPr/>
        </p:nvGrpSpPr>
        <p:grpSpPr>
          <a:xfrm rot="0">
            <a:off x="217050" y="1762466"/>
            <a:ext cx="8926950" cy="7964519"/>
            <a:chOff x="0" y="0"/>
            <a:chExt cx="2351131" cy="2097651"/>
          </a:xfrm>
        </p:grpSpPr>
        <p:sp>
          <p:nvSpPr>
            <p:cNvPr name="Freeform 3" id="3"/>
            <p:cNvSpPr/>
            <p:nvPr/>
          </p:nvSpPr>
          <p:spPr>
            <a:xfrm flipH="false" flipV="false" rot="0">
              <a:off x="0" y="0"/>
              <a:ext cx="2351131" cy="2097651"/>
            </a:xfrm>
            <a:custGeom>
              <a:avLst/>
              <a:gdLst/>
              <a:ahLst/>
              <a:cxnLst/>
              <a:rect r="r" b="b" t="t" l="l"/>
              <a:pathLst>
                <a:path h="2097651" w="2351131">
                  <a:moveTo>
                    <a:pt x="9540" y="0"/>
                  </a:moveTo>
                  <a:lnTo>
                    <a:pt x="2341591" y="0"/>
                  </a:lnTo>
                  <a:cubicBezTo>
                    <a:pt x="2344121" y="0"/>
                    <a:pt x="2346548" y="1005"/>
                    <a:pt x="2348337" y="2794"/>
                  </a:cubicBezTo>
                  <a:cubicBezTo>
                    <a:pt x="2350126" y="4583"/>
                    <a:pt x="2351131" y="7010"/>
                    <a:pt x="2351131" y="9540"/>
                  </a:cubicBezTo>
                  <a:lnTo>
                    <a:pt x="2351131" y="2088111"/>
                  </a:lnTo>
                  <a:cubicBezTo>
                    <a:pt x="2351131" y="2090641"/>
                    <a:pt x="2350126" y="2093068"/>
                    <a:pt x="2348337" y="2094857"/>
                  </a:cubicBezTo>
                  <a:cubicBezTo>
                    <a:pt x="2346548" y="2096646"/>
                    <a:pt x="2344121" y="2097651"/>
                    <a:pt x="2341591" y="2097651"/>
                  </a:cubicBezTo>
                  <a:lnTo>
                    <a:pt x="9540" y="2097651"/>
                  </a:lnTo>
                  <a:cubicBezTo>
                    <a:pt x="7010" y="2097651"/>
                    <a:pt x="4583" y="2096646"/>
                    <a:pt x="2794" y="2094857"/>
                  </a:cubicBezTo>
                  <a:cubicBezTo>
                    <a:pt x="1005" y="2093068"/>
                    <a:pt x="0" y="2090641"/>
                    <a:pt x="0" y="2088111"/>
                  </a:cubicBezTo>
                  <a:lnTo>
                    <a:pt x="0" y="9540"/>
                  </a:lnTo>
                  <a:cubicBezTo>
                    <a:pt x="0" y="7010"/>
                    <a:pt x="1005" y="4583"/>
                    <a:pt x="2794" y="2794"/>
                  </a:cubicBezTo>
                  <a:cubicBezTo>
                    <a:pt x="4583" y="1005"/>
                    <a:pt x="7010" y="0"/>
                    <a:pt x="9540" y="0"/>
                  </a:cubicBezTo>
                  <a:close/>
                </a:path>
              </a:pathLst>
            </a:custGeom>
            <a:solidFill>
              <a:srgbClr val="DCE3EC"/>
            </a:solidFill>
            <a:ln w="9525" cap="sq">
              <a:solidFill>
                <a:srgbClr val="23496D"/>
              </a:solidFill>
              <a:prstDash val="solid"/>
              <a:miter/>
            </a:ln>
          </p:spPr>
        </p:sp>
        <p:sp>
          <p:nvSpPr>
            <p:cNvPr name="TextBox 4" id="4"/>
            <p:cNvSpPr txBox="true"/>
            <p:nvPr/>
          </p:nvSpPr>
          <p:spPr>
            <a:xfrm>
              <a:off x="0" y="-28575"/>
              <a:ext cx="2351131" cy="2126226"/>
            </a:xfrm>
            <a:prstGeom prst="rect">
              <a:avLst/>
            </a:prstGeom>
          </p:spPr>
          <p:txBody>
            <a:bodyPr anchor="ctr" rtlCol="false" tIns="50800" lIns="50800" bIns="50800" rIns="50800"/>
            <a:lstStyle/>
            <a:p>
              <a:pPr algn="ctr">
                <a:lnSpc>
                  <a:spcPts val="1620"/>
                </a:lnSpc>
              </a:pPr>
            </a:p>
          </p:txBody>
        </p:sp>
      </p:grpSp>
      <p:sp>
        <p:nvSpPr>
          <p:cNvPr name="Freeform 5" id="5"/>
          <p:cNvSpPr/>
          <p:nvPr/>
        </p:nvSpPr>
        <p:spPr>
          <a:xfrm flipH="false" flipV="false" rot="0">
            <a:off x="9228538" y="3565267"/>
            <a:ext cx="9097562" cy="3156466"/>
          </a:xfrm>
          <a:custGeom>
            <a:avLst/>
            <a:gdLst/>
            <a:ahLst/>
            <a:cxnLst/>
            <a:rect r="r" b="b" t="t" l="l"/>
            <a:pathLst>
              <a:path h="3156466" w="9097562">
                <a:moveTo>
                  <a:pt x="0" y="0"/>
                </a:moveTo>
                <a:lnTo>
                  <a:pt x="9097562" y="0"/>
                </a:lnTo>
                <a:lnTo>
                  <a:pt x="9097562" y="3156466"/>
                </a:lnTo>
                <a:lnTo>
                  <a:pt x="0" y="3156466"/>
                </a:lnTo>
                <a:lnTo>
                  <a:pt x="0" y="0"/>
                </a:lnTo>
                <a:close/>
              </a:path>
            </a:pathLst>
          </a:custGeom>
          <a:blipFill>
            <a:blip r:embed="rId2"/>
            <a:stretch>
              <a:fillRect l="0" t="0" r="0" b="0"/>
            </a:stretch>
          </a:blipFill>
        </p:spPr>
      </p:sp>
      <p:sp>
        <p:nvSpPr>
          <p:cNvPr name="TextBox 6" id="6"/>
          <p:cNvSpPr txBox="true"/>
          <p:nvPr/>
        </p:nvSpPr>
        <p:spPr>
          <a:xfrm rot="0">
            <a:off x="217050" y="36820"/>
            <a:ext cx="12392586" cy="1295396"/>
          </a:xfrm>
          <a:prstGeom prst="rect">
            <a:avLst/>
          </a:prstGeom>
        </p:spPr>
        <p:txBody>
          <a:bodyPr anchor="t" rtlCol="false" tIns="0" lIns="0" bIns="0" rIns="0">
            <a:spAutoFit/>
          </a:bodyPr>
          <a:lstStyle/>
          <a:p>
            <a:pPr algn="l">
              <a:lnSpc>
                <a:spcPts val="10500"/>
              </a:lnSpc>
              <a:spcBef>
                <a:spcPct val="0"/>
              </a:spcBef>
            </a:pPr>
            <a:r>
              <a:rPr lang="en-US" sz="7500">
                <a:solidFill>
                  <a:srgbClr val="2D5986"/>
                </a:solidFill>
                <a:latin typeface="Anton"/>
                <a:ea typeface="Anton"/>
                <a:cs typeface="Anton"/>
                <a:sym typeface="Anton"/>
              </a:rPr>
              <a:t>Assertions - CDC Handshaking</a:t>
            </a:r>
          </a:p>
        </p:txBody>
      </p:sp>
      <p:sp>
        <p:nvSpPr>
          <p:cNvPr name="TextBox 7" id="7"/>
          <p:cNvSpPr txBox="true"/>
          <p:nvPr/>
        </p:nvSpPr>
        <p:spPr>
          <a:xfrm rot="0">
            <a:off x="217050" y="1677370"/>
            <a:ext cx="8973388" cy="8406027"/>
          </a:xfrm>
          <a:prstGeom prst="rect">
            <a:avLst/>
          </a:prstGeom>
        </p:spPr>
        <p:txBody>
          <a:bodyPr anchor="t" rtlCol="false" tIns="0" lIns="0" bIns="0" rIns="0">
            <a:spAutoFit/>
          </a:bodyPr>
          <a:lstStyle/>
          <a:p>
            <a:pPr algn="l" marL="848280" indent="-424140" lvl="1">
              <a:lnSpc>
                <a:spcPts val="5500"/>
              </a:lnSpc>
              <a:spcBef>
                <a:spcPct val="0"/>
              </a:spcBef>
              <a:buFont typeface="Arial"/>
              <a:buChar char="•"/>
            </a:pPr>
            <a:r>
              <a:rPr lang="en-US" b="true" sz="3929">
                <a:solidFill>
                  <a:srgbClr val="2D5986"/>
                </a:solidFill>
                <a:latin typeface="Calibri (MS) Bold"/>
                <a:ea typeface="Calibri (MS) Bold"/>
                <a:cs typeface="Calibri (MS) Bold"/>
                <a:sym typeface="Calibri (MS) Bold"/>
              </a:rPr>
              <a:t>Req</a:t>
            </a:r>
            <a:r>
              <a:rPr lang="en-US" b="true" sz="3929">
                <a:solidFill>
                  <a:srgbClr val="2D5986"/>
                </a:solidFill>
                <a:latin typeface="Calibri (MS) Bold"/>
                <a:ea typeface="Calibri (MS) Bold"/>
                <a:cs typeface="Calibri (MS) Bold"/>
                <a:sym typeface="Calibri (MS) Bold"/>
              </a:rPr>
              <a:t> may only rise when Ack is low</a:t>
            </a:r>
          </a:p>
          <a:p>
            <a:pPr algn="l">
              <a:lnSpc>
                <a:spcPts val="5500"/>
              </a:lnSpc>
              <a:spcBef>
                <a:spcPct val="0"/>
              </a:spcBef>
            </a:pPr>
            <a:r>
              <a:rPr lang="en-US" sz="3929">
                <a:solidFill>
                  <a:srgbClr val="2D5986"/>
                </a:solidFill>
                <a:latin typeface="Consolas"/>
                <a:ea typeface="Consolas"/>
                <a:cs typeface="Consolas"/>
                <a:sym typeface="Consolas"/>
              </a:rPr>
              <a:t>  </a:t>
            </a:r>
            <a:r>
              <a:rPr lang="en-US" sz="3929">
                <a:solidFill>
                  <a:srgbClr val="2D5986"/>
                </a:solidFill>
                <a:latin typeface="Consolas"/>
                <a:ea typeface="Consolas"/>
                <a:cs typeface="Consolas"/>
                <a:sym typeface="Consolas"/>
              </a:rPr>
              <a:t> $rose(s_req_h) |-&gt; !s_ack_h)</a:t>
            </a:r>
          </a:p>
          <a:p>
            <a:pPr algn="l">
              <a:lnSpc>
                <a:spcPts val="5500"/>
              </a:lnSpc>
              <a:spcBef>
                <a:spcPct val="0"/>
              </a:spcBef>
            </a:pPr>
          </a:p>
          <a:p>
            <a:pPr algn="l" marL="848280" indent="-424140" lvl="1">
              <a:lnSpc>
                <a:spcPts val="5500"/>
              </a:lnSpc>
              <a:spcBef>
                <a:spcPct val="0"/>
              </a:spcBef>
              <a:buFont typeface="Arial"/>
              <a:buChar char="•"/>
            </a:pPr>
            <a:r>
              <a:rPr lang="en-US" b="true" sz="3929">
                <a:solidFill>
                  <a:srgbClr val="2D5986"/>
                </a:solidFill>
                <a:latin typeface="Calibri (MS) Bold"/>
                <a:ea typeface="Calibri (MS) Bold"/>
                <a:cs typeface="Calibri (MS) Bold"/>
                <a:sym typeface="Calibri (MS) Bold"/>
              </a:rPr>
              <a:t>Req may only fall when Ack is high</a:t>
            </a:r>
          </a:p>
          <a:p>
            <a:pPr algn="l">
              <a:lnSpc>
                <a:spcPts val="5500"/>
              </a:lnSpc>
              <a:spcBef>
                <a:spcPct val="0"/>
              </a:spcBef>
            </a:pPr>
            <a:r>
              <a:rPr lang="en-US" sz="3929">
                <a:solidFill>
                  <a:srgbClr val="2D5986"/>
                </a:solidFill>
                <a:latin typeface="Consolas"/>
                <a:ea typeface="Consolas"/>
                <a:cs typeface="Consolas"/>
                <a:sym typeface="Consolas"/>
              </a:rPr>
              <a:t>   </a:t>
            </a:r>
            <a:r>
              <a:rPr lang="en-US" sz="3929">
                <a:solidFill>
                  <a:srgbClr val="2D5986"/>
                </a:solidFill>
                <a:latin typeface="Consolas"/>
                <a:ea typeface="Consolas"/>
                <a:cs typeface="Consolas"/>
                <a:sym typeface="Consolas"/>
              </a:rPr>
              <a:t>$fell(s_req_h) |-&gt; s_ack_h)</a:t>
            </a:r>
          </a:p>
          <a:p>
            <a:pPr algn="l">
              <a:lnSpc>
                <a:spcPts val="5500"/>
              </a:lnSpc>
              <a:spcBef>
                <a:spcPct val="0"/>
              </a:spcBef>
            </a:pPr>
          </a:p>
          <a:p>
            <a:pPr algn="l" marL="848280" indent="-424140" lvl="1">
              <a:lnSpc>
                <a:spcPts val="5500"/>
              </a:lnSpc>
              <a:spcBef>
                <a:spcPct val="0"/>
              </a:spcBef>
              <a:buFont typeface="Arial"/>
              <a:buChar char="•"/>
            </a:pPr>
            <a:r>
              <a:rPr lang="en-US" b="true" sz="3929">
                <a:solidFill>
                  <a:srgbClr val="2D5986"/>
                </a:solidFill>
                <a:latin typeface="Calibri (MS) Bold"/>
                <a:ea typeface="Calibri (MS) Bold"/>
                <a:cs typeface="Calibri (MS) Bold"/>
                <a:sym typeface="Calibri (MS) Bold"/>
              </a:rPr>
              <a:t>Ack may only rise when Req is high</a:t>
            </a:r>
          </a:p>
          <a:p>
            <a:pPr algn="l">
              <a:lnSpc>
                <a:spcPts val="5500"/>
              </a:lnSpc>
              <a:spcBef>
                <a:spcPct val="0"/>
              </a:spcBef>
            </a:pPr>
            <a:r>
              <a:rPr lang="en-US" sz="3929">
                <a:solidFill>
                  <a:srgbClr val="2D5986"/>
                </a:solidFill>
                <a:latin typeface="Consolas"/>
                <a:ea typeface="Consolas"/>
                <a:cs typeface="Consolas"/>
                <a:sym typeface="Consolas"/>
              </a:rPr>
              <a:t>   </a:t>
            </a:r>
            <a:r>
              <a:rPr lang="en-US" sz="3929">
                <a:solidFill>
                  <a:srgbClr val="2D5986"/>
                </a:solidFill>
                <a:latin typeface="Consolas"/>
                <a:ea typeface="Consolas"/>
                <a:cs typeface="Consolas"/>
                <a:sym typeface="Consolas"/>
              </a:rPr>
              <a:t>$rose(s_ack_p) |-&gt; s_req_p)</a:t>
            </a:r>
          </a:p>
          <a:p>
            <a:pPr algn="l">
              <a:lnSpc>
                <a:spcPts val="5500"/>
              </a:lnSpc>
              <a:spcBef>
                <a:spcPct val="0"/>
              </a:spcBef>
            </a:pPr>
          </a:p>
          <a:p>
            <a:pPr algn="l" marL="848280" indent="-424140" lvl="1">
              <a:lnSpc>
                <a:spcPts val="5500"/>
              </a:lnSpc>
              <a:spcBef>
                <a:spcPct val="0"/>
              </a:spcBef>
              <a:buFont typeface="Arial"/>
              <a:buChar char="•"/>
            </a:pPr>
            <a:r>
              <a:rPr lang="en-US" b="true" sz="3929">
                <a:solidFill>
                  <a:srgbClr val="2D5986"/>
                </a:solidFill>
                <a:latin typeface="Calibri (MS) Bold"/>
                <a:ea typeface="Calibri (MS) Bold"/>
                <a:cs typeface="Calibri (MS) Bold"/>
                <a:sym typeface="Calibri (MS) Bold"/>
              </a:rPr>
              <a:t>Ack may only fall when Req is low</a:t>
            </a:r>
          </a:p>
          <a:p>
            <a:pPr algn="l">
              <a:lnSpc>
                <a:spcPts val="5500"/>
              </a:lnSpc>
              <a:spcBef>
                <a:spcPct val="0"/>
              </a:spcBef>
            </a:pPr>
            <a:r>
              <a:rPr lang="en-US" sz="3929">
                <a:solidFill>
                  <a:srgbClr val="2D5986"/>
                </a:solidFill>
                <a:latin typeface="Consolas"/>
                <a:ea typeface="Consolas"/>
                <a:cs typeface="Consolas"/>
                <a:sym typeface="Consolas"/>
              </a:rPr>
              <a:t>   </a:t>
            </a:r>
            <a:r>
              <a:rPr lang="en-US" sz="3929">
                <a:solidFill>
                  <a:srgbClr val="2D5986"/>
                </a:solidFill>
                <a:latin typeface="Consolas"/>
                <a:ea typeface="Consolas"/>
                <a:cs typeface="Consolas"/>
                <a:sym typeface="Consolas"/>
              </a:rPr>
              <a:t>$fell(s_ack_p) |-&gt; !s_req_p)</a:t>
            </a:r>
          </a:p>
          <a:p>
            <a:pPr algn="ctr">
              <a:lnSpc>
                <a:spcPts val="5500"/>
              </a:lnSpc>
              <a:spcBef>
                <a:spcPct val="0"/>
              </a:spcBef>
            </a:pPr>
          </a:p>
        </p:txBody>
      </p:sp>
      <p:grpSp>
        <p:nvGrpSpPr>
          <p:cNvPr name="Group 8" id="8"/>
          <p:cNvGrpSpPr/>
          <p:nvPr/>
        </p:nvGrpSpPr>
        <p:grpSpPr>
          <a:xfrm rot="0">
            <a:off x="685800" y="9710928"/>
            <a:ext cx="10972800" cy="411480"/>
            <a:chOff x="0" y="0"/>
            <a:chExt cx="14630400" cy="548640"/>
          </a:xfrm>
        </p:grpSpPr>
        <p:sp>
          <p:nvSpPr>
            <p:cNvPr name="Freeform 9" id="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10" id="10"/>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11" id="11"/>
          <p:cNvGrpSpPr/>
          <p:nvPr/>
        </p:nvGrpSpPr>
        <p:grpSpPr>
          <a:xfrm rot="0">
            <a:off x="16911828" y="9710928"/>
            <a:ext cx="685800" cy="411480"/>
            <a:chOff x="0" y="0"/>
            <a:chExt cx="914400" cy="548640"/>
          </a:xfrm>
        </p:grpSpPr>
        <p:sp>
          <p:nvSpPr>
            <p:cNvPr name="Freeform 12" id="1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3" id="13"/>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24</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TextBox 2" id="2"/>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Assertions - Data &amp; Response</a:t>
            </a:r>
          </a:p>
        </p:txBody>
      </p:sp>
      <p:graphicFrame>
        <p:nvGraphicFramePr>
          <p:cNvPr name="Table 3" id="3"/>
          <p:cNvGraphicFramePr>
            <a:graphicFrameLocks noGrp="true"/>
          </p:cNvGraphicFramePr>
          <p:nvPr/>
        </p:nvGraphicFramePr>
        <p:xfrm>
          <a:off x="914400" y="2377440"/>
          <a:ext cx="16433800" cy="5892800"/>
        </p:xfrm>
        <a:graphic>
          <a:graphicData uri="http://schemas.openxmlformats.org/drawingml/2006/table">
            <a:tbl>
              <a:tblPr/>
              <a:tblGrid>
                <a:gridCol w="3738434"/>
                <a:gridCol w="12695366"/>
              </a:tblGrid>
              <a:tr h="737318">
                <a:tc>
                  <a:txBody>
                    <a:bodyPr anchor="t" rtlCol="false"/>
                    <a:lstStyle/>
                    <a:p>
                      <a:pPr algn="l">
                        <a:lnSpc>
                          <a:spcPts val="3120"/>
                        </a:lnSpc>
                        <a:defRPr/>
                      </a:pPr>
                      <a:r>
                        <a:rPr lang="en-US" sz="2600" b="true">
                          <a:solidFill>
                            <a:srgbClr val="FFFFFF"/>
                          </a:solidFill>
                          <a:latin typeface="Calibri (MS) Bold"/>
                          <a:ea typeface="Calibri (MS) Bold"/>
                          <a:cs typeface="Calibri (MS) Bold"/>
                          <a:sym typeface="Calibri (MS) Bold"/>
                        </a:rPr>
                        <a:t>Check</a:t>
                      </a:r>
                      <a:endParaRPr lang="en-US" sz="1100"/>
                    </a:p>
                  </a:txBody>
                  <a:tcPr marL="91440" marR="91440" marT="91440" marB="91440" anchor="ctr">
                    <a:lnL cmpd="sng" algn="ctr" cap="flat" w="12700">
                      <a:solidFill>
                        <a:srgbClr val="BFBFBF"/>
                      </a:solidFill>
                      <a:prstDash val="solid"/>
                      <a:round/>
                      <a:headEnd type="none" w="med" len="med"/>
                      <a:tailEnd type="none" w="med" len="med"/>
                    </a:lnL>
                    <a:lnR cmpd="sng" algn="ctr" cap="flat" w="12700">
                      <a:solidFill>
                        <a:srgbClr val="BFBFBF"/>
                      </a:solidFill>
                      <a:prstDash val="solid"/>
                      <a:round/>
                      <a:headEnd type="none" w="med" len="med"/>
                      <a:tailEnd type="none" w="med" len="med"/>
                    </a:lnR>
                    <a:lnT cmpd="sng" algn="ctr" cap="flat" w="12700">
                      <a:solidFill>
                        <a:srgbClr val="BFBFBF"/>
                      </a:solidFill>
                      <a:prstDash val="solid"/>
                      <a:round/>
                      <a:headEnd type="none" w="med" len="med"/>
                      <a:tailEnd type="none" w="med" len="med"/>
                    </a:lnT>
                    <a:lnB cmpd="sng" algn="ctr" cap="flat" w="12700">
                      <a:solidFill>
                        <a:srgbClr val="BFBFBF"/>
                      </a:solidFill>
                      <a:prstDash val="solid"/>
                      <a:round/>
                      <a:headEnd type="none" w="med" len="med"/>
                      <a:tailEnd type="none" w="med" len="med"/>
                    </a:lnB>
                    <a:solidFill>
                      <a:srgbClr val="2D5986"/>
                    </a:solidFill>
                  </a:tcPr>
                </a:tc>
                <a:tc>
                  <a:txBody>
                    <a:bodyPr anchor="t" rtlCol="false"/>
                    <a:lstStyle/>
                    <a:p>
                      <a:pPr algn="l">
                        <a:lnSpc>
                          <a:spcPts val="3120"/>
                        </a:lnSpc>
                        <a:defRPr/>
                      </a:pPr>
                      <a:r>
                        <a:rPr lang="en-US" sz="2600" b="true">
                          <a:solidFill>
                            <a:srgbClr val="FFFFFF"/>
                          </a:solidFill>
                          <a:latin typeface="Calibri (MS) Bold"/>
                          <a:ea typeface="Calibri (MS) Bold"/>
                          <a:cs typeface="Calibri (MS) Bold"/>
                          <a:sym typeface="Calibri (MS) Bold"/>
                        </a:rPr>
                        <a:t>What is verified</a:t>
                      </a:r>
                      <a:endParaRPr lang="en-US" sz="1100"/>
                    </a:p>
                  </a:txBody>
                  <a:tcPr marL="91440" marR="91440" marT="91440" marB="91440" anchor="ctr">
                    <a:lnL cmpd="sng" algn="ctr" cap="flat" w="12700">
                      <a:solidFill>
                        <a:srgbClr val="BFBFBF"/>
                      </a:solidFill>
                      <a:prstDash val="solid"/>
                      <a:round/>
                      <a:headEnd type="none" w="med" len="med"/>
                      <a:tailEnd type="none" w="med" len="med"/>
                    </a:lnL>
                    <a:lnR cmpd="sng" algn="ctr" cap="flat" w="12700">
                      <a:solidFill>
                        <a:srgbClr val="BFBFBF"/>
                      </a:solidFill>
                      <a:prstDash val="solid"/>
                      <a:round/>
                      <a:headEnd type="none" w="med" len="med"/>
                      <a:tailEnd type="none" w="med" len="med"/>
                    </a:lnR>
                    <a:lnT cmpd="sng" algn="ctr" cap="flat" w="12700">
                      <a:solidFill>
                        <a:srgbClr val="BFBFBF"/>
                      </a:solidFill>
                      <a:prstDash val="solid"/>
                      <a:round/>
                      <a:headEnd type="none" w="med" len="med"/>
                      <a:tailEnd type="none" w="med" len="med"/>
                    </a:lnT>
                    <a:lnB cmpd="sng" algn="ctr" cap="flat" w="12700">
                      <a:solidFill>
                        <a:srgbClr val="BFBFBF"/>
                      </a:solidFill>
                      <a:prstDash val="solid"/>
                      <a:round/>
                      <a:headEnd type="none" w="med" len="med"/>
                      <a:tailEnd type="none" w="med" len="med"/>
                    </a:lnB>
                    <a:solidFill>
                      <a:srgbClr val="2D5986"/>
                    </a:solidFill>
                  </a:tcPr>
                </a:tc>
              </a:tr>
              <a:tr h="1288870">
                <a:tc>
                  <a:txBody>
                    <a:bodyPr anchor="t" rtlCol="false"/>
                    <a:lstStyle/>
                    <a:p>
                      <a:pPr algn="l">
                        <a:lnSpc>
                          <a:spcPts val="3120"/>
                        </a:lnSpc>
                        <a:defRPr/>
                      </a:pPr>
                      <a:r>
                        <a:rPr lang="en-US" sz="2600">
                          <a:solidFill>
                            <a:srgbClr val="333333"/>
                          </a:solidFill>
                          <a:latin typeface="Calibri (MS)"/>
                          <a:ea typeface="Calibri (MS)"/>
                          <a:cs typeface="Calibri (MS)"/>
                          <a:sym typeface="Calibri (MS)"/>
                        </a:rPr>
                        <a:t>Read data</a:t>
                      </a:r>
                      <a:endParaRPr lang="en-US" sz="1100"/>
                    </a:p>
                  </a:txBody>
                  <a:tcPr marL="91440" marR="91440" marT="91440" marB="91440" anchor="ctr">
                    <a:lnL cmpd="sng" algn="ctr" cap="flat" w="12700">
                      <a:solidFill>
                        <a:srgbClr val="BFBFBF"/>
                      </a:solidFill>
                      <a:prstDash val="solid"/>
                      <a:round/>
                      <a:headEnd type="none" w="med" len="med"/>
                      <a:tailEnd type="none" w="med" len="med"/>
                    </a:lnL>
                    <a:lnR cmpd="sng" algn="ctr" cap="flat" w="12700">
                      <a:solidFill>
                        <a:srgbClr val="BFBFBF"/>
                      </a:solidFill>
                      <a:prstDash val="solid"/>
                      <a:round/>
                      <a:headEnd type="none" w="med" len="med"/>
                      <a:tailEnd type="none" w="med" len="med"/>
                    </a:lnR>
                    <a:lnT cmpd="sng" algn="ctr" cap="flat" w="12700">
                      <a:solidFill>
                        <a:srgbClr val="BFBFBF"/>
                      </a:solidFill>
                      <a:prstDash val="solid"/>
                      <a:round/>
                      <a:headEnd type="none" w="med" len="med"/>
                      <a:tailEnd type="none" w="med" len="med"/>
                    </a:lnT>
                    <a:lnB cmpd="sng" algn="ctr" cap="flat" w="12700">
                      <a:solidFill>
                        <a:srgbClr val="BFBFBF"/>
                      </a:solidFill>
                      <a:prstDash val="solid"/>
                      <a:round/>
                      <a:headEnd type="none" w="med" len="med"/>
                      <a:tailEnd type="none" w="med" len="med"/>
                    </a:lnB>
                  </a:tcPr>
                </a:tc>
                <a:tc>
                  <a:txBody>
                    <a:bodyPr anchor="t" rtlCol="false"/>
                    <a:lstStyle/>
                    <a:p>
                      <a:pPr algn="l">
                        <a:lnSpc>
                          <a:spcPts val="3120"/>
                        </a:lnSpc>
                        <a:defRPr/>
                      </a:pPr>
                      <a:r>
                        <a:rPr lang="en-US" sz="2600">
                          <a:solidFill>
                            <a:srgbClr val="333333"/>
                          </a:solidFill>
                          <a:latin typeface="Calibri (MS)"/>
                          <a:ea typeface="Calibri (MS)"/>
                          <a:cs typeface="Calibri (MS)"/>
                          <a:sym typeface="Calibri (MS)"/>
                        </a:rPr>
                        <a:t>HRDATA equals the last APB read data (OKAY responses only)</a:t>
                      </a:r>
                      <a:endParaRPr lang="en-US" sz="1100"/>
                    </a:p>
                  </a:txBody>
                  <a:tcPr marL="91440" marR="91440" marT="91440" marB="91440" anchor="ctr">
                    <a:lnL cmpd="sng" algn="ctr" cap="flat" w="12700">
                      <a:solidFill>
                        <a:srgbClr val="BFBFBF"/>
                      </a:solidFill>
                      <a:prstDash val="solid"/>
                      <a:round/>
                      <a:headEnd type="none" w="med" len="med"/>
                      <a:tailEnd type="none" w="med" len="med"/>
                    </a:lnL>
                    <a:lnR cmpd="sng" algn="ctr" cap="flat" w="12700">
                      <a:solidFill>
                        <a:srgbClr val="BFBFBF"/>
                      </a:solidFill>
                      <a:prstDash val="solid"/>
                      <a:round/>
                      <a:headEnd type="none" w="med" len="med"/>
                      <a:tailEnd type="none" w="med" len="med"/>
                    </a:lnR>
                    <a:lnT cmpd="sng" algn="ctr" cap="flat" w="12700">
                      <a:solidFill>
                        <a:srgbClr val="BFBFBF"/>
                      </a:solidFill>
                      <a:prstDash val="solid"/>
                      <a:round/>
                      <a:headEnd type="none" w="med" len="med"/>
                      <a:tailEnd type="none" w="med" len="med"/>
                    </a:lnT>
                    <a:lnB cmpd="sng" algn="ctr" cap="flat" w="12700">
                      <a:solidFill>
                        <a:srgbClr val="BFBFBF"/>
                      </a:solidFill>
                      <a:prstDash val="solid"/>
                      <a:round/>
                      <a:headEnd type="none" w="med" len="med"/>
                      <a:tailEnd type="none" w="med" len="med"/>
                    </a:lnB>
                  </a:tcPr>
                </a:tc>
              </a:tr>
              <a:tr h="1288870">
                <a:tc>
                  <a:txBody>
                    <a:bodyPr anchor="t" rtlCol="false"/>
                    <a:lstStyle/>
                    <a:p>
                      <a:pPr algn="l">
                        <a:lnSpc>
                          <a:spcPts val="3120"/>
                        </a:lnSpc>
                        <a:defRPr/>
                      </a:pPr>
                      <a:r>
                        <a:rPr lang="en-US" sz="2600">
                          <a:solidFill>
                            <a:srgbClr val="333333"/>
                          </a:solidFill>
                          <a:latin typeface="Calibri (MS)"/>
                          <a:ea typeface="Calibri (MS)"/>
                          <a:cs typeface="Calibri (MS)"/>
                          <a:sym typeface="Calibri (MS)"/>
                        </a:rPr>
                        <a:t>Response</a:t>
                      </a:r>
                      <a:endParaRPr lang="en-US" sz="1100"/>
                    </a:p>
                  </a:txBody>
                  <a:tcPr marL="91440" marR="91440" marT="91440" marB="91440" anchor="ctr">
                    <a:lnL cmpd="sng" algn="ctr" cap="flat" w="12700">
                      <a:solidFill>
                        <a:srgbClr val="BFBFBF"/>
                      </a:solidFill>
                      <a:prstDash val="solid"/>
                      <a:round/>
                      <a:headEnd type="none" w="med" len="med"/>
                      <a:tailEnd type="none" w="med" len="med"/>
                    </a:lnL>
                    <a:lnR cmpd="sng" algn="ctr" cap="flat" w="12700">
                      <a:solidFill>
                        <a:srgbClr val="BFBFBF"/>
                      </a:solidFill>
                      <a:prstDash val="solid"/>
                      <a:round/>
                      <a:headEnd type="none" w="med" len="med"/>
                      <a:tailEnd type="none" w="med" len="med"/>
                    </a:lnR>
                    <a:lnT cmpd="sng" algn="ctr" cap="flat" w="12700">
                      <a:solidFill>
                        <a:srgbClr val="BFBFBF"/>
                      </a:solidFill>
                      <a:prstDash val="solid"/>
                      <a:round/>
                      <a:headEnd type="none" w="med" len="med"/>
                      <a:tailEnd type="none" w="med" len="med"/>
                    </a:lnT>
                    <a:lnB cmpd="sng" algn="ctr" cap="flat" w="12700">
                      <a:solidFill>
                        <a:srgbClr val="BFBFBF"/>
                      </a:solidFill>
                      <a:prstDash val="solid"/>
                      <a:round/>
                      <a:headEnd type="none" w="med" len="med"/>
                      <a:tailEnd type="none" w="med" len="med"/>
                    </a:lnB>
                  </a:tcPr>
                </a:tc>
                <a:tc>
                  <a:txBody>
                    <a:bodyPr anchor="t" rtlCol="false"/>
                    <a:lstStyle/>
                    <a:p>
                      <a:pPr algn="l">
                        <a:lnSpc>
                          <a:spcPts val="3120"/>
                        </a:lnSpc>
                        <a:defRPr/>
                      </a:pPr>
                      <a:r>
                        <a:rPr lang="en-US" sz="2600">
                          <a:solidFill>
                            <a:srgbClr val="333333"/>
                          </a:solidFill>
                          <a:latin typeface="Calibri (MS)"/>
                          <a:ea typeface="Calibri (MS)"/>
                          <a:cs typeface="Calibri (MS)"/>
                          <a:sym typeface="Calibri (MS)"/>
                        </a:rPr>
                        <a:t>HRESP equals the last PSLVERR when the transfer completes</a:t>
                      </a:r>
                      <a:endParaRPr lang="en-US" sz="1100"/>
                    </a:p>
                  </a:txBody>
                  <a:tcPr marL="91440" marR="91440" marT="91440" marB="91440" anchor="ctr">
                    <a:lnL cmpd="sng" algn="ctr" cap="flat" w="12700">
                      <a:solidFill>
                        <a:srgbClr val="BFBFBF"/>
                      </a:solidFill>
                      <a:prstDash val="solid"/>
                      <a:round/>
                      <a:headEnd type="none" w="med" len="med"/>
                      <a:tailEnd type="none" w="med" len="med"/>
                    </a:lnL>
                    <a:lnR cmpd="sng" algn="ctr" cap="flat" w="12700">
                      <a:solidFill>
                        <a:srgbClr val="BFBFBF"/>
                      </a:solidFill>
                      <a:prstDash val="solid"/>
                      <a:round/>
                      <a:headEnd type="none" w="med" len="med"/>
                      <a:tailEnd type="none" w="med" len="med"/>
                    </a:lnR>
                    <a:lnT cmpd="sng" algn="ctr" cap="flat" w="12700">
                      <a:solidFill>
                        <a:srgbClr val="BFBFBF"/>
                      </a:solidFill>
                      <a:prstDash val="solid"/>
                      <a:round/>
                      <a:headEnd type="none" w="med" len="med"/>
                      <a:tailEnd type="none" w="med" len="med"/>
                    </a:lnT>
                    <a:lnB cmpd="sng" algn="ctr" cap="flat" w="12700">
                      <a:solidFill>
                        <a:srgbClr val="BFBFBF"/>
                      </a:solidFill>
                      <a:prstDash val="solid"/>
                      <a:round/>
                      <a:headEnd type="none" w="med" len="med"/>
                      <a:tailEnd type="none" w="med" len="med"/>
                    </a:lnB>
                  </a:tcPr>
                </a:tc>
              </a:tr>
              <a:tr h="1288870">
                <a:tc>
                  <a:txBody>
                    <a:bodyPr anchor="t" rtlCol="false"/>
                    <a:lstStyle/>
                    <a:p>
                      <a:pPr algn="l">
                        <a:lnSpc>
                          <a:spcPts val="3120"/>
                        </a:lnSpc>
                        <a:defRPr/>
                      </a:pPr>
                      <a:r>
                        <a:rPr lang="en-US" sz="2600">
                          <a:solidFill>
                            <a:srgbClr val="333333"/>
                          </a:solidFill>
                          <a:latin typeface="Calibri (MS)"/>
                          <a:ea typeface="Calibri (MS)"/>
                          <a:cs typeface="Calibri (MS)"/>
                          <a:sym typeface="Calibri (MS)"/>
                        </a:rPr>
                        <a:t>Write data</a:t>
                      </a:r>
                      <a:endParaRPr lang="en-US" sz="1100"/>
                    </a:p>
                  </a:txBody>
                  <a:tcPr marL="91440" marR="91440" marT="91440" marB="91440" anchor="ctr">
                    <a:lnL cmpd="sng" algn="ctr" cap="flat" w="12700">
                      <a:solidFill>
                        <a:srgbClr val="BFBFBF"/>
                      </a:solidFill>
                      <a:prstDash val="solid"/>
                      <a:round/>
                      <a:headEnd type="none" w="med" len="med"/>
                      <a:tailEnd type="none" w="med" len="med"/>
                    </a:lnL>
                    <a:lnR cmpd="sng" algn="ctr" cap="flat" w="12700">
                      <a:solidFill>
                        <a:srgbClr val="BFBFBF"/>
                      </a:solidFill>
                      <a:prstDash val="solid"/>
                      <a:round/>
                      <a:headEnd type="none" w="med" len="med"/>
                      <a:tailEnd type="none" w="med" len="med"/>
                    </a:lnR>
                    <a:lnT cmpd="sng" algn="ctr" cap="flat" w="12700">
                      <a:solidFill>
                        <a:srgbClr val="BFBFBF"/>
                      </a:solidFill>
                      <a:prstDash val="solid"/>
                      <a:round/>
                      <a:headEnd type="none" w="med" len="med"/>
                      <a:tailEnd type="none" w="med" len="med"/>
                    </a:lnT>
                    <a:lnB cmpd="sng" algn="ctr" cap="flat" w="12700">
                      <a:solidFill>
                        <a:srgbClr val="BFBFBF"/>
                      </a:solidFill>
                      <a:prstDash val="solid"/>
                      <a:round/>
                      <a:headEnd type="none" w="med" len="med"/>
                      <a:tailEnd type="none" w="med" len="med"/>
                    </a:lnB>
                  </a:tcPr>
                </a:tc>
                <a:tc>
                  <a:txBody>
                    <a:bodyPr anchor="t" rtlCol="false"/>
                    <a:lstStyle/>
                    <a:p>
                      <a:pPr algn="l">
                        <a:lnSpc>
                          <a:spcPts val="3120"/>
                        </a:lnSpc>
                        <a:defRPr/>
                      </a:pPr>
                      <a:r>
                        <a:rPr lang="en-US" sz="2600">
                          <a:solidFill>
                            <a:srgbClr val="333333"/>
                          </a:solidFill>
                          <a:latin typeface="Calibri (MS)"/>
                          <a:ea typeface="Calibri (MS)"/>
                          <a:cs typeface="Calibri (MS)"/>
                          <a:sym typeface="Calibri (MS)"/>
                        </a:rPr>
                        <a:t>On APB writes, PWDATA equals the last accepted AHB write data (reads are not checked)</a:t>
                      </a:r>
                      <a:endParaRPr lang="en-US" sz="1100"/>
                    </a:p>
                  </a:txBody>
                  <a:tcPr marL="91440" marR="91440" marT="91440" marB="91440" anchor="ctr">
                    <a:lnL cmpd="sng" algn="ctr" cap="flat" w="12700">
                      <a:solidFill>
                        <a:srgbClr val="BFBFBF"/>
                      </a:solidFill>
                      <a:prstDash val="solid"/>
                      <a:round/>
                      <a:headEnd type="none" w="med" len="med"/>
                      <a:tailEnd type="none" w="med" len="med"/>
                    </a:lnL>
                    <a:lnR cmpd="sng" algn="ctr" cap="flat" w="12700">
                      <a:solidFill>
                        <a:srgbClr val="BFBFBF"/>
                      </a:solidFill>
                      <a:prstDash val="solid"/>
                      <a:round/>
                      <a:headEnd type="none" w="med" len="med"/>
                      <a:tailEnd type="none" w="med" len="med"/>
                    </a:lnR>
                    <a:lnT cmpd="sng" algn="ctr" cap="flat" w="12700">
                      <a:solidFill>
                        <a:srgbClr val="BFBFBF"/>
                      </a:solidFill>
                      <a:prstDash val="solid"/>
                      <a:round/>
                      <a:headEnd type="none" w="med" len="med"/>
                      <a:tailEnd type="none" w="med" len="med"/>
                    </a:lnT>
                    <a:lnB cmpd="sng" algn="ctr" cap="flat" w="12700">
                      <a:solidFill>
                        <a:srgbClr val="BFBFBF"/>
                      </a:solidFill>
                      <a:prstDash val="solid"/>
                      <a:round/>
                      <a:headEnd type="none" w="med" len="med"/>
                      <a:tailEnd type="none" w="med" len="med"/>
                    </a:lnB>
                  </a:tcPr>
                </a:tc>
              </a:tr>
              <a:tr h="1288870">
                <a:tc>
                  <a:txBody>
                    <a:bodyPr anchor="t" rtlCol="false"/>
                    <a:lstStyle/>
                    <a:p>
                      <a:pPr algn="l">
                        <a:lnSpc>
                          <a:spcPts val="3120"/>
                        </a:lnSpc>
                        <a:defRPr/>
                      </a:pPr>
                      <a:r>
                        <a:rPr lang="en-US" sz="2600">
                          <a:solidFill>
                            <a:srgbClr val="333333"/>
                          </a:solidFill>
                          <a:latin typeface="Calibri (MS)"/>
                          <a:ea typeface="Calibri (MS)"/>
                          <a:cs typeface="Calibri (MS)"/>
                          <a:sym typeface="Calibri (MS)"/>
                        </a:rPr>
                        <a:t>APBACTIVE</a:t>
                      </a:r>
                      <a:endParaRPr lang="en-US" sz="1100"/>
                    </a:p>
                  </a:txBody>
                  <a:tcPr marL="91440" marR="91440" marT="91440" marB="91440" anchor="ctr">
                    <a:lnL cmpd="sng" algn="ctr" cap="flat" w="12700">
                      <a:solidFill>
                        <a:srgbClr val="BFBFBF"/>
                      </a:solidFill>
                      <a:prstDash val="solid"/>
                      <a:round/>
                      <a:headEnd type="none" w="med" len="med"/>
                      <a:tailEnd type="none" w="med" len="med"/>
                    </a:lnL>
                    <a:lnR cmpd="sng" algn="ctr" cap="flat" w="12700">
                      <a:solidFill>
                        <a:srgbClr val="BFBFBF"/>
                      </a:solidFill>
                      <a:prstDash val="solid"/>
                      <a:round/>
                      <a:headEnd type="none" w="med" len="med"/>
                      <a:tailEnd type="none" w="med" len="med"/>
                    </a:lnR>
                    <a:lnT cmpd="sng" algn="ctr" cap="flat" w="12700">
                      <a:solidFill>
                        <a:srgbClr val="BFBFBF"/>
                      </a:solidFill>
                      <a:prstDash val="solid"/>
                      <a:round/>
                      <a:headEnd type="none" w="med" len="med"/>
                      <a:tailEnd type="none" w="med" len="med"/>
                    </a:lnT>
                    <a:lnB cmpd="sng" algn="ctr" cap="flat" w="12700">
                      <a:solidFill>
                        <a:srgbClr val="BFBFBF"/>
                      </a:solidFill>
                      <a:prstDash val="solid"/>
                      <a:round/>
                      <a:headEnd type="none" w="med" len="med"/>
                      <a:tailEnd type="none" w="med" len="med"/>
                    </a:lnB>
                  </a:tcPr>
                </a:tc>
                <a:tc>
                  <a:txBody>
                    <a:bodyPr anchor="t" rtlCol="false"/>
                    <a:lstStyle/>
                    <a:p>
                      <a:pPr algn="l">
                        <a:lnSpc>
                          <a:spcPts val="3120"/>
                        </a:lnSpc>
                        <a:defRPr/>
                      </a:pPr>
                      <a:r>
                        <a:rPr lang="en-US" sz="2600">
                          <a:solidFill>
                            <a:srgbClr val="333333"/>
                          </a:solidFill>
                          <a:latin typeface="Calibri (MS)"/>
                          <a:ea typeface="Calibri (MS)"/>
                          <a:cs typeface="Calibri (MS)"/>
                          <a:sym typeface="Calibri (MS)"/>
                        </a:rPr>
                        <a:t>High whenever req and ack differ, and whenever PSEL=1</a:t>
                      </a:r>
                      <a:endParaRPr lang="en-US" sz="1100"/>
                    </a:p>
                  </a:txBody>
                  <a:tcPr marL="91440" marR="91440" marT="91440" marB="91440" anchor="ctr">
                    <a:lnL cmpd="sng" algn="ctr" cap="flat" w="12700">
                      <a:solidFill>
                        <a:srgbClr val="BFBFBF"/>
                      </a:solidFill>
                      <a:prstDash val="solid"/>
                      <a:round/>
                      <a:headEnd type="none" w="med" len="med"/>
                      <a:tailEnd type="none" w="med" len="med"/>
                    </a:lnL>
                    <a:lnR cmpd="sng" algn="ctr" cap="flat" w="12700">
                      <a:solidFill>
                        <a:srgbClr val="BFBFBF"/>
                      </a:solidFill>
                      <a:prstDash val="solid"/>
                      <a:round/>
                      <a:headEnd type="none" w="med" len="med"/>
                      <a:tailEnd type="none" w="med" len="med"/>
                    </a:lnR>
                    <a:lnT cmpd="sng" algn="ctr" cap="flat" w="12700">
                      <a:solidFill>
                        <a:srgbClr val="BFBFBF"/>
                      </a:solidFill>
                      <a:prstDash val="solid"/>
                      <a:round/>
                      <a:headEnd type="none" w="med" len="med"/>
                      <a:tailEnd type="none" w="med" len="med"/>
                    </a:lnT>
                    <a:lnB cmpd="sng" algn="ctr" cap="flat" w="12700">
                      <a:solidFill>
                        <a:srgbClr val="BFBFBF"/>
                      </a:solidFill>
                      <a:prstDash val="solid"/>
                      <a:round/>
                      <a:headEnd type="none" w="med" len="med"/>
                      <a:tailEnd type="none" w="med" len="med"/>
                    </a:lnB>
                  </a:tcPr>
                </a:tc>
              </a:tr>
            </a:tbl>
          </a:graphicData>
        </a:graphic>
      </p:graphicFrame>
      <p:grpSp>
        <p:nvGrpSpPr>
          <p:cNvPr name="Group 4" id="4"/>
          <p:cNvGrpSpPr/>
          <p:nvPr/>
        </p:nvGrpSpPr>
        <p:grpSpPr>
          <a:xfrm rot="0">
            <a:off x="685800" y="9710928"/>
            <a:ext cx="10972800" cy="411480"/>
            <a:chOff x="0" y="0"/>
            <a:chExt cx="14630400" cy="548640"/>
          </a:xfrm>
        </p:grpSpPr>
        <p:sp>
          <p:nvSpPr>
            <p:cNvPr name="Freeform 5" id="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 id="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7" id="7"/>
          <p:cNvGrpSpPr/>
          <p:nvPr/>
        </p:nvGrpSpPr>
        <p:grpSpPr>
          <a:xfrm rot="0">
            <a:off x="16911828" y="9710928"/>
            <a:ext cx="685800" cy="411480"/>
            <a:chOff x="0" y="0"/>
            <a:chExt cx="914400" cy="548640"/>
          </a:xfrm>
        </p:grpSpPr>
        <p:sp>
          <p:nvSpPr>
            <p:cNvPr name="Freeform 8" id="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9" id="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25</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2898805" y="1611123"/>
            <a:ext cx="12490389" cy="7647177"/>
          </a:xfrm>
          <a:custGeom>
            <a:avLst/>
            <a:gdLst/>
            <a:ahLst/>
            <a:cxnLst/>
            <a:rect r="r" b="b" t="t" l="l"/>
            <a:pathLst>
              <a:path h="7647177" w="12490389">
                <a:moveTo>
                  <a:pt x="0" y="0"/>
                </a:moveTo>
                <a:lnTo>
                  <a:pt x="12490390" y="0"/>
                </a:lnTo>
                <a:lnTo>
                  <a:pt x="12490390" y="7647177"/>
                </a:lnTo>
                <a:lnTo>
                  <a:pt x="0" y="7647177"/>
                </a:lnTo>
                <a:lnTo>
                  <a:pt x="0" y="0"/>
                </a:lnTo>
                <a:close/>
              </a:path>
            </a:pathLst>
          </a:custGeom>
          <a:blipFill>
            <a:blip r:embed="rId2"/>
            <a:stretch>
              <a:fillRect l="0" t="0" r="0" b="0"/>
            </a:stretch>
          </a:blipFill>
          <a:ln w="38100" cap="sq">
            <a:solidFill>
              <a:srgbClr val="000000"/>
            </a:solidFill>
            <a:prstDash val="solid"/>
            <a:miter/>
          </a:ln>
        </p:spPr>
      </p:sp>
      <p:sp>
        <p:nvSpPr>
          <p:cNvPr name="TextBox 3" id="3"/>
          <p:cNvSpPr txBox="true"/>
          <p:nvPr/>
        </p:nvSpPr>
        <p:spPr>
          <a:xfrm rot="0">
            <a:off x="217050" y="36820"/>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Assertions Results</a:t>
            </a:r>
          </a:p>
        </p:txBody>
      </p:sp>
      <p:grpSp>
        <p:nvGrpSpPr>
          <p:cNvPr name="Group 4" id="4"/>
          <p:cNvGrpSpPr/>
          <p:nvPr/>
        </p:nvGrpSpPr>
        <p:grpSpPr>
          <a:xfrm rot="0">
            <a:off x="157086" y="9885045"/>
            <a:ext cx="10972800" cy="411480"/>
            <a:chOff x="0" y="0"/>
            <a:chExt cx="14630400" cy="548640"/>
          </a:xfrm>
        </p:grpSpPr>
        <p:sp>
          <p:nvSpPr>
            <p:cNvPr name="Freeform 5" id="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 id="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7" id="7"/>
          <p:cNvGrpSpPr/>
          <p:nvPr/>
        </p:nvGrpSpPr>
        <p:grpSpPr>
          <a:xfrm rot="0">
            <a:off x="16911828" y="9710928"/>
            <a:ext cx="685800" cy="411480"/>
            <a:chOff x="0" y="0"/>
            <a:chExt cx="914400" cy="548640"/>
          </a:xfrm>
        </p:grpSpPr>
        <p:sp>
          <p:nvSpPr>
            <p:cNvPr name="Freeform 8" id="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9" id="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26</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TextBox 2" id="2"/>
          <p:cNvSpPr txBox="true"/>
          <p:nvPr/>
        </p:nvSpPr>
        <p:spPr>
          <a:xfrm rot="0">
            <a:off x="217046" y="-115576"/>
            <a:ext cx="11910298" cy="1520828"/>
          </a:xfrm>
          <a:prstGeom prst="rect">
            <a:avLst/>
          </a:prstGeom>
        </p:spPr>
        <p:txBody>
          <a:bodyPr anchor="t" rtlCol="false" tIns="0" lIns="0" bIns="0" rIns="0">
            <a:spAutoFit/>
          </a:bodyPr>
          <a:lstStyle/>
          <a:p>
            <a:pPr algn="l">
              <a:lnSpc>
                <a:spcPts val="11200"/>
              </a:lnSpc>
            </a:pPr>
            <a:r>
              <a:rPr lang="en-US" sz="8000">
                <a:solidFill>
                  <a:srgbClr val="2D5986"/>
                </a:solidFill>
                <a:latin typeface="Anton"/>
                <a:ea typeface="Anton"/>
                <a:cs typeface="Anton"/>
                <a:sym typeface="Anton"/>
              </a:rPr>
              <a:t>AHB Transfer Coverage</a:t>
            </a:r>
          </a:p>
        </p:txBody>
      </p:sp>
      <p:grpSp>
        <p:nvGrpSpPr>
          <p:cNvPr name="Group 3" id="3"/>
          <p:cNvGrpSpPr/>
          <p:nvPr/>
        </p:nvGrpSpPr>
        <p:grpSpPr>
          <a:xfrm rot="0">
            <a:off x="157086" y="9885045"/>
            <a:ext cx="10972800" cy="411480"/>
            <a:chOff x="0" y="0"/>
            <a:chExt cx="14630400" cy="548640"/>
          </a:xfrm>
        </p:grpSpPr>
        <p:sp>
          <p:nvSpPr>
            <p:cNvPr name="Freeform 4" id="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240" r="0" b="-469238"/>
              </a:stretch>
            </a:blipFill>
          </p:spPr>
        </p:sp>
      </p:grpSp>
      <p:grpSp>
        <p:nvGrpSpPr>
          <p:cNvPr name="Group 5" id="5"/>
          <p:cNvGrpSpPr/>
          <p:nvPr/>
        </p:nvGrpSpPr>
        <p:grpSpPr>
          <a:xfrm rot="0">
            <a:off x="157086" y="9863614"/>
            <a:ext cx="10972800" cy="432911"/>
            <a:chOff x="0" y="0"/>
            <a:chExt cx="14630400" cy="577215"/>
          </a:xfrm>
        </p:grpSpPr>
        <p:sp>
          <p:nvSpPr>
            <p:cNvPr name="Freeform 6" id="6"/>
            <p:cNvSpPr/>
            <p:nvPr/>
          </p:nvSpPr>
          <p:spPr>
            <a:xfrm flipH="false" flipV="false" rot="0">
              <a:off x="0" y="0"/>
              <a:ext cx="14630400" cy="577215"/>
            </a:xfrm>
            <a:custGeom>
              <a:avLst/>
              <a:gdLst/>
              <a:ahLst/>
              <a:cxnLst/>
              <a:rect r="r" b="b" t="t" l="l"/>
              <a:pathLst>
                <a:path h="577215" w="14630400">
                  <a:moveTo>
                    <a:pt x="0" y="0"/>
                  </a:moveTo>
                  <a:lnTo>
                    <a:pt x="14630400" y="0"/>
                  </a:lnTo>
                  <a:lnTo>
                    <a:pt x="14630400" y="577215"/>
                  </a:lnTo>
                  <a:lnTo>
                    <a:pt x="0" y="577215"/>
                  </a:lnTo>
                  <a:close/>
                </a:path>
              </a:pathLst>
            </a:custGeom>
            <a:blipFill>
              <a:blip r:embed="rId3">
                <a:alphaModFix amt="0"/>
              </a:blip>
              <a:stretch>
                <a:fillRect l="0" t="-443878" r="0" b="-443878"/>
              </a:stretch>
            </a:blipFill>
          </p:spPr>
        </p:sp>
        <p:sp>
          <p:nvSpPr>
            <p:cNvPr name="TextBox 7" id="7"/>
            <p:cNvSpPr txBox="true"/>
            <p:nvPr/>
          </p:nvSpPr>
          <p:spPr>
            <a:xfrm>
              <a:off x="0" y="-28575"/>
              <a:ext cx="14630400" cy="605790"/>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8" id="8"/>
          <p:cNvGrpSpPr/>
          <p:nvPr/>
        </p:nvGrpSpPr>
        <p:grpSpPr>
          <a:xfrm rot="0">
            <a:off x="16911828" y="9710928"/>
            <a:ext cx="685800" cy="411480"/>
            <a:chOff x="0" y="0"/>
            <a:chExt cx="914400" cy="548640"/>
          </a:xfrm>
        </p:grpSpPr>
        <p:sp>
          <p:nvSpPr>
            <p:cNvPr name="Freeform 9" id="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7036" t="0" r="-27034" b="0"/>
              </a:stretch>
            </a:blipFill>
          </p:spPr>
        </p:sp>
      </p:grpSp>
      <p:grpSp>
        <p:nvGrpSpPr>
          <p:cNvPr name="Group 10" id="10"/>
          <p:cNvGrpSpPr/>
          <p:nvPr/>
        </p:nvGrpSpPr>
        <p:grpSpPr>
          <a:xfrm rot="0">
            <a:off x="16911828" y="9689497"/>
            <a:ext cx="685800" cy="432911"/>
            <a:chOff x="0" y="0"/>
            <a:chExt cx="914400" cy="577215"/>
          </a:xfrm>
        </p:grpSpPr>
        <p:sp>
          <p:nvSpPr>
            <p:cNvPr name="Freeform 11" id="11"/>
            <p:cNvSpPr/>
            <p:nvPr/>
          </p:nvSpPr>
          <p:spPr>
            <a:xfrm flipH="false" flipV="false" rot="0">
              <a:off x="0" y="0"/>
              <a:ext cx="914400" cy="577215"/>
            </a:xfrm>
            <a:custGeom>
              <a:avLst/>
              <a:gdLst/>
              <a:ahLst/>
              <a:cxnLst/>
              <a:rect r="r" b="b" t="t" l="l"/>
              <a:pathLst>
                <a:path h="577215" w="914400">
                  <a:moveTo>
                    <a:pt x="0" y="0"/>
                  </a:moveTo>
                  <a:lnTo>
                    <a:pt x="914400" y="0"/>
                  </a:lnTo>
                  <a:lnTo>
                    <a:pt x="914400" y="577215"/>
                  </a:lnTo>
                  <a:lnTo>
                    <a:pt x="0" y="577215"/>
                  </a:lnTo>
                  <a:close/>
                </a:path>
              </a:pathLst>
            </a:custGeom>
            <a:blipFill>
              <a:blip r:embed="rId3">
                <a:alphaModFix amt="0"/>
              </a:blip>
              <a:stretch>
                <a:fillRect l="-30991" t="0" r="-30991" b="0"/>
              </a:stretch>
            </a:blipFill>
          </p:spPr>
        </p:sp>
        <p:sp>
          <p:nvSpPr>
            <p:cNvPr name="TextBox 12" id="12"/>
            <p:cNvSpPr txBox="true"/>
            <p:nvPr/>
          </p:nvSpPr>
          <p:spPr>
            <a:xfrm>
              <a:off x="0" y="-28575"/>
              <a:ext cx="914400" cy="605790"/>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27</a:t>
              </a:r>
            </a:p>
          </p:txBody>
        </p:sp>
      </p:grpSp>
      <p:grpSp>
        <p:nvGrpSpPr>
          <p:cNvPr name="Group 13" id="13"/>
          <p:cNvGrpSpPr/>
          <p:nvPr/>
        </p:nvGrpSpPr>
        <p:grpSpPr>
          <a:xfrm rot="0">
            <a:off x="384048" y="1353312"/>
            <a:ext cx="16916400" cy="402336"/>
            <a:chOff x="0" y="0"/>
            <a:chExt cx="22555200" cy="536448"/>
          </a:xfrm>
        </p:grpSpPr>
        <p:sp>
          <p:nvSpPr>
            <p:cNvPr name="Freeform 14" id="14"/>
            <p:cNvSpPr/>
            <p:nvPr/>
          </p:nvSpPr>
          <p:spPr>
            <a:xfrm flipH="false" flipV="false" rot="0">
              <a:off x="0" y="0"/>
              <a:ext cx="22555200" cy="536448"/>
            </a:xfrm>
            <a:custGeom>
              <a:avLst/>
              <a:gdLst/>
              <a:ahLst/>
              <a:cxnLst/>
              <a:rect r="r" b="b" t="t" l="l"/>
              <a:pathLst>
                <a:path h="536448" w="22555200">
                  <a:moveTo>
                    <a:pt x="0" y="0"/>
                  </a:moveTo>
                  <a:lnTo>
                    <a:pt x="22555200" y="0"/>
                  </a:lnTo>
                  <a:lnTo>
                    <a:pt x="22555200" y="536448"/>
                  </a:lnTo>
                  <a:lnTo>
                    <a:pt x="0" y="536448"/>
                  </a:lnTo>
                  <a:close/>
                </a:path>
              </a:pathLst>
            </a:custGeom>
            <a:blipFill>
              <a:blip r:embed="rId3">
                <a:alphaModFix amt="0"/>
              </a:blip>
              <a:stretch>
                <a:fillRect l="0" t="-769257" r="0" b="-769257"/>
              </a:stretch>
            </a:blipFill>
          </p:spPr>
        </p:sp>
        <p:sp>
          <p:nvSpPr>
            <p:cNvPr name="TextBox 15" id="15"/>
            <p:cNvSpPr txBox="true"/>
            <p:nvPr/>
          </p:nvSpPr>
          <p:spPr>
            <a:xfrm>
              <a:off x="0" y="-9525"/>
              <a:ext cx="22555200" cy="545973"/>
            </a:xfrm>
            <a:prstGeom prst="rect">
              <a:avLst/>
            </a:prstGeom>
          </p:spPr>
          <p:txBody>
            <a:bodyPr anchor="ctr" rtlCol="false" tIns="0" lIns="0" bIns="0" rIns="0"/>
            <a:lstStyle/>
            <a:p>
              <a:pPr algn="l">
                <a:lnSpc>
                  <a:spcPts val="2040"/>
                </a:lnSpc>
              </a:pPr>
              <a:r>
                <a:rPr lang="en-US" sz="1700">
                  <a:solidFill>
                    <a:srgbClr val="63707C"/>
                  </a:solidFill>
                  <a:latin typeface="Aptos"/>
                  <a:ea typeface="Aptos"/>
                  <a:cs typeface="Aptos"/>
                  <a:sym typeface="Aptos"/>
                </a:rPr>
                <a:t>CG-001–004, CG-009–010  |  Coverage of AHB request attributes</a:t>
              </a:r>
            </a:p>
          </p:txBody>
        </p:sp>
      </p:grpSp>
      <p:grpSp>
        <p:nvGrpSpPr>
          <p:cNvPr name="Group 16" id="16"/>
          <p:cNvGrpSpPr/>
          <p:nvPr/>
        </p:nvGrpSpPr>
        <p:grpSpPr>
          <a:xfrm rot="0">
            <a:off x="404498" y="1931546"/>
            <a:ext cx="5546093" cy="2071373"/>
            <a:chOff x="0" y="0"/>
            <a:chExt cx="7394791" cy="2761831"/>
          </a:xfrm>
        </p:grpSpPr>
        <p:sp>
          <p:nvSpPr>
            <p:cNvPr name="Freeform 17" id="17"/>
            <p:cNvSpPr/>
            <p:nvPr/>
          </p:nvSpPr>
          <p:spPr>
            <a:xfrm flipH="false" flipV="false" rot="0">
              <a:off x="0" y="0"/>
              <a:ext cx="7394829" cy="2761869"/>
            </a:xfrm>
            <a:custGeom>
              <a:avLst/>
              <a:gdLst/>
              <a:ahLst/>
              <a:cxnLst/>
              <a:rect r="r" b="b" t="t" l="l"/>
              <a:pathLst>
                <a:path h="2761869" w="7394829">
                  <a:moveTo>
                    <a:pt x="0" y="460375"/>
                  </a:moveTo>
                  <a:cubicBezTo>
                    <a:pt x="0" y="206121"/>
                    <a:pt x="206121" y="0"/>
                    <a:pt x="460375" y="0"/>
                  </a:cubicBezTo>
                  <a:lnTo>
                    <a:pt x="6934454" y="0"/>
                  </a:lnTo>
                  <a:cubicBezTo>
                    <a:pt x="7188708" y="0"/>
                    <a:pt x="7394829" y="206121"/>
                    <a:pt x="7394829" y="460375"/>
                  </a:cubicBezTo>
                  <a:lnTo>
                    <a:pt x="7394829" y="2301494"/>
                  </a:lnTo>
                  <a:cubicBezTo>
                    <a:pt x="7394829" y="2555748"/>
                    <a:pt x="7188708" y="2761869"/>
                    <a:pt x="6934454" y="2761869"/>
                  </a:cubicBezTo>
                  <a:lnTo>
                    <a:pt x="460375" y="2761869"/>
                  </a:lnTo>
                  <a:cubicBezTo>
                    <a:pt x="206121" y="2761869"/>
                    <a:pt x="0" y="2555748"/>
                    <a:pt x="0" y="2301494"/>
                  </a:cubicBezTo>
                  <a:close/>
                </a:path>
              </a:pathLst>
            </a:custGeom>
            <a:solidFill>
              <a:srgbClr val="FFFFFF"/>
            </a:solidFill>
            <a:ln w="13970" cap="sq">
              <a:solidFill>
                <a:srgbClr val="CAD6E0"/>
              </a:solidFill>
              <a:prstDash val="solid"/>
              <a:miter/>
            </a:ln>
          </p:spPr>
        </p:sp>
      </p:grpSp>
      <p:grpSp>
        <p:nvGrpSpPr>
          <p:cNvPr name="Group 18" id="18"/>
          <p:cNvGrpSpPr/>
          <p:nvPr/>
        </p:nvGrpSpPr>
        <p:grpSpPr>
          <a:xfrm rot="0">
            <a:off x="411480" y="2011680"/>
            <a:ext cx="68580" cy="1911096"/>
            <a:chOff x="0" y="0"/>
            <a:chExt cx="91440" cy="2548128"/>
          </a:xfrm>
        </p:grpSpPr>
        <p:sp>
          <p:nvSpPr>
            <p:cNvPr name="Freeform 19" id="19"/>
            <p:cNvSpPr/>
            <p:nvPr/>
          </p:nvSpPr>
          <p:spPr>
            <a:xfrm flipH="false" flipV="false" rot="0">
              <a:off x="0" y="0"/>
              <a:ext cx="91440" cy="2548128"/>
            </a:xfrm>
            <a:custGeom>
              <a:avLst/>
              <a:gdLst/>
              <a:ahLst/>
              <a:cxnLst/>
              <a:rect r="r" b="b" t="t" l="l"/>
              <a:pathLst>
                <a:path h="2548128" w="91440">
                  <a:moveTo>
                    <a:pt x="0" y="0"/>
                  </a:moveTo>
                  <a:lnTo>
                    <a:pt x="91440" y="0"/>
                  </a:lnTo>
                  <a:lnTo>
                    <a:pt x="91440" y="2548128"/>
                  </a:lnTo>
                  <a:lnTo>
                    <a:pt x="0" y="2548128"/>
                  </a:lnTo>
                  <a:close/>
                </a:path>
              </a:pathLst>
            </a:custGeom>
            <a:solidFill>
              <a:srgbClr val="2D5986"/>
            </a:solidFill>
          </p:spPr>
        </p:sp>
      </p:grpSp>
      <p:grpSp>
        <p:nvGrpSpPr>
          <p:cNvPr name="Group 20" id="20"/>
          <p:cNvGrpSpPr/>
          <p:nvPr/>
        </p:nvGrpSpPr>
        <p:grpSpPr>
          <a:xfrm rot="0">
            <a:off x="612648" y="2048256"/>
            <a:ext cx="5148072" cy="384048"/>
            <a:chOff x="0" y="0"/>
            <a:chExt cx="6864096" cy="512064"/>
          </a:xfrm>
        </p:grpSpPr>
        <p:sp>
          <p:nvSpPr>
            <p:cNvPr name="Freeform 21" id="21"/>
            <p:cNvSpPr/>
            <p:nvPr/>
          </p:nvSpPr>
          <p:spPr>
            <a:xfrm flipH="false" flipV="false" rot="0">
              <a:off x="0" y="0"/>
              <a:ext cx="6864096" cy="512064"/>
            </a:xfrm>
            <a:custGeom>
              <a:avLst/>
              <a:gdLst/>
              <a:ahLst/>
              <a:cxnLst/>
              <a:rect r="r" b="b" t="t" l="l"/>
              <a:pathLst>
                <a:path h="512064" w="6864096">
                  <a:moveTo>
                    <a:pt x="0" y="0"/>
                  </a:moveTo>
                  <a:lnTo>
                    <a:pt x="6864096" y="0"/>
                  </a:lnTo>
                  <a:lnTo>
                    <a:pt x="6864096" y="512064"/>
                  </a:lnTo>
                  <a:lnTo>
                    <a:pt x="0" y="512064"/>
                  </a:lnTo>
                  <a:close/>
                </a:path>
              </a:pathLst>
            </a:custGeom>
            <a:blipFill>
              <a:blip r:embed="rId3">
                <a:alphaModFix amt="0"/>
              </a:blip>
              <a:stretch>
                <a:fillRect l="0" t="-211192" r="0" b="-211192"/>
              </a:stretch>
            </a:blipFill>
          </p:spPr>
        </p:sp>
        <p:sp>
          <p:nvSpPr>
            <p:cNvPr name="TextBox 22" id="22"/>
            <p:cNvSpPr txBox="true"/>
            <p:nvPr/>
          </p:nvSpPr>
          <p:spPr>
            <a:xfrm>
              <a:off x="0" y="-9525"/>
              <a:ext cx="6864096" cy="521589"/>
            </a:xfrm>
            <a:prstGeom prst="rect">
              <a:avLst/>
            </a:prstGeom>
          </p:spPr>
          <p:txBody>
            <a:bodyPr anchor="ctr" rtlCol="false" tIns="0" lIns="0" bIns="0" rIns="0"/>
            <a:lstStyle/>
            <a:p>
              <a:pPr algn="l">
                <a:lnSpc>
                  <a:spcPts val="2520"/>
                </a:lnSpc>
              </a:pPr>
              <a:r>
                <a:rPr lang="en-US" sz="2100" b="true">
                  <a:solidFill>
                    <a:srgbClr val="2D5986"/>
                  </a:solidFill>
                  <a:latin typeface="Aptos Bold"/>
                  <a:ea typeface="Aptos Bold"/>
                  <a:cs typeface="Aptos Bold"/>
                  <a:sym typeface="Aptos Bold"/>
                </a:rPr>
                <a:t>Transfer attributes</a:t>
              </a:r>
            </a:p>
          </p:txBody>
        </p:sp>
      </p:grpSp>
      <p:grpSp>
        <p:nvGrpSpPr>
          <p:cNvPr name="Group 23" id="23"/>
          <p:cNvGrpSpPr/>
          <p:nvPr/>
        </p:nvGrpSpPr>
        <p:grpSpPr>
          <a:xfrm rot="0">
            <a:off x="685800" y="2615184"/>
            <a:ext cx="91440" cy="91440"/>
            <a:chOff x="0" y="0"/>
            <a:chExt cx="121920" cy="121920"/>
          </a:xfrm>
        </p:grpSpPr>
        <p:sp>
          <p:nvSpPr>
            <p:cNvPr name="Freeform 24" id="24"/>
            <p:cNvSpPr/>
            <p:nvPr/>
          </p:nvSpPr>
          <p:spPr>
            <a:xfrm flipH="false" flipV="false" rot="0">
              <a:off x="0" y="0"/>
              <a:ext cx="121920" cy="121920"/>
            </a:xfrm>
            <a:custGeom>
              <a:avLst/>
              <a:gdLst/>
              <a:ahLst/>
              <a:cxnLst/>
              <a:rect r="r" b="b" t="t" l="l"/>
              <a:pathLst>
                <a:path h="121920" w="121920">
                  <a:moveTo>
                    <a:pt x="0" y="60960"/>
                  </a:moveTo>
                  <a:cubicBezTo>
                    <a:pt x="0" y="27305"/>
                    <a:pt x="27305" y="0"/>
                    <a:pt x="60960" y="0"/>
                  </a:cubicBezTo>
                  <a:cubicBezTo>
                    <a:pt x="94615" y="0"/>
                    <a:pt x="121920" y="27305"/>
                    <a:pt x="121920" y="60960"/>
                  </a:cubicBezTo>
                  <a:cubicBezTo>
                    <a:pt x="121920" y="94615"/>
                    <a:pt x="94615" y="121920"/>
                    <a:pt x="60960" y="121920"/>
                  </a:cubicBezTo>
                  <a:cubicBezTo>
                    <a:pt x="27305" y="121920"/>
                    <a:pt x="0" y="94615"/>
                    <a:pt x="0" y="60960"/>
                  </a:cubicBezTo>
                  <a:close/>
                </a:path>
              </a:pathLst>
            </a:custGeom>
            <a:solidFill>
              <a:srgbClr val="2D5986"/>
            </a:solidFill>
          </p:spPr>
        </p:sp>
      </p:grpSp>
      <p:grpSp>
        <p:nvGrpSpPr>
          <p:cNvPr name="Group 25" id="25"/>
          <p:cNvGrpSpPr/>
          <p:nvPr/>
        </p:nvGrpSpPr>
        <p:grpSpPr>
          <a:xfrm rot="0">
            <a:off x="868680" y="2496312"/>
            <a:ext cx="4800600" cy="420624"/>
            <a:chOff x="0" y="0"/>
            <a:chExt cx="6400800" cy="560832"/>
          </a:xfrm>
        </p:grpSpPr>
        <p:sp>
          <p:nvSpPr>
            <p:cNvPr name="Freeform 26" id="26"/>
            <p:cNvSpPr/>
            <p:nvPr/>
          </p:nvSpPr>
          <p:spPr>
            <a:xfrm flipH="false" flipV="false" rot="0">
              <a:off x="0" y="0"/>
              <a:ext cx="6400800" cy="560832"/>
            </a:xfrm>
            <a:custGeom>
              <a:avLst/>
              <a:gdLst/>
              <a:ahLst/>
              <a:cxnLst/>
              <a:rect r="r" b="b" t="t" l="l"/>
              <a:pathLst>
                <a:path h="560832" w="6400800">
                  <a:moveTo>
                    <a:pt x="0" y="0"/>
                  </a:moveTo>
                  <a:lnTo>
                    <a:pt x="6400800" y="0"/>
                  </a:lnTo>
                  <a:lnTo>
                    <a:pt x="6400800" y="560832"/>
                  </a:lnTo>
                  <a:lnTo>
                    <a:pt x="0" y="560832"/>
                  </a:lnTo>
                  <a:close/>
                </a:path>
              </a:pathLst>
            </a:custGeom>
            <a:blipFill>
              <a:blip r:embed="rId3">
                <a:alphaModFix amt="0"/>
              </a:blip>
              <a:stretch>
                <a:fillRect l="0" t="-172383" r="0" b="-172383"/>
              </a:stretch>
            </a:blipFill>
          </p:spPr>
        </p:sp>
        <p:sp>
          <p:nvSpPr>
            <p:cNvPr name="TextBox 27" id="27"/>
            <p:cNvSpPr txBox="true"/>
            <p:nvPr/>
          </p:nvSpPr>
          <p:spPr>
            <a:xfrm>
              <a:off x="0" y="0"/>
              <a:ext cx="6400800" cy="560832"/>
            </a:xfrm>
            <a:prstGeom prst="rect">
              <a:avLst/>
            </a:prstGeom>
          </p:spPr>
          <p:txBody>
            <a:bodyPr anchor="ctr" rtlCol="false" tIns="0" lIns="0" bIns="0" rIns="0"/>
            <a:lstStyle/>
            <a:p>
              <a:pPr algn="l">
                <a:lnSpc>
                  <a:spcPts val="2160"/>
                </a:lnSpc>
              </a:pPr>
              <a:r>
                <a:rPr lang="en-US" sz="1800">
                  <a:solidFill>
                    <a:srgbClr val="2F3A44"/>
                  </a:solidFill>
                  <a:latin typeface="Aptos"/>
                  <a:ea typeface="Aptos"/>
                  <a:cs typeface="Aptos"/>
                  <a:sym typeface="Aptos"/>
                </a:rPr>
                <a:t>HWRITE: READ / WRITE</a:t>
              </a:r>
            </a:p>
          </p:txBody>
        </p:sp>
      </p:grpSp>
      <p:grpSp>
        <p:nvGrpSpPr>
          <p:cNvPr name="Group 28" id="28"/>
          <p:cNvGrpSpPr/>
          <p:nvPr/>
        </p:nvGrpSpPr>
        <p:grpSpPr>
          <a:xfrm rot="0">
            <a:off x="685800" y="3035808"/>
            <a:ext cx="91440" cy="91440"/>
            <a:chOff x="0" y="0"/>
            <a:chExt cx="121920" cy="121920"/>
          </a:xfrm>
        </p:grpSpPr>
        <p:sp>
          <p:nvSpPr>
            <p:cNvPr name="Freeform 29" id="29"/>
            <p:cNvSpPr/>
            <p:nvPr/>
          </p:nvSpPr>
          <p:spPr>
            <a:xfrm flipH="false" flipV="false" rot="0">
              <a:off x="0" y="0"/>
              <a:ext cx="121920" cy="121920"/>
            </a:xfrm>
            <a:custGeom>
              <a:avLst/>
              <a:gdLst/>
              <a:ahLst/>
              <a:cxnLst/>
              <a:rect r="r" b="b" t="t" l="l"/>
              <a:pathLst>
                <a:path h="121920" w="121920">
                  <a:moveTo>
                    <a:pt x="0" y="60960"/>
                  </a:moveTo>
                  <a:cubicBezTo>
                    <a:pt x="0" y="27305"/>
                    <a:pt x="27305" y="0"/>
                    <a:pt x="60960" y="0"/>
                  </a:cubicBezTo>
                  <a:cubicBezTo>
                    <a:pt x="94615" y="0"/>
                    <a:pt x="121920" y="27305"/>
                    <a:pt x="121920" y="60960"/>
                  </a:cubicBezTo>
                  <a:cubicBezTo>
                    <a:pt x="121920" y="94615"/>
                    <a:pt x="94615" y="121920"/>
                    <a:pt x="60960" y="121920"/>
                  </a:cubicBezTo>
                  <a:cubicBezTo>
                    <a:pt x="27305" y="121920"/>
                    <a:pt x="0" y="94615"/>
                    <a:pt x="0" y="60960"/>
                  </a:cubicBezTo>
                  <a:close/>
                </a:path>
              </a:pathLst>
            </a:custGeom>
            <a:solidFill>
              <a:srgbClr val="2D5986"/>
            </a:solidFill>
          </p:spPr>
        </p:sp>
      </p:grpSp>
      <p:grpSp>
        <p:nvGrpSpPr>
          <p:cNvPr name="Group 30" id="30"/>
          <p:cNvGrpSpPr/>
          <p:nvPr/>
        </p:nvGrpSpPr>
        <p:grpSpPr>
          <a:xfrm rot="0">
            <a:off x="868680" y="2916936"/>
            <a:ext cx="4800600" cy="420624"/>
            <a:chOff x="0" y="0"/>
            <a:chExt cx="6400800" cy="560832"/>
          </a:xfrm>
        </p:grpSpPr>
        <p:sp>
          <p:nvSpPr>
            <p:cNvPr name="Freeform 31" id="31"/>
            <p:cNvSpPr/>
            <p:nvPr/>
          </p:nvSpPr>
          <p:spPr>
            <a:xfrm flipH="false" flipV="false" rot="0">
              <a:off x="0" y="0"/>
              <a:ext cx="6400800" cy="560832"/>
            </a:xfrm>
            <a:custGeom>
              <a:avLst/>
              <a:gdLst/>
              <a:ahLst/>
              <a:cxnLst/>
              <a:rect r="r" b="b" t="t" l="l"/>
              <a:pathLst>
                <a:path h="560832" w="6400800">
                  <a:moveTo>
                    <a:pt x="0" y="0"/>
                  </a:moveTo>
                  <a:lnTo>
                    <a:pt x="6400800" y="0"/>
                  </a:lnTo>
                  <a:lnTo>
                    <a:pt x="6400800" y="560832"/>
                  </a:lnTo>
                  <a:lnTo>
                    <a:pt x="0" y="560832"/>
                  </a:lnTo>
                  <a:close/>
                </a:path>
              </a:pathLst>
            </a:custGeom>
            <a:blipFill>
              <a:blip r:embed="rId3">
                <a:alphaModFix amt="0"/>
              </a:blip>
              <a:stretch>
                <a:fillRect l="0" t="-172383" r="0" b="-172383"/>
              </a:stretch>
            </a:blipFill>
          </p:spPr>
        </p:sp>
        <p:sp>
          <p:nvSpPr>
            <p:cNvPr name="TextBox 32" id="32"/>
            <p:cNvSpPr txBox="true"/>
            <p:nvPr/>
          </p:nvSpPr>
          <p:spPr>
            <a:xfrm>
              <a:off x="0" y="0"/>
              <a:ext cx="6400800" cy="560832"/>
            </a:xfrm>
            <a:prstGeom prst="rect">
              <a:avLst/>
            </a:prstGeom>
          </p:spPr>
          <p:txBody>
            <a:bodyPr anchor="ctr" rtlCol="false" tIns="0" lIns="0" bIns="0" rIns="0"/>
            <a:lstStyle/>
            <a:p>
              <a:pPr algn="l">
                <a:lnSpc>
                  <a:spcPts val="2160"/>
                </a:lnSpc>
              </a:pPr>
              <a:r>
                <a:rPr lang="en-US" sz="1800">
                  <a:solidFill>
                    <a:srgbClr val="2F3A44"/>
                  </a:solidFill>
                  <a:latin typeface="Aptos"/>
                  <a:ea typeface="Aptos"/>
                  <a:cs typeface="Aptos"/>
                  <a:sym typeface="Aptos"/>
                </a:rPr>
                <a:t>HTRANS: NONSEQ / SEQ</a:t>
              </a:r>
            </a:p>
          </p:txBody>
        </p:sp>
      </p:grpSp>
      <p:grpSp>
        <p:nvGrpSpPr>
          <p:cNvPr name="Group 33" id="33"/>
          <p:cNvGrpSpPr/>
          <p:nvPr/>
        </p:nvGrpSpPr>
        <p:grpSpPr>
          <a:xfrm rot="0">
            <a:off x="685800" y="3456432"/>
            <a:ext cx="91440" cy="91440"/>
            <a:chOff x="0" y="0"/>
            <a:chExt cx="121920" cy="121920"/>
          </a:xfrm>
        </p:grpSpPr>
        <p:sp>
          <p:nvSpPr>
            <p:cNvPr name="Freeform 34" id="34"/>
            <p:cNvSpPr/>
            <p:nvPr/>
          </p:nvSpPr>
          <p:spPr>
            <a:xfrm flipH="false" flipV="false" rot="0">
              <a:off x="0" y="0"/>
              <a:ext cx="121920" cy="121920"/>
            </a:xfrm>
            <a:custGeom>
              <a:avLst/>
              <a:gdLst/>
              <a:ahLst/>
              <a:cxnLst/>
              <a:rect r="r" b="b" t="t" l="l"/>
              <a:pathLst>
                <a:path h="121920" w="121920">
                  <a:moveTo>
                    <a:pt x="0" y="60960"/>
                  </a:moveTo>
                  <a:cubicBezTo>
                    <a:pt x="0" y="27305"/>
                    <a:pt x="27305" y="0"/>
                    <a:pt x="60960" y="0"/>
                  </a:cubicBezTo>
                  <a:cubicBezTo>
                    <a:pt x="94615" y="0"/>
                    <a:pt x="121920" y="27305"/>
                    <a:pt x="121920" y="60960"/>
                  </a:cubicBezTo>
                  <a:cubicBezTo>
                    <a:pt x="121920" y="94615"/>
                    <a:pt x="94615" y="121920"/>
                    <a:pt x="60960" y="121920"/>
                  </a:cubicBezTo>
                  <a:cubicBezTo>
                    <a:pt x="27305" y="121920"/>
                    <a:pt x="0" y="94615"/>
                    <a:pt x="0" y="60960"/>
                  </a:cubicBezTo>
                  <a:close/>
                </a:path>
              </a:pathLst>
            </a:custGeom>
            <a:solidFill>
              <a:srgbClr val="2D5986"/>
            </a:solidFill>
          </p:spPr>
        </p:sp>
      </p:grpSp>
      <p:grpSp>
        <p:nvGrpSpPr>
          <p:cNvPr name="Group 35" id="35"/>
          <p:cNvGrpSpPr/>
          <p:nvPr/>
        </p:nvGrpSpPr>
        <p:grpSpPr>
          <a:xfrm rot="0">
            <a:off x="868680" y="3337560"/>
            <a:ext cx="4800600" cy="420624"/>
            <a:chOff x="0" y="0"/>
            <a:chExt cx="6400800" cy="560832"/>
          </a:xfrm>
        </p:grpSpPr>
        <p:sp>
          <p:nvSpPr>
            <p:cNvPr name="Freeform 36" id="36"/>
            <p:cNvSpPr/>
            <p:nvPr/>
          </p:nvSpPr>
          <p:spPr>
            <a:xfrm flipH="false" flipV="false" rot="0">
              <a:off x="0" y="0"/>
              <a:ext cx="6400800" cy="560832"/>
            </a:xfrm>
            <a:custGeom>
              <a:avLst/>
              <a:gdLst/>
              <a:ahLst/>
              <a:cxnLst/>
              <a:rect r="r" b="b" t="t" l="l"/>
              <a:pathLst>
                <a:path h="560832" w="6400800">
                  <a:moveTo>
                    <a:pt x="0" y="0"/>
                  </a:moveTo>
                  <a:lnTo>
                    <a:pt x="6400800" y="0"/>
                  </a:lnTo>
                  <a:lnTo>
                    <a:pt x="6400800" y="560832"/>
                  </a:lnTo>
                  <a:lnTo>
                    <a:pt x="0" y="560832"/>
                  </a:lnTo>
                  <a:close/>
                </a:path>
              </a:pathLst>
            </a:custGeom>
            <a:blipFill>
              <a:blip r:embed="rId3">
                <a:alphaModFix amt="0"/>
              </a:blip>
              <a:stretch>
                <a:fillRect l="0" t="-172383" r="0" b="-172383"/>
              </a:stretch>
            </a:blipFill>
          </p:spPr>
        </p:sp>
        <p:sp>
          <p:nvSpPr>
            <p:cNvPr name="TextBox 37" id="37"/>
            <p:cNvSpPr txBox="true"/>
            <p:nvPr/>
          </p:nvSpPr>
          <p:spPr>
            <a:xfrm>
              <a:off x="0" y="0"/>
              <a:ext cx="6400800" cy="560832"/>
            </a:xfrm>
            <a:prstGeom prst="rect">
              <a:avLst/>
            </a:prstGeom>
          </p:spPr>
          <p:txBody>
            <a:bodyPr anchor="ctr" rtlCol="false" tIns="0" lIns="0" bIns="0" rIns="0"/>
            <a:lstStyle/>
            <a:p>
              <a:pPr algn="l">
                <a:lnSpc>
                  <a:spcPts val="2160"/>
                </a:lnSpc>
              </a:pPr>
              <a:r>
                <a:rPr lang="en-US" sz="1800">
                  <a:solidFill>
                    <a:srgbClr val="2F3A44"/>
                  </a:solidFill>
                  <a:latin typeface="Aptos"/>
                  <a:ea typeface="Aptos"/>
                  <a:cs typeface="Aptos"/>
                  <a:sym typeface="Aptos"/>
                </a:rPr>
                <a:t>HSIZE: BYTE / HALFWORD / WORD</a:t>
              </a:r>
            </a:p>
          </p:txBody>
        </p:sp>
      </p:grpSp>
      <p:grpSp>
        <p:nvGrpSpPr>
          <p:cNvPr name="Group 38" id="38"/>
          <p:cNvGrpSpPr/>
          <p:nvPr/>
        </p:nvGrpSpPr>
        <p:grpSpPr>
          <a:xfrm rot="0">
            <a:off x="6229226" y="1931546"/>
            <a:ext cx="5546093" cy="2071373"/>
            <a:chOff x="0" y="0"/>
            <a:chExt cx="7394791" cy="2761831"/>
          </a:xfrm>
        </p:grpSpPr>
        <p:sp>
          <p:nvSpPr>
            <p:cNvPr name="Freeform 39" id="39"/>
            <p:cNvSpPr/>
            <p:nvPr/>
          </p:nvSpPr>
          <p:spPr>
            <a:xfrm flipH="false" flipV="false" rot="0">
              <a:off x="0" y="0"/>
              <a:ext cx="7394829" cy="2761869"/>
            </a:xfrm>
            <a:custGeom>
              <a:avLst/>
              <a:gdLst/>
              <a:ahLst/>
              <a:cxnLst/>
              <a:rect r="r" b="b" t="t" l="l"/>
              <a:pathLst>
                <a:path h="2761869" w="7394829">
                  <a:moveTo>
                    <a:pt x="0" y="460375"/>
                  </a:moveTo>
                  <a:cubicBezTo>
                    <a:pt x="0" y="206121"/>
                    <a:pt x="206121" y="0"/>
                    <a:pt x="460375" y="0"/>
                  </a:cubicBezTo>
                  <a:lnTo>
                    <a:pt x="6934454" y="0"/>
                  </a:lnTo>
                  <a:cubicBezTo>
                    <a:pt x="7188708" y="0"/>
                    <a:pt x="7394829" y="206121"/>
                    <a:pt x="7394829" y="460375"/>
                  </a:cubicBezTo>
                  <a:lnTo>
                    <a:pt x="7394829" y="2301494"/>
                  </a:lnTo>
                  <a:cubicBezTo>
                    <a:pt x="7394829" y="2555748"/>
                    <a:pt x="7188708" y="2761869"/>
                    <a:pt x="6934454" y="2761869"/>
                  </a:cubicBezTo>
                  <a:lnTo>
                    <a:pt x="460375" y="2761869"/>
                  </a:lnTo>
                  <a:cubicBezTo>
                    <a:pt x="206121" y="2761869"/>
                    <a:pt x="0" y="2555748"/>
                    <a:pt x="0" y="2301494"/>
                  </a:cubicBezTo>
                  <a:close/>
                </a:path>
              </a:pathLst>
            </a:custGeom>
            <a:solidFill>
              <a:srgbClr val="FFFFFF"/>
            </a:solidFill>
            <a:ln w="13970" cap="sq">
              <a:solidFill>
                <a:srgbClr val="CAD6E0"/>
              </a:solidFill>
              <a:prstDash val="solid"/>
              <a:miter/>
            </a:ln>
          </p:spPr>
        </p:sp>
      </p:grpSp>
      <p:grpSp>
        <p:nvGrpSpPr>
          <p:cNvPr name="Group 40" id="40"/>
          <p:cNvGrpSpPr/>
          <p:nvPr/>
        </p:nvGrpSpPr>
        <p:grpSpPr>
          <a:xfrm rot="0">
            <a:off x="6236208" y="2011680"/>
            <a:ext cx="68580" cy="1911096"/>
            <a:chOff x="0" y="0"/>
            <a:chExt cx="91440" cy="2548128"/>
          </a:xfrm>
        </p:grpSpPr>
        <p:sp>
          <p:nvSpPr>
            <p:cNvPr name="Freeform 41" id="41"/>
            <p:cNvSpPr/>
            <p:nvPr/>
          </p:nvSpPr>
          <p:spPr>
            <a:xfrm flipH="false" flipV="false" rot="0">
              <a:off x="0" y="0"/>
              <a:ext cx="91440" cy="2548128"/>
            </a:xfrm>
            <a:custGeom>
              <a:avLst/>
              <a:gdLst/>
              <a:ahLst/>
              <a:cxnLst/>
              <a:rect r="r" b="b" t="t" l="l"/>
              <a:pathLst>
                <a:path h="2548128" w="91440">
                  <a:moveTo>
                    <a:pt x="0" y="0"/>
                  </a:moveTo>
                  <a:lnTo>
                    <a:pt x="91440" y="0"/>
                  </a:lnTo>
                  <a:lnTo>
                    <a:pt x="91440" y="2548128"/>
                  </a:lnTo>
                  <a:lnTo>
                    <a:pt x="0" y="2548128"/>
                  </a:lnTo>
                  <a:close/>
                </a:path>
              </a:pathLst>
            </a:custGeom>
            <a:solidFill>
              <a:srgbClr val="5D80A0"/>
            </a:solidFill>
          </p:spPr>
        </p:sp>
      </p:grpSp>
      <p:grpSp>
        <p:nvGrpSpPr>
          <p:cNvPr name="Group 42" id="42"/>
          <p:cNvGrpSpPr/>
          <p:nvPr/>
        </p:nvGrpSpPr>
        <p:grpSpPr>
          <a:xfrm rot="0">
            <a:off x="6437376" y="2048256"/>
            <a:ext cx="5148072" cy="384048"/>
            <a:chOff x="0" y="0"/>
            <a:chExt cx="6864096" cy="512064"/>
          </a:xfrm>
        </p:grpSpPr>
        <p:sp>
          <p:nvSpPr>
            <p:cNvPr name="Freeform 43" id="43"/>
            <p:cNvSpPr/>
            <p:nvPr/>
          </p:nvSpPr>
          <p:spPr>
            <a:xfrm flipH="false" flipV="false" rot="0">
              <a:off x="0" y="0"/>
              <a:ext cx="6864096" cy="512064"/>
            </a:xfrm>
            <a:custGeom>
              <a:avLst/>
              <a:gdLst/>
              <a:ahLst/>
              <a:cxnLst/>
              <a:rect r="r" b="b" t="t" l="l"/>
              <a:pathLst>
                <a:path h="512064" w="6864096">
                  <a:moveTo>
                    <a:pt x="0" y="0"/>
                  </a:moveTo>
                  <a:lnTo>
                    <a:pt x="6864096" y="0"/>
                  </a:lnTo>
                  <a:lnTo>
                    <a:pt x="6864096" y="512064"/>
                  </a:lnTo>
                  <a:lnTo>
                    <a:pt x="0" y="512064"/>
                  </a:lnTo>
                  <a:close/>
                </a:path>
              </a:pathLst>
            </a:custGeom>
            <a:blipFill>
              <a:blip r:embed="rId3">
                <a:alphaModFix amt="0"/>
              </a:blip>
              <a:stretch>
                <a:fillRect l="0" t="-211192" r="0" b="-211192"/>
              </a:stretch>
            </a:blipFill>
          </p:spPr>
        </p:sp>
        <p:sp>
          <p:nvSpPr>
            <p:cNvPr name="TextBox 44" id="44"/>
            <p:cNvSpPr txBox="true"/>
            <p:nvPr/>
          </p:nvSpPr>
          <p:spPr>
            <a:xfrm>
              <a:off x="0" y="-9525"/>
              <a:ext cx="6864096" cy="521589"/>
            </a:xfrm>
            <a:prstGeom prst="rect">
              <a:avLst/>
            </a:prstGeom>
          </p:spPr>
          <p:txBody>
            <a:bodyPr anchor="ctr" rtlCol="false" tIns="0" lIns="0" bIns="0" rIns="0"/>
            <a:lstStyle/>
            <a:p>
              <a:pPr algn="l">
                <a:lnSpc>
                  <a:spcPts val="2520"/>
                </a:lnSpc>
              </a:pPr>
              <a:r>
                <a:rPr lang="en-US" sz="2100" b="true">
                  <a:solidFill>
                    <a:srgbClr val="2D5986"/>
                  </a:solidFill>
                  <a:latin typeface="Aptos Bold"/>
                  <a:ea typeface="Aptos Bold"/>
                  <a:cs typeface="Aptos Bold"/>
                  <a:sym typeface="Aptos Bold"/>
                </a:rPr>
                <a:t>Address regions</a:t>
              </a:r>
            </a:p>
          </p:txBody>
        </p:sp>
      </p:grpSp>
      <p:grpSp>
        <p:nvGrpSpPr>
          <p:cNvPr name="Group 45" id="45"/>
          <p:cNvGrpSpPr/>
          <p:nvPr/>
        </p:nvGrpSpPr>
        <p:grpSpPr>
          <a:xfrm rot="0">
            <a:off x="6510528" y="2532888"/>
            <a:ext cx="1572768" cy="960120"/>
            <a:chOff x="0" y="0"/>
            <a:chExt cx="2097024" cy="1280160"/>
          </a:xfrm>
        </p:grpSpPr>
        <p:sp>
          <p:nvSpPr>
            <p:cNvPr name="Freeform 46" id="46"/>
            <p:cNvSpPr/>
            <p:nvPr/>
          </p:nvSpPr>
          <p:spPr>
            <a:xfrm flipH="false" flipV="false" rot="0">
              <a:off x="0" y="0"/>
              <a:ext cx="2097024" cy="1280160"/>
            </a:xfrm>
            <a:custGeom>
              <a:avLst/>
              <a:gdLst/>
              <a:ahLst/>
              <a:cxnLst/>
              <a:rect r="r" b="b" t="t" l="l"/>
              <a:pathLst>
                <a:path h="1280160" w="2097024">
                  <a:moveTo>
                    <a:pt x="0" y="213360"/>
                  </a:moveTo>
                  <a:cubicBezTo>
                    <a:pt x="0" y="95504"/>
                    <a:pt x="95504" y="0"/>
                    <a:pt x="213360" y="0"/>
                  </a:cubicBezTo>
                  <a:lnTo>
                    <a:pt x="1883664" y="0"/>
                  </a:lnTo>
                  <a:cubicBezTo>
                    <a:pt x="2001520" y="0"/>
                    <a:pt x="2097024" y="95504"/>
                    <a:pt x="2097024" y="213360"/>
                  </a:cubicBezTo>
                  <a:lnTo>
                    <a:pt x="2097024" y="1066800"/>
                  </a:lnTo>
                  <a:cubicBezTo>
                    <a:pt x="2097024" y="1184656"/>
                    <a:pt x="2001520" y="1280160"/>
                    <a:pt x="1883664" y="1280160"/>
                  </a:cubicBezTo>
                  <a:lnTo>
                    <a:pt x="213360" y="1280160"/>
                  </a:lnTo>
                  <a:cubicBezTo>
                    <a:pt x="95504" y="1280160"/>
                    <a:pt x="0" y="1184656"/>
                    <a:pt x="0" y="1066800"/>
                  </a:cubicBezTo>
                  <a:close/>
                </a:path>
              </a:pathLst>
            </a:custGeom>
            <a:solidFill>
              <a:srgbClr val="E1EAF2"/>
            </a:solidFill>
          </p:spPr>
        </p:sp>
      </p:grpSp>
      <p:grpSp>
        <p:nvGrpSpPr>
          <p:cNvPr name="Group 47" id="47"/>
          <p:cNvGrpSpPr/>
          <p:nvPr/>
        </p:nvGrpSpPr>
        <p:grpSpPr>
          <a:xfrm rot="0">
            <a:off x="6556248" y="2578608"/>
            <a:ext cx="1481328" cy="403250"/>
            <a:chOff x="0" y="0"/>
            <a:chExt cx="1975104" cy="537667"/>
          </a:xfrm>
        </p:grpSpPr>
        <p:sp>
          <p:nvSpPr>
            <p:cNvPr name="Freeform 48" id="48"/>
            <p:cNvSpPr/>
            <p:nvPr/>
          </p:nvSpPr>
          <p:spPr>
            <a:xfrm flipH="false" flipV="false" rot="0">
              <a:off x="0" y="0"/>
              <a:ext cx="1975104" cy="537667"/>
            </a:xfrm>
            <a:custGeom>
              <a:avLst/>
              <a:gdLst/>
              <a:ahLst/>
              <a:cxnLst/>
              <a:rect r="r" b="b" t="t" l="l"/>
              <a:pathLst>
                <a:path h="537667" w="1975104">
                  <a:moveTo>
                    <a:pt x="0" y="0"/>
                  </a:moveTo>
                  <a:lnTo>
                    <a:pt x="1975104" y="0"/>
                  </a:lnTo>
                  <a:lnTo>
                    <a:pt x="1975104" y="537667"/>
                  </a:lnTo>
                  <a:lnTo>
                    <a:pt x="0" y="537667"/>
                  </a:lnTo>
                  <a:close/>
                </a:path>
              </a:pathLst>
            </a:custGeom>
            <a:blipFill>
              <a:blip r:embed="rId3">
                <a:alphaModFix amt="0"/>
              </a:blip>
              <a:stretch>
                <a:fillRect l="0" t="-21577" r="0" b="-21577"/>
              </a:stretch>
            </a:blipFill>
          </p:spPr>
        </p:sp>
        <p:sp>
          <p:nvSpPr>
            <p:cNvPr name="TextBox 49" id="49"/>
            <p:cNvSpPr txBox="true"/>
            <p:nvPr/>
          </p:nvSpPr>
          <p:spPr>
            <a:xfrm>
              <a:off x="0" y="0"/>
              <a:ext cx="1975104" cy="537667"/>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LOW</a:t>
              </a:r>
            </a:p>
          </p:txBody>
        </p:sp>
      </p:grpSp>
      <p:grpSp>
        <p:nvGrpSpPr>
          <p:cNvPr name="Group 50" id="50"/>
          <p:cNvGrpSpPr/>
          <p:nvPr/>
        </p:nvGrpSpPr>
        <p:grpSpPr>
          <a:xfrm rot="0">
            <a:off x="6556248" y="2945740"/>
            <a:ext cx="1481328" cy="460858"/>
            <a:chOff x="0" y="0"/>
            <a:chExt cx="1975104" cy="614477"/>
          </a:xfrm>
        </p:grpSpPr>
        <p:sp>
          <p:nvSpPr>
            <p:cNvPr name="Freeform 51" id="51"/>
            <p:cNvSpPr/>
            <p:nvPr/>
          </p:nvSpPr>
          <p:spPr>
            <a:xfrm flipH="false" flipV="false" rot="0">
              <a:off x="0" y="0"/>
              <a:ext cx="1975104" cy="614476"/>
            </a:xfrm>
            <a:custGeom>
              <a:avLst/>
              <a:gdLst/>
              <a:ahLst/>
              <a:cxnLst/>
              <a:rect r="r" b="b" t="t" l="l"/>
              <a:pathLst>
                <a:path h="614476" w="1975104">
                  <a:moveTo>
                    <a:pt x="0" y="0"/>
                  </a:moveTo>
                  <a:lnTo>
                    <a:pt x="1975104" y="0"/>
                  </a:lnTo>
                  <a:lnTo>
                    <a:pt x="1975104" y="614476"/>
                  </a:lnTo>
                  <a:lnTo>
                    <a:pt x="0" y="614476"/>
                  </a:lnTo>
                  <a:close/>
                </a:path>
              </a:pathLst>
            </a:custGeom>
            <a:blipFill>
              <a:blip r:embed="rId3">
                <a:alphaModFix amt="0"/>
              </a:blip>
              <a:stretch>
                <a:fillRect l="0" t="-12630" r="0" b="-12630"/>
              </a:stretch>
            </a:blipFill>
          </p:spPr>
        </p:sp>
        <p:sp>
          <p:nvSpPr>
            <p:cNvPr name="TextBox 52" id="52"/>
            <p:cNvSpPr txBox="true"/>
            <p:nvPr/>
          </p:nvSpPr>
          <p:spPr>
            <a:xfrm>
              <a:off x="0" y="0"/>
              <a:ext cx="1975104" cy="614477"/>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0000–5555</a:t>
              </a:r>
            </a:p>
          </p:txBody>
        </p:sp>
      </p:grpSp>
      <p:grpSp>
        <p:nvGrpSpPr>
          <p:cNvPr name="Group 53" id="53"/>
          <p:cNvGrpSpPr/>
          <p:nvPr/>
        </p:nvGrpSpPr>
        <p:grpSpPr>
          <a:xfrm rot="0">
            <a:off x="8202168" y="2532888"/>
            <a:ext cx="1572768" cy="960120"/>
            <a:chOff x="0" y="0"/>
            <a:chExt cx="2097024" cy="1280160"/>
          </a:xfrm>
        </p:grpSpPr>
        <p:sp>
          <p:nvSpPr>
            <p:cNvPr name="Freeform 54" id="54"/>
            <p:cNvSpPr/>
            <p:nvPr/>
          </p:nvSpPr>
          <p:spPr>
            <a:xfrm flipH="false" flipV="false" rot="0">
              <a:off x="0" y="0"/>
              <a:ext cx="2097024" cy="1280160"/>
            </a:xfrm>
            <a:custGeom>
              <a:avLst/>
              <a:gdLst/>
              <a:ahLst/>
              <a:cxnLst/>
              <a:rect r="r" b="b" t="t" l="l"/>
              <a:pathLst>
                <a:path h="1280160" w="2097024">
                  <a:moveTo>
                    <a:pt x="0" y="213360"/>
                  </a:moveTo>
                  <a:cubicBezTo>
                    <a:pt x="0" y="95504"/>
                    <a:pt x="95504" y="0"/>
                    <a:pt x="213360" y="0"/>
                  </a:cubicBezTo>
                  <a:lnTo>
                    <a:pt x="1883664" y="0"/>
                  </a:lnTo>
                  <a:cubicBezTo>
                    <a:pt x="2001520" y="0"/>
                    <a:pt x="2097024" y="95504"/>
                    <a:pt x="2097024" y="213360"/>
                  </a:cubicBezTo>
                  <a:lnTo>
                    <a:pt x="2097024" y="1066800"/>
                  </a:lnTo>
                  <a:cubicBezTo>
                    <a:pt x="2097024" y="1184656"/>
                    <a:pt x="2001520" y="1280160"/>
                    <a:pt x="1883664" y="1280160"/>
                  </a:cubicBezTo>
                  <a:lnTo>
                    <a:pt x="213360" y="1280160"/>
                  </a:lnTo>
                  <a:cubicBezTo>
                    <a:pt x="95504" y="1280160"/>
                    <a:pt x="0" y="1184656"/>
                    <a:pt x="0" y="1066800"/>
                  </a:cubicBezTo>
                  <a:close/>
                </a:path>
              </a:pathLst>
            </a:custGeom>
            <a:solidFill>
              <a:srgbClr val="E1EAF2"/>
            </a:solidFill>
          </p:spPr>
        </p:sp>
      </p:grpSp>
      <p:grpSp>
        <p:nvGrpSpPr>
          <p:cNvPr name="Group 55" id="55"/>
          <p:cNvGrpSpPr/>
          <p:nvPr/>
        </p:nvGrpSpPr>
        <p:grpSpPr>
          <a:xfrm rot="0">
            <a:off x="8247888" y="2578608"/>
            <a:ext cx="1481328" cy="403250"/>
            <a:chOff x="0" y="0"/>
            <a:chExt cx="1975104" cy="537667"/>
          </a:xfrm>
        </p:grpSpPr>
        <p:sp>
          <p:nvSpPr>
            <p:cNvPr name="Freeform 56" id="56"/>
            <p:cNvSpPr/>
            <p:nvPr/>
          </p:nvSpPr>
          <p:spPr>
            <a:xfrm flipH="false" flipV="false" rot="0">
              <a:off x="0" y="0"/>
              <a:ext cx="1975104" cy="537667"/>
            </a:xfrm>
            <a:custGeom>
              <a:avLst/>
              <a:gdLst/>
              <a:ahLst/>
              <a:cxnLst/>
              <a:rect r="r" b="b" t="t" l="l"/>
              <a:pathLst>
                <a:path h="537667" w="1975104">
                  <a:moveTo>
                    <a:pt x="0" y="0"/>
                  </a:moveTo>
                  <a:lnTo>
                    <a:pt x="1975104" y="0"/>
                  </a:lnTo>
                  <a:lnTo>
                    <a:pt x="1975104" y="537667"/>
                  </a:lnTo>
                  <a:lnTo>
                    <a:pt x="0" y="537667"/>
                  </a:lnTo>
                  <a:close/>
                </a:path>
              </a:pathLst>
            </a:custGeom>
            <a:blipFill>
              <a:blip r:embed="rId3">
                <a:alphaModFix amt="0"/>
              </a:blip>
              <a:stretch>
                <a:fillRect l="0" t="-21577" r="0" b="-21577"/>
              </a:stretch>
            </a:blipFill>
          </p:spPr>
        </p:sp>
        <p:sp>
          <p:nvSpPr>
            <p:cNvPr name="TextBox 57" id="57"/>
            <p:cNvSpPr txBox="true"/>
            <p:nvPr/>
          </p:nvSpPr>
          <p:spPr>
            <a:xfrm>
              <a:off x="0" y="0"/>
              <a:ext cx="1975104" cy="537667"/>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MID</a:t>
              </a:r>
            </a:p>
          </p:txBody>
        </p:sp>
      </p:grpSp>
      <p:grpSp>
        <p:nvGrpSpPr>
          <p:cNvPr name="Group 58" id="58"/>
          <p:cNvGrpSpPr/>
          <p:nvPr/>
        </p:nvGrpSpPr>
        <p:grpSpPr>
          <a:xfrm rot="0">
            <a:off x="8247888" y="2945740"/>
            <a:ext cx="1481328" cy="460858"/>
            <a:chOff x="0" y="0"/>
            <a:chExt cx="1975104" cy="614477"/>
          </a:xfrm>
        </p:grpSpPr>
        <p:sp>
          <p:nvSpPr>
            <p:cNvPr name="Freeform 59" id="59"/>
            <p:cNvSpPr/>
            <p:nvPr/>
          </p:nvSpPr>
          <p:spPr>
            <a:xfrm flipH="false" flipV="false" rot="0">
              <a:off x="0" y="0"/>
              <a:ext cx="1975104" cy="614476"/>
            </a:xfrm>
            <a:custGeom>
              <a:avLst/>
              <a:gdLst/>
              <a:ahLst/>
              <a:cxnLst/>
              <a:rect r="r" b="b" t="t" l="l"/>
              <a:pathLst>
                <a:path h="614476" w="1975104">
                  <a:moveTo>
                    <a:pt x="0" y="0"/>
                  </a:moveTo>
                  <a:lnTo>
                    <a:pt x="1975104" y="0"/>
                  </a:lnTo>
                  <a:lnTo>
                    <a:pt x="1975104" y="614476"/>
                  </a:lnTo>
                  <a:lnTo>
                    <a:pt x="0" y="614476"/>
                  </a:lnTo>
                  <a:close/>
                </a:path>
              </a:pathLst>
            </a:custGeom>
            <a:blipFill>
              <a:blip r:embed="rId3">
                <a:alphaModFix amt="0"/>
              </a:blip>
              <a:stretch>
                <a:fillRect l="0" t="-12630" r="0" b="-12630"/>
              </a:stretch>
            </a:blipFill>
          </p:spPr>
        </p:sp>
        <p:sp>
          <p:nvSpPr>
            <p:cNvPr name="TextBox 60" id="60"/>
            <p:cNvSpPr txBox="true"/>
            <p:nvPr/>
          </p:nvSpPr>
          <p:spPr>
            <a:xfrm>
              <a:off x="0" y="0"/>
              <a:ext cx="1975104" cy="614477"/>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5556–AAAA</a:t>
              </a:r>
            </a:p>
          </p:txBody>
        </p:sp>
      </p:grpSp>
      <p:grpSp>
        <p:nvGrpSpPr>
          <p:cNvPr name="Group 61" id="61"/>
          <p:cNvGrpSpPr/>
          <p:nvPr/>
        </p:nvGrpSpPr>
        <p:grpSpPr>
          <a:xfrm rot="0">
            <a:off x="9893808" y="2532888"/>
            <a:ext cx="1572768" cy="960120"/>
            <a:chOff x="0" y="0"/>
            <a:chExt cx="2097024" cy="1280160"/>
          </a:xfrm>
        </p:grpSpPr>
        <p:sp>
          <p:nvSpPr>
            <p:cNvPr name="Freeform 62" id="62"/>
            <p:cNvSpPr/>
            <p:nvPr/>
          </p:nvSpPr>
          <p:spPr>
            <a:xfrm flipH="false" flipV="false" rot="0">
              <a:off x="0" y="0"/>
              <a:ext cx="2097024" cy="1280160"/>
            </a:xfrm>
            <a:custGeom>
              <a:avLst/>
              <a:gdLst/>
              <a:ahLst/>
              <a:cxnLst/>
              <a:rect r="r" b="b" t="t" l="l"/>
              <a:pathLst>
                <a:path h="1280160" w="2097024">
                  <a:moveTo>
                    <a:pt x="0" y="213360"/>
                  </a:moveTo>
                  <a:cubicBezTo>
                    <a:pt x="0" y="95504"/>
                    <a:pt x="95504" y="0"/>
                    <a:pt x="213360" y="0"/>
                  </a:cubicBezTo>
                  <a:lnTo>
                    <a:pt x="1883664" y="0"/>
                  </a:lnTo>
                  <a:cubicBezTo>
                    <a:pt x="2001520" y="0"/>
                    <a:pt x="2097024" y="95504"/>
                    <a:pt x="2097024" y="213360"/>
                  </a:cubicBezTo>
                  <a:lnTo>
                    <a:pt x="2097024" y="1066800"/>
                  </a:lnTo>
                  <a:cubicBezTo>
                    <a:pt x="2097024" y="1184656"/>
                    <a:pt x="2001520" y="1280160"/>
                    <a:pt x="1883664" y="1280160"/>
                  </a:cubicBezTo>
                  <a:lnTo>
                    <a:pt x="213360" y="1280160"/>
                  </a:lnTo>
                  <a:cubicBezTo>
                    <a:pt x="95504" y="1280160"/>
                    <a:pt x="0" y="1184656"/>
                    <a:pt x="0" y="1066800"/>
                  </a:cubicBezTo>
                  <a:close/>
                </a:path>
              </a:pathLst>
            </a:custGeom>
            <a:solidFill>
              <a:srgbClr val="E1EAF2"/>
            </a:solidFill>
          </p:spPr>
        </p:sp>
      </p:grpSp>
      <p:grpSp>
        <p:nvGrpSpPr>
          <p:cNvPr name="Group 63" id="63"/>
          <p:cNvGrpSpPr/>
          <p:nvPr/>
        </p:nvGrpSpPr>
        <p:grpSpPr>
          <a:xfrm rot="0">
            <a:off x="9939528" y="2578608"/>
            <a:ext cx="1481328" cy="403250"/>
            <a:chOff x="0" y="0"/>
            <a:chExt cx="1975104" cy="537667"/>
          </a:xfrm>
        </p:grpSpPr>
        <p:sp>
          <p:nvSpPr>
            <p:cNvPr name="Freeform 64" id="64"/>
            <p:cNvSpPr/>
            <p:nvPr/>
          </p:nvSpPr>
          <p:spPr>
            <a:xfrm flipH="false" flipV="false" rot="0">
              <a:off x="0" y="0"/>
              <a:ext cx="1975104" cy="537667"/>
            </a:xfrm>
            <a:custGeom>
              <a:avLst/>
              <a:gdLst/>
              <a:ahLst/>
              <a:cxnLst/>
              <a:rect r="r" b="b" t="t" l="l"/>
              <a:pathLst>
                <a:path h="537667" w="1975104">
                  <a:moveTo>
                    <a:pt x="0" y="0"/>
                  </a:moveTo>
                  <a:lnTo>
                    <a:pt x="1975104" y="0"/>
                  </a:lnTo>
                  <a:lnTo>
                    <a:pt x="1975104" y="537667"/>
                  </a:lnTo>
                  <a:lnTo>
                    <a:pt x="0" y="537667"/>
                  </a:lnTo>
                  <a:close/>
                </a:path>
              </a:pathLst>
            </a:custGeom>
            <a:blipFill>
              <a:blip r:embed="rId3">
                <a:alphaModFix amt="0"/>
              </a:blip>
              <a:stretch>
                <a:fillRect l="0" t="-21577" r="0" b="-21577"/>
              </a:stretch>
            </a:blipFill>
          </p:spPr>
        </p:sp>
        <p:sp>
          <p:nvSpPr>
            <p:cNvPr name="TextBox 65" id="65"/>
            <p:cNvSpPr txBox="true"/>
            <p:nvPr/>
          </p:nvSpPr>
          <p:spPr>
            <a:xfrm>
              <a:off x="0" y="0"/>
              <a:ext cx="1975104" cy="537667"/>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HIGH</a:t>
              </a:r>
            </a:p>
          </p:txBody>
        </p:sp>
      </p:grpSp>
      <p:grpSp>
        <p:nvGrpSpPr>
          <p:cNvPr name="Group 66" id="66"/>
          <p:cNvGrpSpPr/>
          <p:nvPr/>
        </p:nvGrpSpPr>
        <p:grpSpPr>
          <a:xfrm rot="0">
            <a:off x="9939528" y="2945740"/>
            <a:ext cx="1481328" cy="460858"/>
            <a:chOff x="0" y="0"/>
            <a:chExt cx="1975104" cy="614477"/>
          </a:xfrm>
        </p:grpSpPr>
        <p:sp>
          <p:nvSpPr>
            <p:cNvPr name="Freeform 67" id="67"/>
            <p:cNvSpPr/>
            <p:nvPr/>
          </p:nvSpPr>
          <p:spPr>
            <a:xfrm flipH="false" flipV="false" rot="0">
              <a:off x="0" y="0"/>
              <a:ext cx="1975104" cy="614476"/>
            </a:xfrm>
            <a:custGeom>
              <a:avLst/>
              <a:gdLst/>
              <a:ahLst/>
              <a:cxnLst/>
              <a:rect r="r" b="b" t="t" l="l"/>
              <a:pathLst>
                <a:path h="614476" w="1975104">
                  <a:moveTo>
                    <a:pt x="0" y="0"/>
                  </a:moveTo>
                  <a:lnTo>
                    <a:pt x="1975104" y="0"/>
                  </a:lnTo>
                  <a:lnTo>
                    <a:pt x="1975104" y="614476"/>
                  </a:lnTo>
                  <a:lnTo>
                    <a:pt x="0" y="614476"/>
                  </a:lnTo>
                  <a:close/>
                </a:path>
              </a:pathLst>
            </a:custGeom>
            <a:blipFill>
              <a:blip r:embed="rId3">
                <a:alphaModFix amt="0"/>
              </a:blip>
              <a:stretch>
                <a:fillRect l="0" t="-12630" r="0" b="-12630"/>
              </a:stretch>
            </a:blipFill>
          </p:spPr>
        </p:sp>
        <p:sp>
          <p:nvSpPr>
            <p:cNvPr name="TextBox 68" id="68"/>
            <p:cNvSpPr txBox="true"/>
            <p:nvPr/>
          </p:nvSpPr>
          <p:spPr>
            <a:xfrm>
              <a:off x="0" y="0"/>
              <a:ext cx="1975104" cy="614477"/>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AAAB–FFFF</a:t>
              </a:r>
            </a:p>
          </p:txBody>
        </p:sp>
      </p:grpSp>
      <p:grpSp>
        <p:nvGrpSpPr>
          <p:cNvPr name="Group 69" id="69"/>
          <p:cNvGrpSpPr/>
          <p:nvPr/>
        </p:nvGrpSpPr>
        <p:grpSpPr>
          <a:xfrm rot="0">
            <a:off x="12044810" y="1931546"/>
            <a:ext cx="5637533" cy="2071373"/>
            <a:chOff x="0" y="0"/>
            <a:chExt cx="7516711" cy="2761831"/>
          </a:xfrm>
        </p:grpSpPr>
        <p:sp>
          <p:nvSpPr>
            <p:cNvPr name="Freeform 70" id="70"/>
            <p:cNvSpPr/>
            <p:nvPr/>
          </p:nvSpPr>
          <p:spPr>
            <a:xfrm flipH="false" flipV="false" rot="0">
              <a:off x="0" y="0"/>
              <a:ext cx="7516749" cy="2761869"/>
            </a:xfrm>
            <a:custGeom>
              <a:avLst/>
              <a:gdLst/>
              <a:ahLst/>
              <a:cxnLst/>
              <a:rect r="r" b="b" t="t" l="l"/>
              <a:pathLst>
                <a:path h="2761869" w="7516749">
                  <a:moveTo>
                    <a:pt x="0" y="460375"/>
                  </a:moveTo>
                  <a:cubicBezTo>
                    <a:pt x="0" y="206121"/>
                    <a:pt x="206121" y="0"/>
                    <a:pt x="460375" y="0"/>
                  </a:cubicBezTo>
                  <a:lnTo>
                    <a:pt x="7056374" y="0"/>
                  </a:lnTo>
                  <a:cubicBezTo>
                    <a:pt x="7310628" y="0"/>
                    <a:pt x="7516749" y="206121"/>
                    <a:pt x="7516749" y="460375"/>
                  </a:cubicBezTo>
                  <a:lnTo>
                    <a:pt x="7516749" y="2301494"/>
                  </a:lnTo>
                  <a:cubicBezTo>
                    <a:pt x="7516749" y="2555748"/>
                    <a:pt x="7310628" y="2761869"/>
                    <a:pt x="7056374" y="2761869"/>
                  </a:cubicBezTo>
                  <a:lnTo>
                    <a:pt x="460375" y="2761869"/>
                  </a:lnTo>
                  <a:cubicBezTo>
                    <a:pt x="206121" y="2761869"/>
                    <a:pt x="0" y="2555748"/>
                    <a:pt x="0" y="2301494"/>
                  </a:cubicBezTo>
                  <a:close/>
                </a:path>
              </a:pathLst>
            </a:custGeom>
            <a:solidFill>
              <a:srgbClr val="FFFFFF"/>
            </a:solidFill>
            <a:ln w="13970" cap="sq">
              <a:solidFill>
                <a:srgbClr val="CAD6E0"/>
              </a:solidFill>
              <a:prstDash val="solid"/>
              <a:miter/>
            </a:ln>
          </p:spPr>
        </p:sp>
      </p:grpSp>
      <p:grpSp>
        <p:nvGrpSpPr>
          <p:cNvPr name="Group 71" id="71"/>
          <p:cNvGrpSpPr/>
          <p:nvPr/>
        </p:nvGrpSpPr>
        <p:grpSpPr>
          <a:xfrm rot="0">
            <a:off x="12051792" y="2011680"/>
            <a:ext cx="68580" cy="1911096"/>
            <a:chOff x="0" y="0"/>
            <a:chExt cx="91440" cy="2548128"/>
          </a:xfrm>
        </p:grpSpPr>
        <p:sp>
          <p:nvSpPr>
            <p:cNvPr name="Freeform 72" id="72"/>
            <p:cNvSpPr/>
            <p:nvPr/>
          </p:nvSpPr>
          <p:spPr>
            <a:xfrm flipH="false" flipV="false" rot="0">
              <a:off x="0" y="0"/>
              <a:ext cx="91440" cy="2548128"/>
            </a:xfrm>
            <a:custGeom>
              <a:avLst/>
              <a:gdLst/>
              <a:ahLst/>
              <a:cxnLst/>
              <a:rect r="r" b="b" t="t" l="l"/>
              <a:pathLst>
                <a:path h="2548128" w="91440">
                  <a:moveTo>
                    <a:pt x="0" y="0"/>
                  </a:moveTo>
                  <a:lnTo>
                    <a:pt x="91440" y="0"/>
                  </a:lnTo>
                  <a:lnTo>
                    <a:pt x="91440" y="2548128"/>
                  </a:lnTo>
                  <a:lnTo>
                    <a:pt x="0" y="2548128"/>
                  </a:lnTo>
                  <a:close/>
                </a:path>
              </a:pathLst>
            </a:custGeom>
            <a:solidFill>
              <a:srgbClr val="5D80A0"/>
            </a:solidFill>
          </p:spPr>
        </p:sp>
      </p:grpSp>
      <p:grpSp>
        <p:nvGrpSpPr>
          <p:cNvPr name="Group 73" id="73"/>
          <p:cNvGrpSpPr/>
          <p:nvPr/>
        </p:nvGrpSpPr>
        <p:grpSpPr>
          <a:xfrm rot="0">
            <a:off x="12252960" y="2048256"/>
            <a:ext cx="5239512" cy="384048"/>
            <a:chOff x="0" y="0"/>
            <a:chExt cx="6986016" cy="512064"/>
          </a:xfrm>
        </p:grpSpPr>
        <p:sp>
          <p:nvSpPr>
            <p:cNvPr name="Freeform 74" id="74"/>
            <p:cNvSpPr/>
            <p:nvPr/>
          </p:nvSpPr>
          <p:spPr>
            <a:xfrm flipH="false" flipV="false" rot="0">
              <a:off x="0" y="0"/>
              <a:ext cx="6986016" cy="512064"/>
            </a:xfrm>
            <a:custGeom>
              <a:avLst/>
              <a:gdLst/>
              <a:ahLst/>
              <a:cxnLst/>
              <a:rect r="r" b="b" t="t" l="l"/>
              <a:pathLst>
                <a:path h="512064" w="6986016">
                  <a:moveTo>
                    <a:pt x="0" y="0"/>
                  </a:moveTo>
                  <a:lnTo>
                    <a:pt x="6986016" y="0"/>
                  </a:lnTo>
                  <a:lnTo>
                    <a:pt x="6986016" y="512064"/>
                  </a:lnTo>
                  <a:lnTo>
                    <a:pt x="0" y="512064"/>
                  </a:lnTo>
                  <a:close/>
                </a:path>
              </a:pathLst>
            </a:custGeom>
            <a:blipFill>
              <a:blip r:embed="rId3">
                <a:alphaModFix amt="0"/>
              </a:blip>
              <a:stretch>
                <a:fillRect l="0" t="-215831" r="0" b="-215831"/>
              </a:stretch>
            </a:blipFill>
          </p:spPr>
        </p:sp>
        <p:sp>
          <p:nvSpPr>
            <p:cNvPr name="TextBox 75" id="75"/>
            <p:cNvSpPr txBox="true"/>
            <p:nvPr/>
          </p:nvSpPr>
          <p:spPr>
            <a:xfrm>
              <a:off x="0" y="-9525"/>
              <a:ext cx="6986016" cy="521589"/>
            </a:xfrm>
            <a:prstGeom prst="rect">
              <a:avLst/>
            </a:prstGeom>
          </p:spPr>
          <p:txBody>
            <a:bodyPr anchor="ctr" rtlCol="false" tIns="0" lIns="0" bIns="0" rIns="0"/>
            <a:lstStyle/>
            <a:p>
              <a:pPr algn="l">
                <a:lnSpc>
                  <a:spcPts val="2520"/>
                </a:lnSpc>
              </a:pPr>
              <a:r>
                <a:rPr lang="en-US" sz="2100" b="true">
                  <a:solidFill>
                    <a:srgbClr val="2D5986"/>
                  </a:solidFill>
                  <a:latin typeface="Aptos Bold"/>
                  <a:ea typeface="Aptos Bold"/>
                  <a:cs typeface="Aptos Bold"/>
                  <a:sym typeface="Aptos Bold"/>
                </a:rPr>
                <a:t>Protection attributes</a:t>
              </a:r>
            </a:p>
          </p:txBody>
        </p:sp>
      </p:grpSp>
      <p:grpSp>
        <p:nvGrpSpPr>
          <p:cNvPr name="Group 76" id="76"/>
          <p:cNvGrpSpPr/>
          <p:nvPr/>
        </p:nvGrpSpPr>
        <p:grpSpPr>
          <a:xfrm rot="0">
            <a:off x="12362688" y="2523744"/>
            <a:ext cx="4983480" cy="384048"/>
            <a:chOff x="0" y="0"/>
            <a:chExt cx="6644640" cy="512064"/>
          </a:xfrm>
        </p:grpSpPr>
        <p:sp>
          <p:nvSpPr>
            <p:cNvPr name="Freeform 77" id="77"/>
            <p:cNvSpPr/>
            <p:nvPr/>
          </p:nvSpPr>
          <p:spPr>
            <a:xfrm flipH="false" flipV="false" rot="0">
              <a:off x="0" y="0"/>
              <a:ext cx="6644640" cy="512064"/>
            </a:xfrm>
            <a:custGeom>
              <a:avLst/>
              <a:gdLst/>
              <a:ahLst/>
              <a:cxnLst/>
              <a:rect r="r" b="b" t="t" l="l"/>
              <a:pathLst>
                <a:path h="512064" w="6644640">
                  <a:moveTo>
                    <a:pt x="0" y="0"/>
                  </a:moveTo>
                  <a:lnTo>
                    <a:pt x="6644640" y="0"/>
                  </a:lnTo>
                  <a:lnTo>
                    <a:pt x="6644640" y="512064"/>
                  </a:lnTo>
                  <a:lnTo>
                    <a:pt x="0" y="512064"/>
                  </a:lnTo>
                  <a:close/>
                </a:path>
              </a:pathLst>
            </a:custGeom>
            <a:blipFill>
              <a:blip r:embed="rId3">
                <a:alphaModFix amt="0"/>
              </a:blip>
              <a:stretch>
                <a:fillRect l="0" t="-202841" r="0" b="-202841"/>
              </a:stretch>
            </a:blipFill>
          </p:spPr>
        </p:sp>
        <p:sp>
          <p:nvSpPr>
            <p:cNvPr name="TextBox 78" id="78"/>
            <p:cNvSpPr txBox="true"/>
            <p:nvPr/>
          </p:nvSpPr>
          <p:spPr>
            <a:xfrm>
              <a:off x="0" y="0"/>
              <a:ext cx="6644640" cy="512064"/>
            </a:xfrm>
            <a:prstGeom prst="rect">
              <a:avLst/>
            </a:prstGeom>
          </p:spPr>
          <p:txBody>
            <a:bodyPr anchor="ctr" rtlCol="false" tIns="0" lIns="0" bIns="0" rIns="0"/>
            <a:lstStyle/>
            <a:p>
              <a:pPr algn="ctr">
                <a:lnSpc>
                  <a:spcPts val="2160"/>
                </a:lnSpc>
              </a:pPr>
              <a:r>
                <a:rPr lang="en-US" sz="1800" b="true">
                  <a:solidFill>
                    <a:srgbClr val="63707C"/>
                  </a:solidFill>
                  <a:latin typeface="Aptos Bold"/>
                  <a:ea typeface="Aptos Bold"/>
                  <a:cs typeface="Aptos Bold"/>
                  <a:sym typeface="Aptos Bold"/>
                </a:rPr>
                <a:t>HPROT[1:0]</a:t>
              </a:r>
            </a:p>
          </p:txBody>
        </p:sp>
      </p:grpSp>
      <p:grpSp>
        <p:nvGrpSpPr>
          <p:cNvPr name="Group 79" id="79"/>
          <p:cNvGrpSpPr/>
          <p:nvPr/>
        </p:nvGrpSpPr>
        <p:grpSpPr>
          <a:xfrm rot="0">
            <a:off x="12326112" y="2971800"/>
            <a:ext cx="1060704" cy="640080"/>
            <a:chOff x="0" y="0"/>
            <a:chExt cx="1414272" cy="853440"/>
          </a:xfrm>
        </p:grpSpPr>
        <p:sp>
          <p:nvSpPr>
            <p:cNvPr name="Freeform 80" id="80"/>
            <p:cNvSpPr/>
            <p:nvPr/>
          </p:nvSpPr>
          <p:spPr>
            <a:xfrm flipH="false" flipV="false" rot="0">
              <a:off x="0" y="0"/>
              <a:ext cx="1414272" cy="853440"/>
            </a:xfrm>
            <a:custGeom>
              <a:avLst/>
              <a:gdLst/>
              <a:ahLst/>
              <a:cxnLst/>
              <a:rect r="r" b="b" t="t" l="l"/>
              <a:pathLst>
                <a:path h="853440" w="1414272">
                  <a:moveTo>
                    <a:pt x="0" y="142240"/>
                  </a:moveTo>
                  <a:cubicBezTo>
                    <a:pt x="0" y="63627"/>
                    <a:pt x="63627" y="0"/>
                    <a:pt x="142240" y="0"/>
                  </a:cubicBezTo>
                  <a:lnTo>
                    <a:pt x="1272032" y="0"/>
                  </a:lnTo>
                  <a:cubicBezTo>
                    <a:pt x="1350645" y="0"/>
                    <a:pt x="1414272" y="63627"/>
                    <a:pt x="1414272" y="142240"/>
                  </a:cubicBezTo>
                  <a:lnTo>
                    <a:pt x="1414272" y="711200"/>
                  </a:lnTo>
                  <a:cubicBezTo>
                    <a:pt x="1414272" y="789813"/>
                    <a:pt x="1350645" y="853440"/>
                    <a:pt x="1272032" y="853440"/>
                  </a:cubicBezTo>
                  <a:lnTo>
                    <a:pt x="142240" y="853440"/>
                  </a:lnTo>
                  <a:cubicBezTo>
                    <a:pt x="63627" y="853440"/>
                    <a:pt x="0" y="789813"/>
                    <a:pt x="0" y="711200"/>
                  </a:cubicBezTo>
                  <a:close/>
                </a:path>
              </a:pathLst>
            </a:custGeom>
            <a:solidFill>
              <a:srgbClr val="EFF3F7"/>
            </a:solidFill>
          </p:spPr>
        </p:sp>
      </p:grpSp>
      <p:grpSp>
        <p:nvGrpSpPr>
          <p:cNvPr name="Group 81" id="81"/>
          <p:cNvGrpSpPr/>
          <p:nvPr/>
        </p:nvGrpSpPr>
        <p:grpSpPr>
          <a:xfrm rot="0">
            <a:off x="12371832" y="3017520"/>
            <a:ext cx="969264" cy="268834"/>
            <a:chOff x="0" y="0"/>
            <a:chExt cx="1292352" cy="358445"/>
          </a:xfrm>
        </p:grpSpPr>
        <p:sp>
          <p:nvSpPr>
            <p:cNvPr name="Freeform 82" id="82"/>
            <p:cNvSpPr/>
            <p:nvPr/>
          </p:nvSpPr>
          <p:spPr>
            <a:xfrm flipH="false" flipV="false" rot="0">
              <a:off x="0" y="0"/>
              <a:ext cx="1292351" cy="358444"/>
            </a:xfrm>
            <a:custGeom>
              <a:avLst/>
              <a:gdLst/>
              <a:ahLst/>
              <a:cxnLst/>
              <a:rect r="r" b="b" t="t" l="l"/>
              <a:pathLst>
                <a:path h="358444" w="1292351">
                  <a:moveTo>
                    <a:pt x="0" y="0"/>
                  </a:moveTo>
                  <a:lnTo>
                    <a:pt x="1292351" y="0"/>
                  </a:lnTo>
                  <a:lnTo>
                    <a:pt x="1292351" y="358444"/>
                  </a:lnTo>
                  <a:lnTo>
                    <a:pt x="0" y="358444"/>
                  </a:lnTo>
                  <a:close/>
                </a:path>
              </a:pathLst>
            </a:custGeom>
            <a:blipFill>
              <a:blip r:embed="rId3">
                <a:alphaModFix amt="0"/>
              </a:blip>
              <a:stretch>
                <a:fillRect l="0" t="-20252" r="0" b="-20252"/>
              </a:stretch>
            </a:blipFill>
          </p:spPr>
        </p:sp>
        <p:sp>
          <p:nvSpPr>
            <p:cNvPr name="TextBox 83" id="83"/>
            <p:cNvSpPr txBox="true"/>
            <p:nvPr/>
          </p:nvSpPr>
          <p:spPr>
            <a:xfrm>
              <a:off x="0" y="0"/>
              <a:ext cx="1292352" cy="358445"/>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BIN</a:t>
              </a:r>
            </a:p>
          </p:txBody>
        </p:sp>
      </p:grpSp>
      <p:grpSp>
        <p:nvGrpSpPr>
          <p:cNvPr name="Group 84" id="84"/>
          <p:cNvGrpSpPr/>
          <p:nvPr/>
        </p:nvGrpSpPr>
        <p:grpSpPr>
          <a:xfrm rot="0">
            <a:off x="12371832" y="3247034"/>
            <a:ext cx="969264" cy="307238"/>
            <a:chOff x="0" y="0"/>
            <a:chExt cx="1292352" cy="409651"/>
          </a:xfrm>
        </p:grpSpPr>
        <p:sp>
          <p:nvSpPr>
            <p:cNvPr name="Freeform 85" id="85"/>
            <p:cNvSpPr/>
            <p:nvPr/>
          </p:nvSpPr>
          <p:spPr>
            <a:xfrm flipH="false" flipV="false" rot="0">
              <a:off x="0" y="0"/>
              <a:ext cx="1292351" cy="409651"/>
            </a:xfrm>
            <a:custGeom>
              <a:avLst/>
              <a:gdLst/>
              <a:ahLst/>
              <a:cxnLst/>
              <a:rect r="r" b="b" t="t" l="l"/>
              <a:pathLst>
                <a:path h="409651" w="1292351">
                  <a:moveTo>
                    <a:pt x="0" y="0"/>
                  </a:moveTo>
                  <a:lnTo>
                    <a:pt x="1292351" y="0"/>
                  </a:lnTo>
                  <a:lnTo>
                    <a:pt x="1292351" y="409651"/>
                  </a:lnTo>
                  <a:lnTo>
                    <a:pt x="0" y="409651"/>
                  </a:lnTo>
                  <a:close/>
                </a:path>
              </a:pathLst>
            </a:custGeom>
            <a:blipFill>
              <a:blip r:embed="rId3">
                <a:alphaModFix amt="0"/>
              </a:blip>
              <a:stretch>
                <a:fillRect l="0" t="-11470" r="0" b="-11470"/>
              </a:stretch>
            </a:blipFill>
          </p:spPr>
        </p:sp>
        <p:sp>
          <p:nvSpPr>
            <p:cNvPr name="TextBox 86" id="86"/>
            <p:cNvSpPr txBox="true"/>
            <p:nvPr/>
          </p:nvSpPr>
          <p:spPr>
            <a:xfrm>
              <a:off x="0" y="0"/>
              <a:ext cx="1292352" cy="409651"/>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00</a:t>
              </a:r>
            </a:p>
          </p:txBody>
        </p:sp>
      </p:grpSp>
      <p:grpSp>
        <p:nvGrpSpPr>
          <p:cNvPr name="Group 87" id="87"/>
          <p:cNvGrpSpPr/>
          <p:nvPr/>
        </p:nvGrpSpPr>
        <p:grpSpPr>
          <a:xfrm rot="0">
            <a:off x="13533120" y="2971800"/>
            <a:ext cx="1060704" cy="640080"/>
            <a:chOff x="0" y="0"/>
            <a:chExt cx="1414272" cy="853440"/>
          </a:xfrm>
        </p:grpSpPr>
        <p:sp>
          <p:nvSpPr>
            <p:cNvPr name="Freeform 88" id="88"/>
            <p:cNvSpPr/>
            <p:nvPr/>
          </p:nvSpPr>
          <p:spPr>
            <a:xfrm flipH="false" flipV="false" rot="0">
              <a:off x="0" y="0"/>
              <a:ext cx="1414272" cy="853440"/>
            </a:xfrm>
            <a:custGeom>
              <a:avLst/>
              <a:gdLst/>
              <a:ahLst/>
              <a:cxnLst/>
              <a:rect r="r" b="b" t="t" l="l"/>
              <a:pathLst>
                <a:path h="853440" w="1414272">
                  <a:moveTo>
                    <a:pt x="0" y="142240"/>
                  </a:moveTo>
                  <a:cubicBezTo>
                    <a:pt x="0" y="63627"/>
                    <a:pt x="63627" y="0"/>
                    <a:pt x="142240" y="0"/>
                  </a:cubicBezTo>
                  <a:lnTo>
                    <a:pt x="1272032" y="0"/>
                  </a:lnTo>
                  <a:cubicBezTo>
                    <a:pt x="1350645" y="0"/>
                    <a:pt x="1414272" y="63627"/>
                    <a:pt x="1414272" y="142240"/>
                  </a:cubicBezTo>
                  <a:lnTo>
                    <a:pt x="1414272" y="711200"/>
                  </a:lnTo>
                  <a:cubicBezTo>
                    <a:pt x="1414272" y="789813"/>
                    <a:pt x="1350645" y="853440"/>
                    <a:pt x="1272032" y="853440"/>
                  </a:cubicBezTo>
                  <a:lnTo>
                    <a:pt x="142240" y="853440"/>
                  </a:lnTo>
                  <a:cubicBezTo>
                    <a:pt x="63627" y="853440"/>
                    <a:pt x="0" y="789813"/>
                    <a:pt x="0" y="711200"/>
                  </a:cubicBezTo>
                  <a:close/>
                </a:path>
              </a:pathLst>
            </a:custGeom>
            <a:solidFill>
              <a:srgbClr val="EFF3F7"/>
            </a:solidFill>
          </p:spPr>
        </p:sp>
      </p:grpSp>
      <p:grpSp>
        <p:nvGrpSpPr>
          <p:cNvPr name="Group 89" id="89"/>
          <p:cNvGrpSpPr/>
          <p:nvPr/>
        </p:nvGrpSpPr>
        <p:grpSpPr>
          <a:xfrm rot="0">
            <a:off x="13578840" y="3017520"/>
            <a:ext cx="969264" cy="268834"/>
            <a:chOff x="0" y="0"/>
            <a:chExt cx="1292352" cy="358445"/>
          </a:xfrm>
        </p:grpSpPr>
        <p:sp>
          <p:nvSpPr>
            <p:cNvPr name="Freeform 90" id="90"/>
            <p:cNvSpPr/>
            <p:nvPr/>
          </p:nvSpPr>
          <p:spPr>
            <a:xfrm flipH="false" flipV="false" rot="0">
              <a:off x="0" y="0"/>
              <a:ext cx="1292351" cy="358444"/>
            </a:xfrm>
            <a:custGeom>
              <a:avLst/>
              <a:gdLst/>
              <a:ahLst/>
              <a:cxnLst/>
              <a:rect r="r" b="b" t="t" l="l"/>
              <a:pathLst>
                <a:path h="358444" w="1292351">
                  <a:moveTo>
                    <a:pt x="0" y="0"/>
                  </a:moveTo>
                  <a:lnTo>
                    <a:pt x="1292351" y="0"/>
                  </a:lnTo>
                  <a:lnTo>
                    <a:pt x="1292351" y="358444"/>
                  </a:lnTo>
                  <a:lnTo>
                    <a:pt x="0" y="358444"/>
                  </a:lnTo>
                  <a:close/>
                </a:path>
              </a:pathLst>
            </a:custGeom>
            <a:blipFill>
              <a:blip r:embed="rId3">
                <a:alphaModFix amt="0"/>
              </a:blip>
              <a:stretch>
                <a:fillRect l="0" t="-20252" r="0" b="-20252"/>
              </a:stretch>
            </a:blipFill>
          </p:spPr>
        </p:sp>
        <p:sp>
          <p:nvSpPr>
            <p:cNvPr name="TextBox 91" id="91"/>
            <p:cNvSpPr txBox="true"/>
            <p:nvPr/>
          </p:nvSpPr>
          <p:spPr>
            <a:xfrm>
              <a:off x="0" y="0"/>
              <a:ext cx="1292352" cy="358445"/>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BIN</a:t>
              </a:r>
            </a:p>
          </p:txBody>
        </p:sp>
      </p:grpSp>
      <p:grpSp>
        <p:nvGrpSpPr>
          <p:cNvPr name="Group 92" id="92"/>
          <p:cNvGrpSpPr/>
          <p:nvPr/>
        </p:nvGrpSpPr>
        <p:grpSpPr>
          <a:xfrm rot="0">
            <a:off x="13578840" y="3247034"/>
            <a:ext cx="969264" cy="307238"/>
            <a:chOff x="0" y="0"/>
            <a:chExt cx="1292352" cy="409651"/>
          </a:xfrm>
        </p:grpSpPr>
        <p:sp>
          <p:nvSpPr>
            <p:cNvPr name="Freeform 93" id="93"/>
            <p:cNvSpPr/>
            <p:nvPr/>
          </p:nvSpPr>
          <p:spPr>
            <a:xfrm flipH="false" flipV="false" rot="0">
              <a:off x="0" y="0"/>
              <a:ext cx="1292351" cy="409651"/>
            </a:xfrm>
            <a:custGeom>
              <a:avLst/>
              <a:gdLst/>
              <a:ahLst/>
              <a:cxnLst/>
              <a:rect r="r" b="b" t="t" l="l"/>
              <a:pathLst>
                <a:path h="409651" w="1292351">
                  <a:moveTo>
                    <a:pt x="0" y="0"/>
                  </a:moveTo>
                  <a:lnTo>
                    <a:pt x="1292351" y="0"/>
                  </a:lnTo>
                  <a:lnTo>
                    <a:pt x="1292351" y="409651"/>
                  </a:lnTo>
                  <a:lnTo>
                    <a:pt x="0" y="409651"/>
                  </a:lnTo>
                  <a:close/>
                </a:path>
              </a:pathLst>
            </a:custGeom>
            <a:blipFill>
              <a:blip r:embed="rId3">
                <a:alphaModFix amt="0"/>
              </a:blip>
              <a:stretch>
                <a:fillRect l="0" t="-11470" r="0" b="-11470"/>
              </a:stretch>
            </a:blipFill>
          </p:spPr>
        </p:sp>
        <p:sp>
          <p:nvSpPr>
            <p:cNvPr name="TextBox 94" id="94"/>
            <p:cNvSpPr txBox="true"/>
            <p:nvPr/>
          </p:nvSpPr>
          <p:spPr>
            <a:xfrm>
              <a:off x="0" y="0"/>
              <a:ext cx="1292352" cy="409651"/>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01</a:t>
              </a:r>
            </a:p>
          </p:txBody>
        </p:sp>
      </p:grpSp>
      <p:grpSp>
        <p:nvGrpSpPr>
          <p:cNvPr name="Group 95" id="95"/>
          <p:cNvGrpSpPr/>
          <p:nvPr/>
        </p:nvGrpSpPr>
        <p:grpSpPr>
          <a:xfrm rot="0">
            <a:off x="14740128" y="2971800"/>
            <a:ext cx="1060704" cy="640080"/>
            <a:chOff x="0" y="0"/>
            <a:chExt cx="1414272" cy="853440"/>
          </a:xfrm>
        </p:grpSpPr>
        <p:sp>
          <p:nvSpPr>
            <p:cNvPr name="Freeform 96" id="96"/>
            <p:cNvSpPr/>
            <p:nvPr/>
          </p:nvSpPr>
          <p:spPr>
            <a:xfrm flipH="false" flipV="false" rot="0">
              <a:off x="0" y="0"/>
              <a:ext cx="1414272" cy="853440"/>
            </a:xfrm>
            <a:custGeom>
              <a:avLst/>
              <a:gdLst/>
              <a:ahLst/>
              <a:cxnLst/>
              <a:rect r="r" b="b" t="t" l="l"/>
              <a:pathLst>
                <a:path h="853440" w="1414272">
                  <a:moveTo>
                    <a:pt x="0" y="142240"/>
                  </a:moveTo>
                  <a:cubicBezTo>
                    <a:pt x="0" y="63627"/>
                    <a:pt x="63627" y="0"/>
                    <a:pt x="142240" y="0"/>
                  </a:cubicBezTo>
                  <a:lnTo>
                    <a:pt x="1272032" y="0"/>
                  </a:lnTo>
                  <a:cubicBezTo>
                    <a:pt x="1350645" y="0"/>
                    <a:pt x="1414272" y="63627"/>
                    <a:pt x="1414272" y="142240"/>
                  </a:cubicBezTo>
                  <a:lnTo>
                    <a:pt x="1414272" y="711200"/>
                  </a:lnTo>
                  <a:cubicBezTo>
                    <a:pt x="1414272" y="789813"/>
                    <a:pt x="1350645" y="853440"/>
                    <a:pt x="1272032" y="853440"/>
                  </a:cubicBezTo>
                  <a:lnTo>
                    <a:pt x="142240" y="853440"/>
                  </a:lnTo>
                  <a:cubicBezTo>
                    <a:pt x="63627" y="853440"/>
                    <a:pt x="0" y="789813"/>
                    <a:pt x="0" y="711200"/>
                  </a:cubicBezTo>
                  <a:close/>
                </a:path>
              </a:pathLst>
            </a:custGeom>
            <a:solidFill>
              <a:srgbClr val="EFF3F7"/>
            </a:solidFill>
          </p:spPr>
        </p:sp>
      </p:grpSp>
      <p:grpSp>
        <p:nvGrpSpPr>
          <p:cNvPr name="Group 97" id="97"/>
          <p:cNvGrpSpPr/>
          <p:nvPr/>
        </p:nvGrpSpPr>
        <p:grpSpPr>
          <a:xfrm rot="0">
            <a:off x="14785848" y="3017520"/>
            <a:ext cx="969264" cy="268834"/>
            <a:chOff x="0" y="0"/>
            <a:chExt cx="1292352" cy="358445"/>
          </a:xfrm>
        </p:grpSpPr>
        <p:sp>
          <p:nvSpPr>
            <p:cNvPr name="Freeform 98" id="98"/>
            <p:cNvSpPr/>
            <p:nvPr/>
          </p:nvSpPr>
          <p:spPr>
            <a:xfrm flipH="false" flipV="false" rot="0">
              <a:off x="0" y="0"/>
              <a:ext cx="1292351" cy="358444"/>
            </a:xfrm>
            <a:custGeom>
              <a:avLst/>
              <a:gdLst/>
              <a:ahLst/>
              <a:cxnLst/>
              <a:rect r="r" b="b" t="t" l="l"/>
              <a:pathLst>
                <a:path h="358444" w="1292351">
                  <a:moveTo>
                    <a:pt x="0" y="0"/>
                  </a:moveTo>
                  <a:lnTo>
                    <a:pt x="1292351" y="0"/>
                  </a:lnTo>
                  <a:lnTo>
                    <a:pt x="1292351" y="358444"/>
                  </a:lnTo>
                  <a:lnTo>
                    <a:pt x="0" y="358444"/>
                  </a:lnTo>
                  <a:close/>
                </a:path>
              </a:pathLst>
            </a:custGeom>
            <a:blipFill>
              <a:blip r:embed="rId3">
                <a:alphaModFix amt="0"/>
              </a:blip>
              <a:stretch>
                <a:fillRect l="0" t="-20252" r="0" b="-20252"/>
              </a:stretch>
            </a:blipFill>
          </p:spPr>
        </p:sp>
        <p:sp>
          <p:nvSpPr>
            <p:cNvPr name="TextBox 99" id="99"/>
            <p:cNvSpPr txBox="true"/>
            <p:nvPr/>
          </p:nvSpPr>
          <p:spPr>
            <a:xfrm>
              <a:off x="0" y="0"/>
              <a:ext cx="1292352" cy="358445"/>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BIN</a:t>
              </a:r>
            </a:p>
          </p:txBody>
        </p:sp>
      </p:grpSp>
      <p:grpSp>
        <p:nvGrpSpPr>
          <p:cNvPr name="Group 100" id="100"/>
          <p:cNvGrpSpPr/>
          <p:nvPr/>
        </p:nvGrpSpPr>
        <p:grpSpPr>
          <a:xfrm rot="0">
            <a:off x="14785848" y="3247034"/>
            <a:ext cx="969264" cy="307238"/>
            <a:chOff x="0" y="0"/>
            <a:chExt cx="1292352" cy="409651"/>
          </a:xfrm>
        </p:grpSpPr>
        <p:sp>
          <p:nvSpPr>
            <p:cNvPr name="Freeform 101" id="101"/>
            <p:cNvSpPr/>
            <p:nvPr/>
          </p:nvSpPr>
          <p:spPr>
            <a:xfrm flipH="false" flipV="false" rot="0">
              <a:off x="0" y="0"/>
              <a:ext cx="1292351" cy="409651"/>
            </a:xfrm>
            <a:custGeom>
              <a:avLst/>
              <a:gdLst/>
              <a:ahLst/>
              <a:cxnLst/>
              <a:rect r="r" b="b" t="t" l="l"/>
              <a:pathLst>
                <a:path h="409651" w="1292351">
                  <a:moveTo>
                    <a:pt x="0" y="0"/>
                  </a:moveTo>
                  <a:lnTo>
                    <a:pt x="1292351" y="0"/>
                  </a:lnTo>
                  <a:lnTo>
                    <a:pt x="1292351" y="409651"/>
                  </a:lnTo>
                  <a:lnTo>
                    <a:pt x="0" y="409651"/>
                  </a:lnTo>
                  <a:close/>
                </a:path>
              </a:pathLst>
            </a:custGeom>
            <a:blipFill>
              <a:blip r:embed="rId3">
                <a:alphaModFix amt="0"/>
              </a:blip>
              <a:stretch>
                <a:fillRect l="0" t="-11470" r="0" b="-11470"/>
              </a:stretch>
            </a:blipFill>
          </p:spPr>
        </p:sp>
        <p:sp>
          <p:nvSpPr>
            <p:cNvPr name="TextBox 102" id="102"/>
            <p:cNvSpPr txBox="true"/>
            <p:nvPr/>
          </p:nvSpPr>
          <p:spPr>
            <a:xfrm>
              <a:off x="0" y="0"/>
              <a:ext cx="1292352" cy="409651"/>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10</a:t>
              </a:r>
            </a:p>
          </p:txBody>
        </p:sp>
      </p:grpSp>
      <p:grpSp>
        <p:nvGrpSpPr>
          <p:cNvPr name="Group 103" id="103"/>
          <p:cNvGrpSpPr/>
          <p:nvPr/>
        </p:nvGrpSpPr>
        <p:grpSpPr>
          <a:xfrm rot="0">
            <a:off x="15947136" y="2971800"/>
            <a:ext cx="1060704" cy="640080"/>
            <a:chOff x="0" y="0"/>
            <a:chExt cx="1414272" cy="853440"/>
          </a:xfrm>
        </p:grpSpPr>
        <p:sp>
          <p:nvSpPr>
            <p:cNvPr name="Freeform 104" id="104"/>
            <p:cNvSpPr/>
            <p:nvPr/>
          </p:nvSpPr>
          <p:spPr>
            <a:xfrm flipH="false" flipV="false" rot="0">
              <a:off x="0" y="0"/>
              <a:ext cx="1414272" cy="853440"/>
            </a:xfrm>
            <a:custGeom>
              <a:avLst/>
              <a:gdLst/>
              <a:ahLst/>
              <a:cxnLst/>
              <a:rect r="r" b="b" t="t" l="l"/>
              <a:pathLst>
                <a:path h="853440" w="1414272">
                  <a:moveTo>
                    <a:pt x="0" y="142240"/>
                  </a:moveTo>
                  <a:cubicBezTo>
                    <a:pt x="0" y="63627"/>
                    <a:pt x="63627" y="0"/>
                    <a:pt x="142240" y="0"/>
                  </a:cubicBezTo>
                  <a:lnTo>
                    <a:pt x="1272032" y="0"/>
                  </a:lnTo>
                  <a:cubicBezTo>
                    <a:pt x="1350645" y="0"/>
                    <a:pt x="1414272" y="63627"/>
                    <a:pt x="1414272" y="142240"/>
                  </a:cubicBezTo>
                  <a:lnTo>
                    <a:pt x="1414272" y="711200"/>
                  </a:lnTo>
                  <a:cubicBezTo>
                    <a:pt x="1414272" y="789813"/>
                    <a:pt x="1350645" y="853440"/>
                    <a:pt x="1272032" y="853440"/>
                  </a:cubicBezTo>
                  <a:lnTo>
                    <a:pt x="142240" y="853440"/>
                  </a:lnTo>
                  <a:cubicBezTo>
                    <a:pt x="63627" y="853440"/>
                    <a:pt x="0" y="789813"/>
                    <a:pt x="0" y="711200"/>
                  </a:cubicBezTo>
                  <a:close/>
                </a:path>
              </a:pathLst>
            </a:custGeom>
            <a:solidFill>
              <a:srgbClr val="EFF3F7"/>
            </a:solidFill>
          </p:spPr>
        </p:sp>
      </p:grpSp>
      <p:grpSp>
        <p:nvGrpSpPr>
          <p:cNvPr name="Group 105" id="105"/>
          <p:cNvGrpSpPr/>
          <p:nvPr/>
        </p:nvGrpSpPr>
        <p:grpSpPr>
          <a:xfrm rot="0">
            <a:off x="15992856" y="3017520"/>
            <a:ext cx="969264" cy="268834"/>
            <a:chOff x="0" y="0"/>
            <a:chExt cx="1292352" cy="358445"/>
          </a:xfrm>
        </p:grpSpPr>
        <p:sp>
          <p:nvSpPr>
            <p:cNvPr name="Freeform 106" id="106"/>
            <p:cNvSpPr/>
            <p:nvPr/>
          </p:nvSpPr>
          <p:spPr>
            <a:xfrm flipH="false" flipV="false" rot="0">
              <a:off x="0" y="0"/>
              <a:ext cx="1292351" cy="358444"/>
            </a:xfrm>
            <a:custGeom>
              <a:avLst/>
              <a:gdLst/>
              <a:ahLst/>
              <a:cxnLst/>
              <a:rect r="r" b="b" t="t" l="l"/>
              <a:pathLst>
                <a:path h="358444" w="1292351">
                  <a:moveTo>
                    <a:pt x="0" y="0"/>
                  </a:moveTo>
                  <a:lnTo>
                    <a:pt x="1292351" y="0"/>
                  </a:lnTo>
                  <a:lnTo>
                    <a:pt x="1292351" y="358444"/>
                  </a:lnTo>
                  <a:lnTo>
                    <a:pt x="0" y="358444"/>
                  </a:lnTo>
                  <a:close/>
                </a:path>
              </a:pathLst>
            </a:custGeom>
            <a:blipFill>
              <a:blip r:embed="rId3">
                <a:alphaModFix amt="0"/>
              </a:blip>
              <a:stretch>
                <a:fillRect l="0" t="-20252" r="0" b="-20252"/>
              </a:stretch>
            </a:blipFill>
          </p:spPr>
        </p:sp>
        <p:sp>
          <p:nvSpPr>
            <p:cNvPr name="TextBox 107" id="107"/>
            <p:cNvSpPr txBox="true"/>
            <p:nvPr/>
          </p:nvSpPr>
          <p:spPr>
            <a:xfrm>
              <a:off x="0" y="0"/>
              <a:ext cx="1292352" cy="358445"/>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BIN</a:t>
              </a:r>
            </a:p>
          </p:txBody>
        </p:sp>
      </p:grpSp>
      <p:grpSp>
        <p:nvGrpSpPr>
          <p:cNvPr name="Group 108" id="108"/>
          <p:cNvGrpSpPr/>
          <p:nvPr/>
        </p:nvGrpSpPr>
        <p:grpSpPr>
          <a:xfrm rot="0">
            <a:off x="15992856" y="3247034"/>
            <a:ext cx="969264" cy="307238"/>
            <a:chOff x="0" y="0"/>
            <a:chExt cx="1292352" cy="409651"/>
          </a:xfrm>
        </p:grpSpPr>
        <p:sp>
          <p:nvSpPr>
            <p:cNvPr name="Freeform 109" id="109"/>
            <p:cNvSpPr/>
            <p:nvPr/>
          </p:nvSpPr>
          <p:spPr>
            <a:xfrm flipH="false" flipV="false" rot="0">
              <a:off x="0" y="0"/>
              <a:ext cx="1292351" cy="409651"/>
            </a:xfrm>
            <a:custGeom>
              <a:avLst/>
              <a:gdLst/>
              <a:ahLst/>
              <a:cxnLst/>
              <a:rect r="r" b="b" t="t" l="l"/>
              <a:pathLst>
                <a:path h="409651" w="1292351">
                  <a:moveTo>
                    <a:pt x="0" y="0"/>
                  </a:moveTo>
                  <a:lnTo>
                    <a:pt x="1292351" y="0"/>
                  </a:lnTo>
                  <a:lnTo>
                    <a:pt x="1292351" y="409651"/>
                  </a:lnTo>
                  <a:lnTo>
                    <a:pt x="0" y="409651"/>
                  </a:lnTo>
                  <a:close/>
                </a:path>
              </a:pathLst>
            </a:custGeom>
            <a:blipFill>
              <a:blip r:embed="rId3">
                <a:alphaModFix amt="0"/>
              </a:blip>
              <a:stretch>
                <a:fillRect l="0" t="-11470" r="0" b="-11470"/>
              </a:stretch>
            </a:blipFill>
          </p:spPr>
        </p:sp>
        <p:sp>
          <p:nvSpPr>
            <p:cNvPr name="TextBox 110" id="110"/>
            <p:cNvSpPr txBox="true"/>
            <p:nvPr/>
          </p:nvSpPr>
          <p:spPr>
            <a:xfrm>
              <a:off x="0" y="0"/>
              <a:ext cx="1292352" cy="409651"/>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11</a:t>
              </a:r>
            </a:p>
          </p:txBody>
        </p:sp>
      </p:grpSp>
      <p:grpSp>
        <p:nvGrpSpPr>
          <p:cNvPr name="Group 111" id="111"/>
          <p:cNvGrpSpPr/>
          <p:nvPr/>
        </p:nvGrpSpPr>
        <p:grpSpPr>
          <a:xfrm rot="0">
            <a:off x="404498" y="4308986"/>
            <a:ext cx="17277845" cy="4448813"/>
            <a:chOff x="0" y="0"/>
            <a:chExt cx="23037127" cy="5931751"/>
          </a:xfrm>
        </p:grpSpPr>
        <p:sp>
          <p:nvSpPr>
            <p:cNvPr name="Freeform 112" id="112"/>
            <p:cNvSpPr/>
            <p:nvPr/>
          </p:nvSpPr>
          <p:spPr>
            <a:xfrm flipH="false" flipV="false" rot="0">
              <a:off x="0" y="0"/>
              <a:ext cx="23037164" cy="5931789"/>
            </a:xfrm>
            <a:custGeom>
              <a:avLst/>
              <a:gdLst/>
              <a:ahLst/>
              <a:cxnLst/>
              <a:rect r="r" b="b" t="t" l="l"/>
              <a:pathLst>
                <a:path h="5931789" w="23037164">
                  <a:moveTo>
                    <a:pt x="0" y="988695"/>
                  </a:moveTo>
                  <a:cubicBezTo>
                    <a:pt x="0" y="442595"/>
                    <a:pt x="442595" y="0"/>
                    <a:pt x="988695" y="0"/>
                  </a:cubicBezTo>
                  <a:lnTo>
                    <a:pt x="22048470" y="0"/>
                  </a:lnTo>
                  <a:cubicBezTo>
                    <a:pt x="22594443" y="0"/>
                    <a:pt x="23037164" y="442595"/>
                    <a:pt x="23037164" y="988695"/>
                  </a:cubicBezTo>
                  <a:lnTo>
                    <a:pt x="23037164" y="4943094"/>
                  </a:lnTo>
                  <a:cubicBezTo>
                    <a:pt x="23037164" y="5489067"/>
                    <a:pt x="22594570" y="5931789"/>
                    <a:pt x="22048470" y="5931789"/>
                  </a:cubicBezTo>
                  <a:lnTo>
                    <a:pt x="988695" y="5931789"/>
                  </a:lnTo>
                  <a:cubicBezTo>
                    <a:pt x="442595" y="5931789"/>
                    <a:pt x="0" y="5489067"/>
                    <a:pt x="0" y="4943094"/>
                  </a:cubicBezTo>
                  <a:close/>
                </a:path>
              </a:pathLst>
            </a:custGeom>
            <a:solidFill>
              <a:srgbClr val="FFFFFF"/>
            </a:solidFill>
            <a:ln w="13970" cap="sq">
              <a:solidFill>
                <a:srgbClr val="CAD6E0"/>
              </a:solidFill>
              <a:prstDash val="solid"/>
              <a:miter/>
            </a:ln>
          </p:spPr>
        </p:sp>
      </p:grpSp>
      <p:grpSp>
        <p:nvGrpSpPr>
          <p:cNvPr name="Group 113" id="113"/>
          <p:cNvGrpSpPr/>
          <p:nvPr/>
        </p:nvGrpSpPr>
        <p:grpSpPr>
          <a:xfrm rot="0">
            <a:off x="411480" y="4389120"/>
            <a:ext cx="68580" cy="4288536"/>
            <a:chOff x="0" y="0"/>
            <a:chExt cx="91440" cy="5718048"/>
          </a:xfrm>
        </p:grpSpPr>
        <p:sp>
          <p:nvSpPr>
            <p:cNvPr name="Freeform 114" id="114"/>
            <p:cNvSpPr/>
            <p:nvPr/>
          </p:nvSpPr>
          <p:spPr>
            <a:xfrm flipH="false" flipV="false" rot="0">
              <a:off x="0" y="0"/>
              <a:ext cx="91440" cy="5718048"/>
            </a:xfrm>
            <a:custGeom>
              <a:avLst/>
              <a:gdLst/>
              <a:ahLst/>
              <a:cxnLst/>
              <a:rect r="r" b="b" t="t" l="l"/>
              <a:pathLst>
                <a:path h="5718048" w="91440">
                  <a:moveTo>
                    <a:pt x="0" y="0"/>
                  </a:moveTo>
                  <a:lnTo>
                    <a:pt x="91440" y="0"/>
                  </a:lnTo>
                  <a:lnTo>
                    <a:pt x="91440" y="5718048"/>
                  </a:lnTo>
                  <a:lnTo>
                    <a:pt x="0" y="5718048"/>
                  </a:lnTo>
                  <a:close/>
                </a:path>
              </a:pathLst>
            </a:custGeom>
            <a:solidFill>
              <a:srgbClr val="24486E"/>
            </a:solidFill>
          </p:spPr>
        </p:sp>
      </p:grpSp>
      <p:grpSp>
        <p:nvGrpSpPr>
          <p:cNvPr name="Group 115" id="115"/>
          <p:cNvGrpSpPr/>
          <p:nvPr/>
        </p:nvGrpSpPr>
        <p:grpSpPr>
          <a:xfrm rot="0">
            <a:off x="722376" y="4425696"/>
            <a:ext cx="16879824" cy="384048"/>
            <a:chOff x="0" y="0"/>
            <a:chExt cx="22506432" cy="512064"/>
          </a:xfrm>
        </p:grpSpPr>
        <p:sp>
          <p:nvSpPr>
            <p:cNvPr name="Freeform 116" id="116"/>
            <p:cNvSpPr/>
            <p:nvPr/>
          </p:nvSpPr>
          <p:spPr>
            <a:xfrm flipH="false" flipV="false" rot="0">
              <a:off x="0" y="0"/>
              <a:ext cx="22506431" cy="512064"/>
            </a:xfrm>
            <a:custGeom>
              <a:avLst/>
              <a:gdLst/>
              <a:ahLst/>
              <a:cxnLst/>
              <a:rect r="r" b="b" t="t" l="l"/>
              <a:pathLst>
                <a:path h="512064" w="22506431">
                  <a:moveTo>
                    <a:pt x="0" y="0"/>
                  </a:moveTo>
                  <a:lnTo>
                    <a:pt x="22506431" y="0"/>
                  </a:lnTo>
                  <a:lnTo>
                    <a:pt x="22506431" y="512064"/>
                  </a:lnTo>
                  <a:lnTo>
                    <a:pt x="0" y="512064"/>
                  </a:lnTo>
                  <a:close/>
                </a:path>
              </a:pathLst>
            </a:custGeom>
            <a:blipFill>
              <a:blip r:embed="rId3">
                <a:alphaModFix amt="0"/>
              </a:blip>
              <a:stretch>
                <a:fillRect l="0" t="-806413" r="0" b="-806413"/>
              </a:stretch>
            </a:blipFill>
          </p:spPr>
        </p:sp>
        <p:sp>
          <p:nvSpPr>
            <p:cNvPr name="TextBox 117" id="117"/>
            <p:cNvSpPr txBox="true"/>
            <p:nvPr/>
          </p:nvSpPr>
          <p:spPr>
            <a:xfrm>
              <a:off x="0" y="-9525"/>
              <a:ext cx="22506432" cy="521589"/>
            </a:xfrm>
            <a:prstGeom prst="rect">
              <a:avLst/>
            </a:prstGeom>
          </p:spPr>
          <p:txBody>
            <a:bodyPr anchor="ctr" rtlCol="false" tIns="0" lIns="0" bIns="0" rIns="0"/>
            <a:lstStyle/>
            <a:p>
              <a:pPr algn="l">
                <a:lnSpc>
                  <a:spcPts val="2520"/>
                </a:lnSpc>
              </a:pPr>
              <a:r>
                <a:rPr lang="en-US" sz="2100" b="true">
                  <a:solidFill>
                    <a:srgbClr val="2D5986"/>
                  </a:solidFill>
                  <a:latin typeface="Aptos Bold"/>
                  <a:ea typeface="Aptos Bold"/>
                  <a:cs typeface="Aptos Bold"/>
                  <a:sym typeface="Aptos Bold"/>
                </a:rPr>
                <a:t>Read/Write × Transfer Size  |  Cross coverage</a:t>
              </a:r>
            </a:p>
          </p:txBody>
        </p:sp>
      </p:grpSp>
      <p:grpSp>
        <p:nvGrpSpPr>
          <p:cNvPr name="Group 118" id="118"/>
          <p:cNvGrpSpPr/>
          <p:nvPr/>
        </p:nvGrpSpPr>
        <p:grpSpPr>
          <a:xfrm rot="0">
            <a:off x="777240" y="4892040"/>
            <a:ext cx="4114800" cy="365760"/>
            <a:chOff x="0" y="0"/>
            <a:chExt cx="5486400" cy="487680"/>
          </a:xfrm>
        </p:grpSpPr>
        <p:sp>
          <p:nvSpPr>
            <p:cNvPr name="Freeform 119" id="119"/>
            <p:cNvSpPr/>
            <p:nvPr/>
          </p:nvSpPr>
          <p:spPr>
            <a:xfrm flipH="false" flipV="false" rot="0">
              <a:off x="0" y="0"/>
              <a:ext cx="5486400" cy="487680"/>
            </a:xfrm>
            <a:custGeom>
              <a:avLst/>
              <a:gdLst/>
              <a:ahLst/>
              <a:cxnLst/>
              <a:rect r="r" b="b" t="t" l="l"/>
              <a:pathLst>
                <a:path h="487680" w="5486400">
                  <a:moveTo>
                    <a:pt x="0" y="0"/>
                  </a:moveTo>
                  <a:lnTo>
                    <a:pt x="5486400" y="0"/>
                  </a:lnTo>
                  <a:lnTo>
                    <a:pt x="5486400" y="487680"/>
                  </a:lnTo>
                  <a:lnTo>
                    <a:pt x="0" y="487680"/>
                  </a:lnTo>
                  <a:close/>
                </a:path>
              </a:pathLst>
            </a:custGeom>
            <a:blipFill>
              <a:blip r:embed="rId3">
                <a:alphaModFix amt="0"/>
              </a:blip>
              <a:stretch>
                <a:fillRect l="0" t="-169206" r="0" b="-169206"/>
              </a:stretch>
            </a:blipFill>
          </p:spPr>
        </p:sp>
        <p:sp>
          <p:nvSpPr>
            <p:cNvPr name="TextBox 120" id="120"/>
            <p:cNvSpPr txBox="true"/>
            <p:nvPr/>
          </p:nvSpPr>
          <p:spPr>
            <a:xfrm>
              <a:off x="0" y="0"/>
              <a:ext cx="5486400" cy="487680"/>
            </a:xfrm>
            <a:prstGeom prst="rect">
              <a:avLst/>
            </a:prstGeom>
          </p:spPr>
          <p:txBody>
            <a:bodyPr anchor="ctr" rtlCol="false" tIns="0" lIns="0" bIns="0" rIns="0"/>
            <a:lstStyle/>
            <a:p>
              <a:pPr algn="l">
                <a:lnSpc>
                  <a:spcPts val="1919"/>
                </a:lnSpc>
              </a:pPr>
              <a:r>
                <a:rPr lang="en-US" sz="1599">
                  <a:solidFill>
                    <a:srgbClr val="63707C"/>
                  </a:solidFill>
                  <a:latin typeface="Aptos"/>
                  <a:ea typeface="Aptos"/>
                  <a:cs typeface="Aptos"/>
                  <a:sym typeface="Aptos"/>
                </a:rPr>
                <a:t>Each cell is a required combination</a:t>
              </a:r>
            </a:p>
          </p:txBody>
        </p:sp>
      </p:grpSp>
      <p:grpSp>
        <p:nvGrpSpPr>
          <p:cNvPr name="Group 121" id="121"/>
          <p:cNvGrpSpPr/>
          <p:nvPr/>
        </p:nvGrpSpPr>
        <p:grpSpPr>
          <a:xfrm rot="0">
            <a:off x="5440680" y="5669280"/>
            <a:ext cx="2697480" cy="566928"/>
            <a:chOff x="0" y="0"/>
            <a:chExt cx="3596640" cy="755904"/>
          </a:xfrm>
        </p:grpSpPr>
        <p:sp>
          <p:nvSpPr>
            <p:cNvPr name="Freeform 122" id="122"/>
            <p:cNvSpPr/>
            <p:nvPr/>
          </p:nvSpPr>
          <p:spPr>
            <a:xfrm flipH="false" flipV="false" rot="0">
              <a:off x="0" y="0"/>
              <a:ext cx="3596640" cy="755904"/>
            </a:xfrm>
            <a:custGeom>
              <a:avLst/>
              <a:gdLst/>
              <a:ahLst/>
              <a:cxnLst/>
              <a:rect r="r" b="b" t="t" l="l"/>
              <a:pathLst>
                <a:path h="755904" w="3596640">
                  <a:moveTo>
                    <a:pt x="0" y="125984"/>
                  </a:moveTo>
                  <a:cubicBezTo>
                    <a:pt x="0" y="56388"/>
                    <a:pt x="56388" y="0"/>
                    <a:pt x="125984" y="0"/>
                  </a:cubicBezTo>
                  <a:lnTo>
                    <a:pt x="3470656" y="0"/>
                  </a:lnTo>
                  <a:cubicBezTo>
                    <a:pt x="3540252" y="0"/>
                    <a:pt x="3596640" y="56388"/>
                    <a:pt x="3596640" y="125984"/>
                  </a:cubicBezTo>
                  <a:lnTo>
                    <a:pt x="3596640" y="629920"/>
                  </a:lnTo>
                  <a:cubicBezTo>
                    <a:pt x="3596640" y="699516"/>
                    <a:pt x="3540252" y="755904"/>
                    <a:pt x="3470656" y="755904"/>
                  </a:cubicBezTo>
                  <a:lnTo>
                    <a:pt x="125984" y="755904"/>
                  </a:lnTo>
                  <a:cubicBezTo>
                    <a:pt x="56388" y="755904"/>
                    <a:pt x="0" y="699516"/>
                    <a:pt x="0" y="629920"/>
                  </a:cubicBezTo>
                  <a:close/>
                </a:path>
              </a:pathLst>
            </a:custGeom>
            <a:solidFill>
              <a:srgbClr val="2D5986"/>
            </a:solidFill>
          </p:spPr>
        </p:sp>
      </p:grpSp>
      <p:grpSp>
        <p:nvGrpSpPr>
          <p:cNvPr name="Group 123" id="123"/>
          <p:cNvGrpSpPr/>
          <p:nvPr/>
        </p:nvGrpSpPr>
        <p:grpSpPr>
          <a:xfrm rot="0">
            <a:off x="5486400" y="5715000"/>
            <a:ext cx="2606040" cy="438912"/>
            <a:chOff x="0" y="0"/>
            <a:chExt cx="3474720" cy="585216"/>
          </a:xfrm>
        </p:grpSpPr>
        <p:sp>
          <p:nvSpPr>
            <p:cNvPr name="Freeform 124" id="124"/>
            <p:cNvSpPr/>
            <p:nvPr/>
          </p:nvSpPr>
          <p:spPr>
            <a:xfrm flipH="false" flipV="false" rot="0">
              <a:off x="0" y="0"/>
              <a:ext cx="3474719" cy="585216"/>
            </a:xfrm>
            <a:custGeom>
              <a:avLst/>
              <a:gdLst/>
              <a:ahLst/>
              <a:cxnLst/>
              <a:rect r="r" b="b" t="t" l="l"/>
              <a:pathLst>
                <a:path h="585216" w="3474719">
                  <a:moveTo>
                    <a:pt x="0" y="0"/>
                  </a:moveTo>
                  <a:lnTo>
                    <a:pt x="3474719" y="0"/>
                  </a:lnTo>
                  <a:lnTo>
                    <a:pt x="3474719" y="585216"/>
                  </a:lnTo>
                  <a:lnTo>
                    <a:pt x="0" y="585216"/>
                  </a:lnTo>
                  <a:close/>
                </a:path>
              </a:pathLst>
            </a:custGeom>
            <a:blipFill>
              <a:blip r:embed="rId3">
                <a:alphaModFix amt="0"/>
              </a:blip>
              <a:stretch>
                <a:fillRect l="0" t="-65692" r="0" b="-65692"/>
              </a:stretch>
            </a:blipFill>
          </p:spPr>
        </p:sp>
        <p:sp>
          <p:nvSpPr>
            <p:cNvPr name="TextBox 125" id="125"/>
            <p:cNvSpPr txBox="true"/>
            <p:nvPr/>
          </p:nvSpPr>
          <p:spPr>
            <a:xfrm>
              <a:off x="0" y="0"/>
              <a:ext cx="3474720" cy="585216"/>
            </a:xfrm>
            <a:prstGeom prst="rect">
              <a:avLst/>
            </a:prstGeom>
          </p:spPr>
          <p:txBody>
            <a:bodyPr anchor="ctr" rtlCol="false" tIns="0" lIns="0" bIns="0" rIns="0"/>
            <a:lstStyle/>
            <a:p>
              <a:pPr algn="ctr">
                <a:lnSpc>
                  <a:spcPts val="1919"/>
                </a:lnSpc>
              </a:pPr>
              <a:r>
                <a:rPr lang="en-US" sz="1599" b="true">
                  <a:solidFill>
                    <a:srgbClr val="FFFFFF"/>
                  </a:solidFill>
                  <a:latin typeface="Aptos Bold"/>
                  <a:ea typeface="Aptos Bold"/>
                  <a:cs typeface="Aptos Bold"/>
                  <a:sym typeface="Aptos Bold"/>
                </a:rPr>
                <a:t>BYTE</a:t>
              </a:r>
            </a:p>
          </p:txBody>
        </p:sp>
      </p:grpSp>
      <p:grpSp>
        <p:nvGrpSpPr>
          <p:cNvPr name="Group 126" id="126"/>
          <p:cNvGrpSpPr/>
          <p:nvPr/>
        </p:nvGrpSpPr>
        <p:grpSpPr>
          <a:xfrm rot="0">
            <a:off x="8229600" y="5669280"/>
            <a:ext cx="2697480" cy="566928"/>
            <a:chOff x="0" y="0"/>
            <a:chExt cx="3596640" cy="755904"/>
          </a:xfrm>
        </p:grpSpPr>
        <p:sp>
          <p:nvSpPr>
            <p:cNvPr name="Freeform 127" id="127"/>
            <p:cNvSpPr/>
            <p:nvPr/>
          </p:nvSpPr>
          <p:spPr>
            <a:xfrm flipH="false" flipV="false" rot="0">
              <a:off x="0" y="0"/>
              <a:ext cx="3596640" cy="755904"/>
            </a:xfrm>
            <a:custGeom>
              <a:avLst/>
              <a:gdLst/>
              <a:ahLst/>
              <a:cxnLst/>
              <a:rect r="r" b="b" t="t" l="l"/>
              <a:pathLst>
                <a:path h="755904" w="3596640">
                  <a:moveTo>
                    <a:pt x="0" y="125984"/>
                  </a:moveTo>
                  <a:cubicBezTo>
                    <a:pt x="0" y="56388"/>
                    <a:pt x="56388" y="0"/>
                    <a:pt x="125984" y="0"/>
                  </a:cubicBezTo>
                  <a:lnTo>
                    <a:pt x="3470656" y="0"/>
                  </a:lnTo>
                  <a:cubicBezTo>
                    <a:pt x="3540252" y="0"/>
                    <a:pt x="3596640" y="56388"/>
                    <a:pt x="3596640" y="125984"/>
                  </a:cubicBezTo>
                  <a:lnTo>
                    <a:pt x="3596640" y="629920"/>
                  </a:lnTo>
                  <a:cubicBezTo>
                    <a:pt x="3596640" y="699516"/>
                    <a:pt x="3540252" y="755904"/>
                    <a:pt x="3470656" y="755904"/>
                  </a:cubicBezTo>
                  <a:lnTo>
                    <a:pt x="125984" y="755904"/>
                  </a:lnTo>
                  <a:cubicBezTo>
                    <a:pt x="56388" y="755904"/>
                    <a:pt x="0" y="699516"/>
                    <a:pt x="0" y="629920"/>
                  </a:cubicBezTo>
                  <a:close/>
                </a:path>
              </a:pathLst>
            </a:custGeom>
            <a:solidFill>
              <a:srgbClr val="2D5986"/>
            </a:solidFill>
          </p:spPr>
        </p:sp>
      </p:grpSp>
      <p:grpSp>
        <p:nvGrpSpPr>
          <p:cNvPr name="Group 128" id="128"/>
          <p:cNvGrpSpPr/>
          <p:nvPr/>
        </p:nvGrpSpPr>
        <p:grpSpPr>
          <a:xfrm rot="0">
            <a:off x="8275320" y="5715000"/>
            <a:ext cx="2606040" cy="438912"/>
            <a:chOff x="0" y="0"/>
            <a:chExt cx="3474720" cy="585216"/>
          </a:xfrm>
        </p:grpSpPr>
        <p:sp>
          <p:nvSpPr>
            <p:cNvPr name="Freeform 129" id="129"/>
            <p:cNvSpPr/>
            <p:nvPr/>
          </p:nvSpPr>
          <p:spPr>
            <a:xfrm flipH="false" flipV="false" rot="0">
              <a:off x="0" y="0"/>
              <a:ext cx="3474719" cy="585216"/>
            </a:xfrm>
            <a:custGeom>
              <a:avLst/>
              <a:gdLst/>
              <a:ahLst/>
              <a:cxnLst/>
              <a:rect r="r" b="b" t="t" l="l"/>
              <a:pathLst>
                <a:path h="585216" w="3474719">
                  <a:moveTo>
                    <a:pt x="0" y="0"/>
                  </a:moveTo>
                  <a:lnTo>
                    <a:pt x="3474719" y="0"/>
                  </a:lnTo>
                  <a:lnTo>
                    <a:pt x="3474719" y="585216"/>
                  </a:lnTo>
                  <a:lnTo>
                    <a:pt x="0" y="585216"/>
                  </a:lnTo>
                  <a:close/>
                </a:path>
              </a:pathLst>
            </a:custGeom>
            <a:blipFill>
              <a:blip r:embed="rId3">
                <a:alphaModFix amt="0"/>
              </a:blip>
              <a:stretch>
                <a:fillRect l="0" t="-65692" r="0" b="-65692"/>
              </a:stretch>
            </a:blipFill>
          </p:spPr>
        </p:sp>
        <p:sp>
          <p:nvSpPr>
            <p:cNvPr name="TextBox 130" id="130"/>
            <p:cNvSpPr txBox="true"/>
            <p:nvPr/>
          </p:nvSpPr>
          <p:spPr>
            <a:xfrm>
              <a:off x="0" y="0"/>
              <a:ext cx="3474720" cy="585216"/>
            </a:xfrm>
            <a:prstGeom prst="rect">
              <a:avLst/>
            </a:prstGeom>
          </p:spPr>
          <p:txBody>
            <a:bodyPr anchor="ctr" rtlCol="false" tIns="0" lIns="0" bIns="0" rIns="0"/>
            <a:lstStyle/>
            <a:p>
              <a:pPr algn="ctr">
                <a:lnSpc>
                  <a:spcPts val="1919"/>
                </a:lnSpc>
              </a:pPr>
              <a:r>
                <a:rPr lang="en-US" sz="1599" b="true">
                  <a:solidFill>
                    <a:srgbClr val="FFFFFF"/>
                  </a:solidFill>
                  <a:latin typeface="Aptos Bold"/>
                  <a:ea typeface="Aptos Bold"/>
                  <a:cs typeface="Aptos Bold"/>
                  <a:sym typeface="Aptos Bold"/>
                </a:rPr>
                <a:t>HALFWORD</a:t>
              </a:r>
            </a:p>
          </p:txBody>
        </p:sp>
      </p:grpSp>
      <p:grpSp>
        <p:nvGrpSpPr>
          <p:cNvPr name="Group 131" id="131"/>
          <p:cNvGrpSpPr/>
          <p:nvPr/>
        </p:nvGrpSpPr>
        <p:grpSpPr>
          <a:xfrm rot="0">
            <a:off x="11018520" y="5669280"/>
            <a:ext cx="2697480" cy="566928"/>
            <a:chOff x="0" y="0"/>
            <a:chExt cx="3596640" cy="755904"/>
          </a:xfrm>
        </p:grpSpPr>
        <p:sp>
          <p:nvSpPr>
            <p:cNvPr name="Freeform 132" id="132"/>
            <p:cNvSpPr/>
            <p:nvPr/>
          </p:nvSpPr>
          <p:spPr>
            <a:xfrm flipH="false" flipV="false" rot="0">
              <a:off x="0" y="0"/>
              <a:ext cx="3596640" cy="755904"/>
            </a:xfrm>
            <a:custGeom>
              <a:avLst/>
              <a:gdLst/>
              <a:ahLst/>
              <a:cxnLst/>
              <a:rect r="r" b="b" t="t" l="l"/>
              <a:pathLst>
                <a:path h="755904" w="3596640">
                  <a:moveTo>
                    <a:pt x="0" y="125984"/>
                  </a:moveTo>
                  <a:cubicBezTo>
                    <a:pt x="0" y="56388"/>
                    <a:pt x="56388" y="0"/>
                    <a:pt x="125984" y="0"/>
                  </a:cubicBezTo>
                  <a:lnTo>
                    <a:pt x="3470656" y="0"/>
                  </a:lnTo>
                  <a:cubicBezTo>
                    <a:pt x="3540252" y="0"/>
                    <a:pt x="3596640" y="56388"/>
                    <a:pt x="3596640" y="125984"/>
                  </a:cubicBezTo>
                  <a:lnTo>
                    <a:pt x="3596640" y="629920"/>
                  </a:lnTo>
                  <a:cubicBezTo>
                    <a:pt x="3596640" y="699516"/>
                    <a:pt x="3540252" y="755904"/>
                    <a:pt x="3470656" y="755904"/>
                  </a:cubicBezTo>
                  <a:lnTo>
                    <a:pt x="125984" y="755904"/>
                  </a:lnTo>
                  <a:cubicBezTo>
                    <a:pt x="56388" y="755904"/>
                    <a:pt x="0" y="699516"/>
                    <a:pt x="0" y="629920"/>
                  </a:cubicBezTo>
                  <a:close/>
                </a:path>
              </a:pathLst>
            </a:custGeom>
            <a:solidFill>
              <a:srgbClr val="2D5986"/>
            </a:solidFill>
          </p:spPr>
        </p:sp>
      </p:grpSp>
      <p:grpSp>
        <p:nvGrpSpPr>
          <p:cNvPr name="Group 133" id="133"/>
          <p:cNvGrpSpPr/>
          <p:nvPr/>
        </p:nvGrpSpPr>
        <p:grpSpPr>
          <a:xfrm rot="0">
            <a:off x="11064240" y="5715000"/>
            <a:ext cx="2606040" cy="438912"/>
            <a:chOff x="0" y="0"/>
            <a:chExt cx="3474720" cy="585216"/>
          </a:xfrm>
        </p:grpSpPr>
        <p:sp>
          <p:nvSpPr>
            <p:cNvPr name="Freeform 134" id="134"/>
            <p:cNvSpPr/>
            <p:nvPr/>
          </p:nvSpPr>
          <p:spPr>
            <a:xfrm flipH="false" flipV="false" rot="0">
              <a:off x="0" y="0"/>
              <a:ext cx="3474719" cy="585216"/>
            </a:xfrm>
            <a:custGeom>
              <a:avLst/>
              <a:gdLst/>
              <a:ahLst/>
              <a:cxnLst/>
              <a:rect r="r" b="b" t="t" l="l"/>
              <a:pathLst>
                <a:path h="585216" w="3474719">
                  <a:moveTo>
                    <a:pt x="0" y="0"/>
                  </a:moveTo>
                  <a:lnTo>
                    <a:pt x="3474719" y="0"/>
                  </a:lnTo>
                  <a:lnTo>
                    <a:pt x="3474719" y="585216"/>
                  </a:lnTo>
                  <a:lnTo>
                    <a:pt x="0" y="585216"/>
                  </a:lnTo>
                  <a:close/>
                </a:path>
              </a:pathLst>
            </a:custGeom>
            <a:blipFill>
              <a:blip r:embed="rId3">
                <a:alphaModFix amt="0"/>
              </a:blip>
              <a:stretch>
                <a:fillRect l="0" t="-65692" r="0" b="-65692"/>
              </a:stretch>
            </a:blipFill>
          </p:spPr>
        </p:sp>
        <p:sp>
          <p:nvSpPr>
            <p:cNvPr name="TextBox 135" id="135"/>
            <p:cNvSpPr txBox="true"/>
            <p:nvPr/>
          </p:nvSpPr>
          <p:spPr>
            <a:xfrm>
              <a:off x="0" y="0"/>
              <a:ext cx="3474720" cy="585216"/>
            </a:xfrm>
            <a:prstGeom prst="rect">
              <a:avLst/>
            </a:prstGeom>
          </p:spPr>
          <p:txBody>
            <a:bodyPr anchor="ctr" rtlCol="false" tIns="0" lIns="0" bIns="0" rIns="0"/>
            <a:lstStyle/>
            <a:p>
              <a:pPr algn="ctr">
                <a:lnSpc>
                  <a:spcPts val="1919"/>
                </a:lnSpc>
              </a:pPr>
              <a:r>
                <a:rPr lang="en-US" sz="1599" b="true">
                  <a:solidFill>
                    <a:srgbClr val="FFFFFF"/>
                  </a:solidFill>
                  <a:latin typeface="Aptos Bold"/>
                  <a:ea typeface="Aptos Bold"/>
                  <a:cs typeface="Aptos Bold"/>
                  <a:sym typeface="Aptos Bold"/>
                </a:rPr>
                <a:t>WORD</a:t>
              </a:r>
            </a:p>
          </p:txBody>
        </p:sp>
      </p:grpSp>
      <p:grpSp>
        <p:nvGrpSpPr>
          <p:cNvPr name="Group 136" id="136"/>
          <p:cNvGrpSpPr/>
          <p:nvPr/>
        </p:nvGrpSpPr>
        <p:grpSpPr>
          <a:xfrm rot="0">
            <a:off x="4361688" y="6336792"/>
            <a:ext cx="960120" cy="530352"/>
            <a:chOff x="0" y="0"/>
            <a:chExt cx="1280160" cy="707136"/>
          </a:xfrm>
        </p:grpSpPr>
        <p:sp>
          <p:nvSpPr>
            <p:cNvPr name="Freeform 137" id="137"/>
            <p:cNvSpPr/>
            <p:nvPr/>
          </p:nvSpPr>
          <p:spPr>
            <a:xfrm flipH="false" flipV="false" rot="0">
              <a:off x="0" y="0"/>
              <a:ext cx="1280160" cy="707136"/>
            </a:xfrm>
            <a:custGeom>
              <a:avLst/>
              <a:gdLst/>
              <a:ahLst/>
              <a:cxnLst/>
              <a:rect r="r" b="b" t="t" l="l"/>
              <a:pathLst>
                <a:path h="707136" w="1280160">
                  <a:moveTo>
                    <a:pt x="0" y="0"/>
                  </a:moveTo>
                  <a:lnTo>
                    <a:pt x="1280160" y="0"/>
                  </a:lnTo>
                  <a:lnTo>
                    <a:pt x="1280160" y="707136"/>
                  </a:lnTo>
                  <a:lnTo>
                    <a:pt x="0" y="707136"/>
                  </a:lnTo>
                  <a:close/>
                </a:path>
              </a:pathLst>
            </a:custGeom>
            <a:blipFill>
              <a:blip r:embed="rId3">
                <a:alphaModFix amt="0"/>
              </a:blip>
              <a:stretch>
                <a:fillRect l="-20872" t="0" r="-20872" b="0"/>
              </a:stretch>
            </a:blipFill>
          </p:spPr>
        </p:sp>
        <p:sp>
          <p:nvSpPr>
            <p:cNvPr name="TextBox 138" id="138"/>
            <p:cNvSpPr txBox="true"/>
            <p:nvPr/>
          </p:nvSpPr>
          <p:spPr>
            <a:xfrm>
              <a:off x="0" y="0"/>
              <a:ext cx="1280160" cy="707136"/>
            </a:xfrm>
            <a:prstGeom prst="rect">
              <a:avLst/>
            </a:prstGeom>
          </p:spPr>
          <p:txBody>
            <a:bodyPr anchor="ctr" rtlCol="false" tIns="0" lIns="0" bIns="0" rIns="0"/>
            <a:lstStyle/>
            <a:p>
              <a:pPr algn="ctr">
                <a:lnSpc>
                  <a:spcPts val="1919"/>
                </a:lnSpc>
              </a:pPr>
              <a:r>
                <a:rPr lang="en-US" sz="1599" b="true">
                  <a:solidFill>
                    <a:srgbClr val="2D5986"/>
                  </a:solidFill>
                  <a:latin typeface="Aptos Bold"/>
                  <a:ea typeface="Aptos Bold"/>
                  <a:cs typeface="Aptos Bold"/>
                  <a:sym typeface="Aptos Bold"/>
                </a:rPr>
                <a:t>READ</a:t>
              </a:r>
            </a:p>
          </p:txBody>
        </p:sp>
      </p:grpSp>
      <p:grpSp>
        <p:nvGrpSpPr>
          <p:cNvPr name="Group 139" id="139"/>
          <p:cNvGrpSpPr/>
          <p:nvPr/>
        </p:nvGrpSpPr>
        <p:grpSpPr>
          <a:xfrm rot="0">
            <a:off x="5435918" y="6332030"/>
            <a:ext cx="2707005" cy="576453"/>
            <a:chOff x="0" y="0"/>
            <a:chExt cx="3609340" cy="768604"/>
          </a:xfrm>
        </p:grpSpPr>
        <p:sp>
          <p:nvSpPr>
            <p:cNvPr name="Freeform 140" id="140"/>
            <p:cNvSpPr/>
            <p:nvPr/>
          </p:nvSpPr>
          <p:spPr>
            <a:xfrm flipH="false" flipV="false" rot="0">
              <a:off x="0" y="0"/>
              <a:ext cx="3609340" cy="768604"/>
            </a:xfrm>
            <a:custGeom>
              <a:avLst/>
              <a:gdLst/>
              <a:ahLst/>
              <a:cxnLst/>
              <a:rect r="r" b="b" t="t" l="l"/>
              <a:pathLst>
                <a:path h="768604" w="3609340">
                  <a:moveTo>
                    <a:pt x="0" y="128143"/>
                  </a:moveTo>
                  <a:cubicBezTo>
                    <a:pt x="0" y="57404"/>
                    <a:pt x="57404" y="0"/>
                    <a:pt x="128143" y="0"/>
                  </a:cubicBezTo>
                  <a:lnTo>
                    <a:pt x="3481197" y="0"/>
                  </a:lnTo>
                  <a:cubicBezTo>
                    <a:pt x="3551936" y="0"/>
                    <a:pt x="3609340" y="57404"/>
                    <a:pt x="3609340" y="128143"/>
                  </a:cubicBezTo>
                  <a:lnTo>
                    <a:pt x="3609340" y="640461"/>
                  </a:lnTo>
                  <a:cubicBezTo>
                    <a:pt x="3609340" y="711200"/>
                    <a:pt x="3551936" y="768604"/>
                    <a:pt x="3481197" y="768604"/>
                  </a:cubicBezTo>
                  <a:lnTo>
                    <a:pt x="128143" y="768604"/>
                  </a:lnTo>
                  <a:cubicBezTo>
                    <a:pt x="57404" y="768604"/>
                    <a:pt x="0" y="711200"/>
                    <a:pt x="0" y="640461"/>
                  </a:cubicBezTo>
                  <a:close/>
                </a:path>
              </a:pathLst>
            </a:custGeom>
            <a:solidFill>
              <a:srgbClr val="EFF3F7"/>
            </a:solidFill>
            <a:ln w="9525" cap="sq">
              <a:solidFill>
                <a:srgbClr val="CAD6E0"/>
              </a:solidFill>
              <a:prstDash val="solid"/>
              <a:miter/>
            </a:ln>
          </p:spPr>
        </p:sp>
      </p:grpSp>
      <p:grpSp>
        <p:nvGrpSpPr>
          <p:cNvPr name="Group 141" id="141"/>
          <p:cNvGrpSpPr/>
          <p:nvPr/>
        </p:nvGrpSpPr>
        <p:grpSpPr>
          <a:xfrm rot="0">
            <a:off x="5486400" y="6355080"/>
            <a:ext cx="2606040" cy="502920"/>
            <a:chOff x="0" y="0"/>
            <a:chExt cx="3474720" cy="670560"/>
          </a:xfrm>
        </p:grpSpPr>
        <p:sp>
          <p:nvSpPr>
            <p:cNvPr name="Freeform 142" id="142"/>
            <p:cNvSpPr/>
            <p:nvPr/>
          </p:nvSpPr>
          <p:spPr>
            <a:xfrm flipH="false" flipV="false" rot="0">
              <a:off x="0" y="0"/>
              <a:ext cx="3474719" cy="670560"/>
            </a:xfrm>
            <a:custGeom>
              <a:avLst/>
              <a:gdLst/>
              <a:ahLst/>
              <a:cxnLst/>
              <a:rect r="r" b="b" t="t" l="l"/>
              <a:pathLst>
                <a:path h="670560" w="3474719">
                  <a:moveTo>
                    <a:pt x="0" y="0"/>
                  </a:moveTo>
                  <a:lnTo>
                    <a:pt x="3474719" y="0"/>
                  </a:lnTo>
                  <a:lnTo>
                    <a:pt x="3474719" y="670560"/>
                  </a:lnTo>
                  <a:lnTo>
                    <a:pt x="0" y="670560"/>
                  </a:lnTo>
                  <a:close/>
                </a:path>
              </a:pathLst>
            </a:custGeom>
            <a:blipFill>
              <a:blip r:embed="rId3">
                <a:alphaModFix amt="0"/>
              </a:blip>
              <a:stretch>
                <a:fillRect l="0" t="-50967" r="0" b="-50967"/>
              </a:stretch>
            </a:blipFill>
          </p:spPr>
        </p:sp>
        <p:sp>
          <p:nvSpPr>
            <p:cNvPr name="TextBox 143" id="143"/>
            <p:cNvSpPr txBox="true"/>
            <p:nvPr/>
          </p:nvSpPr>
          <p:spPr>
            <a:xfrm>
              <a:off x="0" y="0"/>
              <a:ext cx="3474720" cy="670560"/>
            </a:xfrm>
            <a:prstGeom prst="rect">
              <a:avLst/>
            </a:prstGeom>
          </p:spPr>
          <p:txBody>
            <a:bodyPr anchor="ctr" rtlCol="false" tIns="0" lIns="0" bIns="0" rIns="0"/>
            <a:lstStyle/>
            <a:p>
              <a:pPr algn="ctr">
                <a:lnSpc>
                  <a:spcPts val="1680"/>
                </a:lnSpc>
              </a:pPr>
              <a:r>
                <a:rPr lang="en-US" sz="1400">
                  <a:solidFill>
                    <a:srgbClr val="24486E"/>
                  </a:solidFill>
                  <a:latin typeface="Aptos"/>
                  <a:ea typeface="Aptos"/>
                  <a:cs typeface="Aptos"/>
                  <a:sym typeface="Aptos"/>
                </a:rPr>
                <a:t>Covered combination</a:t>
              </a:r>
            </a:p>
          </p:txBody>
        </p:sp>
      </p:grpSp>
      <p:grpSp>
        <p:nvGrpSpPr>
          <p:cNvPr name="Group 144" id="144"/>
          <p:cNvGrpSpPr/>
          <p:nvPr/>
        </p:nvGrpSpPr>
        <p:grpSpPr>
          <a:xfrm rot="0">
            <a:off x="8224838" y="6332030"/>
            <a:ext cx="2707005" cy="576453"/>
            <a:chOff x="0" y="0"/>
            <a:chExt cx="3609340" cy="768604"/>
          </a:xfrm>
        </p:grpSpPr>
        <p:sp>
          <p:nvSpPr>
            <p:cNvPr name="Freeform 145" id="145"/>
            <p:cNvSpPr/>
            <p:nvPr/>
          </p:nvSpPr>
          <p:spPr>
            <a:xfrm flipH="false" flipV="false" rot="0">
              <a:off x="0" y="0"/>
              <a:ext cx="3609340" cy="768604"/>
            </a:xfrm>
            <a:custGeom>
              <a:avLst/>
              <a:gdLst/>
              <a:ahLst/>
              <a:cxnLst/>
              <a:rect r="r" b="b" t="t" l="l"/>
              <a:pathLst>
                <a:path h="768604" w="3609340">
                  <a:moveTo>
                    <a:pt x="0" y="128143"/>
                  </a:moveTo>
                  <a:cubicBezTo>
                    <a:pt x="0" y="57404"/>
                    <a:pt x="57404" y="0"/>
                    <a:pt x="128143" y="0"/>
                  </a:cubicBezTo>
                  <a:lnTo>
                    <a:pt x="3481197" y="0"/>
                  </a:lnTo>
                  <a:cubicBezTo>
                    <a:pt x="3551936" y="0"/>
                    <a:pt x="3609340" y="57404"/>
                    <a:pt x="3609340" y="128143"/>
                  </a:cubicBezTo>
                  <a:lnTo>
                    <a:pt x="3609340" y="640461"/>
                  </a:lnTo>
                  <a:cubicBezTo>
                    <a:pt x="3609340" y="711200"/>
                    <a:pt x="3551936" y="768604"/>
                    <a:pt x="3481197" y="768604"/>
                  </a:cubicBezTo>
                  <a:lnTo>
                    <a:pt x="128143" y="768604"/>
                  </a:lnTo>
                  <a:cubicBezTo>
                    <a:pt x="57404" y="768604"/>
                    <a:pt x="0" y="711200"/>
                    <a:pt x="0" y="640461"/>
                  </a:cubicBezTo>
                  <a:close/>
                </a:path>
              </a:pathLst>
            </a:custGeom>
            <a:solidFill>
              <a:srgbClr val="EFF3F7"/>
            </a:solidFill>
            <a:ln w="9525" cap="sq">
              <a:solidFill>
                <a:srgbClr val="CAD6E0"/>
              </a:solidFill>
              <a:prstDash val="solid"/>
              <a:miter/>
            </a:ln>
          </p:spPr>
        </p:sp>
      </p:grpSp>
      <p:grpSp>
        <p:nvGrpSpPr>
          <p:cNvPr name="Group 146" id="146"/>
          <p:cNvGrpSpPr/>
          <p:nvPr/>
        </p:nvGrpSpPr>
        <p:grpSpPr>
          <a:xfrm rot="0">
            <a:off x="8275320" y="6355080"/>
            <a:ext cx="2606040" cy="502920"/>
            <a:chOff x="0" y="0"/>
            <a:chExt cx="3474720" cy="670560"/>
          </a:xfrm>
        </p:grpSpPr>
        <p:sp>
          <p:nvSpPr>
            <p:cNvPr name="Freeform 147" id="147"/>
            <p:cNvSpPr/>
            <p:nvPr/>
          </p:nvSpPr>
          <p:spPr>
            <a:xfrm flipH="false" flipV="false" rot="0">
              <a:off x="0" y="0"/>
              <a:ext cx="3474719" cy="670560"/>
            </a:xfrm>
            <a:custGeom>
              <a:avLst/>
              <a:gdLst/>
              <a:ahLst/>
              <a:cxnLst/>
              <a:rect r="r" b="b" t="t" l="l"/>
              <a:pathLst>
                <a:path h="670560" w="3474719">
                  <a:moveTo>
                    <a:pt x="0" y="0"/>
                  </a:moveTo>
                  <a:lnTo>
                    <a:pt x="3474719" y="0"/>
                  </a:lnTo>
                  <a:lnTo>
                    <a:pt x="3474719" y="670560"/>
                  </a:lnTo>
                  <a:lnTo>
                    <a:pt x="0" y="670560"/>
                  </a:lnTo>
                  <a:close/>
                </a:path>
              </a:pathLst>
            </a:custGeom>
            <a:blipFill>
              <a:blip r:embed="rId3">
                <a:alphaModFix amt="0"/>
              </a:blip>
              <a:stretch>
                <a:fillRect l="0" t="-50967" r="0" b="-50967"/>
              </a:stretch>
            </a:blipFill>
          </p:spPr>
        </p:sp>
        <p:sp>
          <p:nvSpPr>
            <p:cNvPr name="TextBox 148" id="148"/>
            <p:cNvSpPr txBox="true"/>
            <p:nvPr/>
          </p:nvSpPr>
          <p:spPr>
            <a:xfrm>
              <a:off x="0" y="0"/>
              <a:ext cx="3474720" cy="670560"/>
            </a:xfrm>
            <a:prstGeom prst="rect">
              <a:avLst/>
            </a:prstGeom>
          </p:spPr>
          <p:txBody>
            <a:bodyPr anchor="ctr" rtlCol="false" tIns="0" lIns="0" bIns="0" rIns="0"/>
            <a:lstStyle/>
            <a:p>
              <a:pPr algn="ctr">
                <a:lnSpc>
                  <a:spcPts val="1680"/>
                </a:lnSpc>
              </a:pPr>
              <a:r>
                <a:rPr lang="en-US" sz="1400">
                  <a:solidFill>
                    <a:srgbClr val="24486E"/>
                  </a:solidFill>
                  <a:latin typeface="Aptos"/>
                  <a:ea typeface="Aptos"/>
                  <a:cs typeface="Aptos"/>
                  <a:sym typeface="Aptos"/>
                </a:rPr>
                <a:t>Covered combination</a:t>
              </a:r>
            </a:p>
          </p:txBody>
        </p:sp>
      </p:grpSp>
      <p:grpSp>
        <p:nvGrpSpPr>
          <p:cNvPr name="Group 149" id="149"/>
          <p:cNvGrpSpPr/>
          <p:nvPr/>
        </p:nvGrpSpPr>
        <p:grpSpPr>
          <a:xfrm rot="0">
            <a:off x="11013757" y="6332030"/>
            <a:ext cx="2707005" cy="576453"/>
            <a:chOff x="0" y="0"/>
            <a:chExt cx="3609340" cy="768604"/>
          </a:xfrm>
        </p:grpSpPr>
        <p:sp>
          <p:nvSpPr>
            <p:cNvPr name="Freeform 150" id="150"/>
            <p:cNvSpPr/>
            <p:nvPr/>
          </p:nvSpPr>
          <p:spPr>
            <a:xfrm flipH="false" flipV="false" rot="0">
              <a:off x="0" y="0"/>
              <a:ext cx="3609340" cy="768604"/>
            </a:xfrm>
            <a:custGeom>
              <a:avLst/>
              <a:gdLst/>
              <a:ahLst/>
              <a:cxnLst/>
              <a:rect r="r" b="b" t="t" l="l"/>
              <a:pathLst>
                <a:path h="768604" w="3609340">
                  <a:moveTo>
                    <a:pt x="0" y="128143"/>
                  </a:moveTo>
                  <a:cubicBezTo>
                    <a:pt x="0" y="57404"/>
                    <a:pt x="57404" y="0"/>
                    <a:pt x="128143" y="0"/>
                  </a:cubicBezTo>
                  <a:lnTo>
                    <a:pt x="3481197" y="0"/>
                  </a:lnTo>
                  <a:cubicBezTo>
                    <a:pt x="3551936" y="0"/>
                    <a:pt x="3609340" y="57404"/>
                    <a:pt x="3609340" y="128143"/>
                  </a:cubicBezTo>
                  <a:lnTo>
                    <a:pt x="3609340" y="640461"/>
                  </a:lnTo>
                  <a:cubicBezTo>
                    <a:pt x="3609340" y="711200"/>
                    <a:pt x="3551936" y="768604"/>
                    <a:pt x="3481197" y="768604"/>
                  </a:cubicBezTo>
                  <a:lnTo>
                    <a:pt x="128143" y="768604"/>
                  </a:lnTo>
                  <a:cubicBezTo>
                    <a:pt x="57404" y="768604"/>
                    <a:pt x="0" y="711200"/>
                    <a:pt x="0" y="640461"/>
                  </a:cubicBezTo>
                  <a:close/>
                </a:path>
              </a:pathLst>
            </a:custGeom>
            <a:solidFill>
              <a:srgbClr val="EFF3F7"/>
            </a:solidFill>
            <a:ln w="9525" cap="sq">
              <a:solidFill>
                <a:srgbClr val="CAD6E0"/>
              </a:solidFill>
              <a:prstDash val="solid"/>
              <a:miter/>
            </a:ln>
          </p:spPr>
        </p:sp>
      </p:grpSp>
      <p:grpSp>
        <p:nvGrpSpPr>
          <p:cNvPr name="Group 151" id="151"/>
          <p:cNvGrpSpPr/>
          <p:nvPr/>
        </p:nvGrpSpPr>
        <p:grpSpPr>
          <a:xfrm rot="0">
            <a:off x="11064240" y="6355080"/>
            <a:ext cx="2606040" cy="502920"/>
            <a:chOff x="0" y="0"/>
            <a:chExt cx="3474720" cy="670560"/>
          </a:xfrm>
        </p:grpSpPr>
        <p:sp>
          <p:nvSpPr>
            <p:cNvPr name="Freeform 152" id="152"/>
            <p:cNvSpPr/>
            <p:nvPr/>
          </p:nvSpPr>
          <p:spPr>
            <a:xfrm flipH="false" flipV="false" rot="0">
              <a:off x="0" y="0"/>
              <a:ext cx="3474719" cy="670560"/>
            </a:xfrm>
            <a:custGeom>
              <a:avLst/>
              <a:gdLst/>
              <a:ahLst/>
              <a:cxnLst/>
              <a:rect r="r" b="b" t="t" l="l"/>
              <a:pathLst>
                <a:path h="670560" w="3474719">
                  <a:moveTo>
                    <a:pt x="0" y="0"/>
                  </a:moveTo>
                  <a:lnTo>
                    <a:pt x="3474719" y="0"/>
                  </a:lnTo>
                  <a:lnTo>
                    <a:pt x="3474719" y="670560"/>
                  </a:lnTo>
                  <a:lnTo>
                    <a:pt x="0" y="670560"/>
                  </a:lnTo>
                  <a:close/>
                </a:path>
              </a:pathLst>
            </a:custGeom>
            <a:blipFill>
              <a:blip r:embed="rId3">
                <a:alphaModFix amt="0"/>
              </a:blip>
              <a:stretch>
                <a:fillRect l="0" t="-50967" r="0" b="-50967"/>
              </a:stretch>
            </a:blipFill>
          </p:spPr>
        </p:sp>
        <p:sp>
          <p:nvSpPr>
            <p:cNvPr name="TextBox 153" id="153"/>
            <p:cNvSpPr txBox="true"/>
            <p:nvPr/>
          </p:nvSpPr>
          <p:spPr>
            <a:xfrm>
              <a:off x="0" y="0"/>
              <a:ext cx="3474720" cy="670560"/>
            </a:xfrm>
            <a:prstGeom prst="rect">
              <a:avLst/>
            </a:prstGeom>
          </p:spPr>
          <p:txBody>
            <a:bodyPr anchor="ctr" rtlCol="false" tIns="0" lIns="0" bIns="0" rIns="0"/>
            <a:lstStyle/>
            <a:p>
              <a:pPr algn="ctr">
                <a:lnSpc>
                  <a:spcPts val="1680"/>
                </a:lnSpc>
              </a:pPr>
              <a:r>
                <a:rPr lang="en-US" sz="1400">
                  <a:solidFill>
                    <a:srgbClr val="24486E"/>
                  </a:solidFill>
                  <a:latin typeface="Aptos"/>
                  <a:ea typeface="Aptos"/>
                  <a:cs typeface="Aptos"/>
                  <a:sym typeface="Aptos"/>
                </a:rPr>
                <a:t>Covered combination</a:t>
              </a:r>
            </a:p>
          </p:txBody>
        </p:sp>
      </p:grpSp>
      <p:grpSp>
        <p:nvGrpSpPr>
          <p:cNvPr name="Group 154" id="154"/>
          <p:cNvGrpSpPr/>
          <p:nvPr/>
        </p:nvGrpSpPr>
        <p:grpSpPr>
          <a:xfrm rot="0">
            <a:off x="4361688" y="7123176"/>
            <a:ext cx="960120" cy="530352"/>
            <a:chOff x="0" y="0"/>
            <a:chExt cx="1280160" cy="707136"/>
          </a:xfrm>
        </p:grpSpPr>
        <p:sp>
          <p:nvSpPr>
            <p:cNvPr name="Freeform 155" id="155"/>
            <p:cNvSpPr/>
            <p:nvPr/>
          </p:nvSpPr>
          <p:spPr>
            <a:xfrm flipH="false" flipV="false" rot="0">
              <a:off x="0" y="0"/>
              <a:ext cx="1280160" cy="707136"/>
            </a:xfrm>
            <a:custGeom>
              <a:avLst/>
              <a:gdLst/>
              <a:ahLst/>
              <a:cxnLst/>
              <a:rect r="r" b="b" t="t" l="l"/>
              <a:pathLst>
                <a:path h="707136" w="1280160">
                  <a:moveTo>
                    <a:pt x="0" y="0"/>
                  </a:moveTo>
                  <a:lnTo>
                    <a:pt x="1280160" y="0"/>
                  </a:lnTo>
                  <a:lnTo>
                    <a:pt x="1280160" y="707136"/>
                  </a:lnTo>
                  <a:lnTo>
                    <a:pt x="0" y="707136"/>
                  </a:lnTo>
                  <a:close/>
                </a:path>
              </a:pathLst>
            </a:custGeom>
            <a:blipFill>
              <a:blip r:embed="rId3">
                <a:alphaModFix amt="0"/>
              </a:blip>
              <a:stretch>
                <a:fillRect l="-20872" t="0" r="-20872" b="0"/>
              </a:stretch>
            </a:blipFill>
          </p:spPr>
        </p:sp>
        <p:sp>
          <p:nvSpPr>
            <p:cNvPr name="TextBox 156" id="156"/>
            <p:cNvSpPr txBox="true"/>
            <p:nvPr/>
          </p:nvSpPr>
          <p:spPr>
            <a:xfrm>
              <a:off x="0" y="0"/>
              <a:ext cx="1280160" cy="707136"/>
            </a:xfrm>
            <a:prstGeom prst="rect">
              <a:avLst/>
            </a:prstGeom>
          </p:spPr>
          <p:txBody>
            <a:bodyPr anchor="ctr" rtlCol="false" tIns="0" lIns="0" bIns="0" rIns="0"/>
            <a:lstStyle/>
            <a:p>
              <a:pPr algn="ctr">
                <a:lnSpc>
                  <a:spcPts val="1919"/>
                </a:lnSpc>
              </a:pPr>
              <a:r>
                <a:rPr lang="en-US" sz="1599" b="true">
                  <a:solidFill>
                    <a:srgbClr val="2D5986"/>
                  </a:solidFill>
                  <a:latin typeface="Aptos Bold"/>
                  <a:ea typeface="Aptos Bold"/>
                  <a:cs typeface="Aptos Bold"/>
                  <a:sym typeface="Aptos Bold"/>
                </a:rPr>
                <a:t>WRITE</a:t>
              </a:r>
            </a:p>
          </p:txBody>
        </p:sp>
      </p:grpSp>
      <p:grpSp>
        <p:nvGrpSpPr>
          <p:cNvPr name="Group 157" id="157"/>
          <p:cNvGrpSpPr/>
          <p:nvPr/>
        </p:nvGrpSpPr>
        <p:grpSpPr>
          <a:xfrm rot="0">
            <a:off x="5435918" y="7118414"/>
            <a:ext cx="2707005" cy="576453"/>
            <a:chOff x="0" y="0"/>
            <a:chExt cx="3609340" cy="768604"/>
          </a:xfrm>
        </p:grpSpPr>
        <p:sp>
          <p:nvSpPr>
            <p:cNvPr name="Freeform 158" id="158"/>
            <p:cNvSpPr/>
            <p:nvPr/>
          </p:nvSpPr>
          <p:spPr>
            <a:xfrm flipH="false" flipV="false" rot="0">
              <a:off x="0" y="0"/>
              <a:ext cx="3609340" cy="768604"/>
            </a:xfrm>
            <a:custGeom>
              <a:avLst/>
              <a:gdLst/>
              <a:ahLst/>
              <a:cxnLst/>
              <a:rect r="r" b="b" t="t" l="l"/>
              <a:pathLst>
                <a:path h="768604" w="3609340">
                  <a:moveTo>
                    <a:pt x="0" y="128143"/>
                  </a:moveTo>
                  <a:cubicBezTo>
                    <a:pt x="0" y="57404"/>
                    <a:pt x="57404" y="0"/>
                    <a:pt x="128143" y="0"/>
                  </a:cubicBezTo>
                  <a:lnTo>
                    <a:pt x="3481197" y="0"/>
                  </a:lnTo>
                  <a:cubicBezTo>
                    <a:pt x="3551936" y="0"/>
                    <a:pt x="3609340" y="57404"/>
                    <a:pt x="3609340" y="128143"/>
                  </a:cubicBezTo>
                  <a:lnTo>
                    <a:pt x="3609340" y="640461"/>
                  </a:lnTo>
                  <a:cubicBezTo>
                    <a:pt x="3609340" y="711200"/>
                    <a:pt x="3551936" y="768604"/>
                    <a:pt x="3481197" y="768604"/>
                  </a:cubicBezTo>
                  <a:lnTo>
                    <a:pt x="128143" y="768604"/>
                  </a:lnTo>
                  <a:cubicBezTo>
                    <a:pt x="57404" y="768604"/>
                    <a:pt x="0" y="711200"/>
                    <a:pt x="0" y="640461"/>
                  </a:cubicBezTo>
                  <a:close/>
                </a:path>
              </a:pathLst>
            </a:custGeom>
            <a:solidFill>
              <a:srgbClr val="E1EAF2"/>
            </a:solidFill>
            <a:ln w="9525" cap="sq">
              <a:solidFill>
                <a:srgbClr val="CAD6E0"/>
              </a:solidFill>
              <a:prstDash val="solid"/>
              <a:miter/>
            </a:ln>
          </p:spPr>
        </p:sp>
      </p:grpSp>
      <p:grpSp>
        <p:nvGrpSpPr>
          <p:cNvPr name="Group 159" id="159"/>
          <p:cNvGrpSpPr/>
          <p:nvPr/>
        </p:nvGrpSpPr>
        <p:grpSpPr>
          <a:xfrm rot="0">
            <a:off x="5486400" y="7141464"/>
            <a:ext cx="2606040" cy="502920"/>
            <a:chOff x="0" y="0"/>
            <a:chExt cx="3474720" cy="670560"/>
          </a:xfrm>
        </p:grpSpPr>
        <p:sp>
          <p:nvSpPr>
            <p:cNvPr name="Freeform 160" id="160"/>
            <p:cNvSpPr/>
            <p:nvPr/>
          </p:nvSpPr>
          <p:spPr>
            <a:xfrm flipH="false" flipV="false" rot="0">
              <a:off x="0" y="0"/>
              <a:ext cx="3474719" cy="670560"/>
            </a:xfrm>
            <a:custGeom>
              <a:avLst/>
              <a:gdLst/>
              <a:ahLst/>
              <a:cxnLst/>
              <a:rect r="r" b="b" t="t" l="l"/>
              <a:pathLst>
                <a:path h="670560" w="3474719">
                  <a:moveTo>
                    <a:pt x="0" y="0"/>
                  </a:moveTo>
                  <a:lnTo>
                    <a:pt x="3474719" y="0"/>
                  </a:lnTo>
                  <a:lnTo>
                    <a:pt x="3474719" y="670560"/>
                  </a:lnTo>
                  <a:lnTo>
                    <a:pt x="0" y="670560"/>
                  </a:lnTo>
                  <a:close/>
                </a:path>
              </a:pathLst>
            </a:custGeom>
            <a:blipFill>
              <a:blip r:embed="rId3">
                <a:alphaModFix amt="0"/>
              </a:blip>
              <a:stretch>
                <a:fillRect l="0" t="-50967" r="0" b="-50967"/>
              </a:stretch>
            </a:blipFill>
          </p:spPr>
        </p:sp>
        <p:sp>
          <p:nvSpPr>
            <p:cNvPr name="TextBox 161" id="161"/>
            <p:cNvSpPr txBox="true"/>
            <p:nvPr/>
          </p:nvSpPr>
          <p:spPr>
            <a:xfrm>
              <a:off x="0" y="0"/>
              <a:ext cx="3474720" cy="670560"/>
            </a:xfrm>
            <a:prstGeom prst="rect">
              <a:avLst/>
            </a:prstGeom>
          </p:spPr>
          <p:txBody>
            <a:bodyPr anchor="ctr" rtlCol="false" tIns="0" lIns="0" bIns="0" rIns="0"/>
            <a:lstStyle/>
            <a:p>
              <a:pPr algn="ctr">
                <a:lnSpc>
                  <a:spcPts val="1680"/>
                </a:lnSpc>
              </a:pPr>
              <a:r>
                <a:rPr lang="en-US" sz="1400">
                  <a:solidFill>
                    <a:srgbClr val="24486E"/>
                  </a:solidFill>
                  <a:latin typeface="Aptos"/>
                  <a:ea typeface="Aptos"/>
                  <a:cs typeface="Aptos"/>
                  <a:sym typeface="Aptos"/>
                </a:rPr>
                <a:t>Covered combination</a:t>
              </a:r>
            </a:p>
          </p:txBody>
        </p:sp>
      </p:grpSp>
      <p:grpSp>
        <p:nvGrpSpPr>
          <p:cNvPr name="Group 162" id="162"/>
          <p:cNvGrpSpPr/>
          <p:nvPr/>
        </p:nvGrpSpPr>
        <p:grpSpPr>
          <a:xfrm rot="0">
            <a:off x="8224838" y="7118414"/>
            <a:ext cx="2707005" cy="576453"/>
            <a:chOff x="0" y="0"/>
            <a:chExt cx="3609340" cy="768604"/>
          </a:xfrm>
        </p:grpSpPr>
        <p:sp>
          <p:nvSpPr>
            <p:cNvPr name="Freeform 163" id="163"/>
            <p:cNvSpPr/>
            <p:nvPr/>
          </p:nvSpPr>
          <p:spPr>
            <a:xfrm flipH="false" flipV="false" rot="0">
              <a:off x="0" y="0"/>
              <a:ext cx="3609340" cy="768604"/>
            </a:xfrm>
            <a:custGeom>
              <a:avLst/>
              <a:gdLst/>
              <a:ahLst/>
              <a:cxnLst/>
              <a:rect r="r" b="b" t="t" l="l"/>
              <a:pathLst>
                <a:path h="768604" w="3609340">
                  <a:moveTo>
                    <a:pt x="0" y="128143"/>
                  </a:moveTo>
                  <a:cubicBezTo>
                    <a:pt x="0" y="57404"/>
                    <a:pt x="57404" y="0"/>
                    <a:pt x="128143" y="0"/>
                  </a:cubicBezTo>
                  <a:lnTo>
                    <a:pt x="3481197" y="0"/>
                  </a:lnTo>
                  <a:cubicBezTo>
                    <a:pt x="3551936" y="0"/>
                    <a:pt x="3609340" y="57404"/>
                    <a:pt x="3609340" y="128143"/>
                  </a:cubicBezTo>
                  <a:lnTo>
                    <a:pt x="3609340" y="640461"/>
                  </a:lnTo>
                  <a:cubicBezTo>
                    <a:pt x="3609340" y="711200"/>
                    <a:pt x="3551936" y="768604"/>
                    <a:pt x="3481197" y="768604"/>
                  </a:cubicBezTo>
                  <a:lnTo>
                    <a:pt x="128143" y="768604"/>
                  </a:lnTo>
                  <a:cubicBezTo>
                    <a:pt x="57404" y="768604"/>
                    <a:pt x="0" y="711200"/>
                    <a:pt x="0" y="640461"/>
                  </a:cubicBezTo>
                  <a:close/>
                </a:path>
              </a:pathLst>
            </a:custGeom>
            <a:solidFill>
              <a:srgbClr val="E1EAF2"/>
            </a:solidFill>
            <a:ln w="9525" cap="sq">
              <a:solidFill>
                <a:srgbClr val="CAD6E0"/>
              </a:solidFill>
              <a:prstDash val="solid"/>
              <a:miter/>
            </a:ln>
          </p:spPr>
        </p:sp>
      </p:grpSp>
      <p:grpSp>
        <p:nvGrpSpPr>
          <p:cNvPr name="Group 164" id="164"/>
          <p:cNvGrpSpPr/>
          <p:nvPr/>
        </p:nvGrpSpPr>
        <p:grpSpPr>
          <a:xfrm rot="0">
            <a:off x="8275320" y="7141464"/>
            <a:ext cx="2606040" cy="502920"/>
            <a:chOff x="0" y="0"/>
            <a:chExt cx="3474720" cy="670560"/>
          </a:xfrm>
        </p:grpSpPr>
        <p:sp>
          <p:nvSpPr>
            <p:cNvPr name="Freeform 165" id="165"/>
            <p:cNvSpPr/>
            <p:nvPr/>
          </p:nvSpPr>
          <p:spPr>
            <a:xfrm flipH="false" flipV="false" rot="0">
              <a:off x="0" y="0"/>
              <a:ext cx="3474719" cy="670560"/>
            </a:xfrm>
            <a:custGeom>
              <a:avLst/>
              <a:gdLst/>
              <a:ahLst/>
              <a:cxnLst/>
              <a:rect r="r" b="b" t="t" l="l"/>
              <a:pathLst>
                <a:path h="670560" w="3474719">
                  <a:moveTo>
                    <a:pt x="0" y="0"/>
                  </a:moveTo>
                  <a:lnTo>
                    <a:pt x="3474719" y="0"/>
                  </a:lnTo>
                  <a:lnTo>
                    <a:pt x="3474719" y="670560"/>
                  </a:lnTo>
                  <a:lnTo>
                    <a:pt x="0" y="670560"/>
                  </a:lnTo>
                  <a:close/>
                </a:path>
              </a:pathLst>
            </a:custGeom>
            <a:blipFill>
              <a:blip r:embed="rId3">
                <a:alphaModFix amt="0"/>
              </a:blip>
              <a:stretch>
                <a:fillRect l="0" t="-50967" r="0" b="-50967"/>
              </a:stretch>
            </a:blipFill>
          </p:spPr>
        </p:sp>
        <p:sp>
          <p:nvSpPr>
            <p:cNvPr name="TextBox 166" id="166"/>
            <p:cNvSpPr txBox="true"/>
            <p:nvPr/>
          </p:nvSpPr>
          <p:spPr>
            <a:xfrm>
              <a:off x="0" y="0"/>
              <a:ext cx="3474720" cy="670560"/>
            </a:xfrm>
            <a:prstGeom prst="rect">
              <a:avLst/>
            </a:prstGeom>
          </p:spPr>
          <p:txBody>
            <a:bodyPr anchor="ctr" rtlCol="false" tIns="0" lIns="0" bIns="0" rIns="0"/>
            <a:lstStyle/>
            <a:p>
              <a:pPr algn="ctr">
                <a:lnSpc>
                  <a:spcPts val="1680"/>
                </a:lnSpc>
              </a:pPr>
              <a:r>
                <a:rPr lang="en-US" sz="1400">
                  <a:solidFill>
                    <a:srgbClr val="24486E"/>
                  </a:solidFill>
                  <a:latin typeface="Aptos"/>
                  <a:ea typeface="Aptos"/>
                  <a:cs typeface="Aptos"/>
                  <a:sym typeface="Aptos"/>
                </a:rPr>
                <a:t>Covered combination</a:t>
              </a:r>
            </a:p>
          </p:txBody>
        </p:sp>
      </p:grpSp>
      <p:grpSp>
        <p:nvGrpSpPr>
          <p:cNvPr name="Group 167" id="167"/>
          <p:cNvGrpSpPr/>
          <p:nvPr/>
        </p:nvGrpSpPr>
        <p:grpSpPr>
          <a:xfrm rot="0">
            <a:off x="11013757" y="7118414"/>
            <a:ext cx="2707005" cy="576453"/>
            <a:chOff x="0" y="0"/>
            <a:chExt cx="3609340" cy="768604"/>
          </a:xfrm>
        </p:grpSpPr>
        <p:sp>
          <p:nvSpPr>
            <p:cNvPr name="Freeform 168" id="168"/>
            <p:cNvSpPr/>
            <p:nvPr/>
          </p:nvSpPr>
          <p:spPr>
            <a:xfrm flipH="false" flipV="false" rot="0">
              <a:off x="0" y="0"/>
              <a:ext cx="3609340" cy="768604"/>
            </a:xfrm>
            <a:custGeom>
              <a:avLst/>
              <a:gdLst/>
              <a:ahLst/>
              <a:cxnLst/>
              <a:rect r="r" b="b" t="t" l="l"/>
              <a:pathLst>
                <a:path h="768604" w="3609340">
                  <a:moveTo>
                    <a:pt x="0" y="128143"/>
                  </a:moveTo>
                  <a:cubicBezTo>
                    <a:pt x="0" y="57404"/>
                    <a:pt x="57404" y="0"/>
                    <a:pt x="128143" y="0"/>
                  </a:cubicBezTo>
                  <a:lnTo>
                    <a:pt x="3481197" y="0"/>
                  </a:lnTo>
                  <a:cubicBezTo>
                    <a:pt x="3551936" y="0"/>
                    <a:pt x="3609340" y="57404"/>
                    <a:pt x="3609340" y="128143"/>
                  </a:cubicBezTo>
                  <a:lnTo>
                    <a:pt x="3609340" y="640461"/>
                  </a:lnTo>
                  <a:cubicBezTo>
                    <a:pt x="3609340" y="711200"/>
                    <a:pt x="3551936" y="768604"/>
                    <a:pt x="3481197" y="768604"/>
                  </a:cubicBezTo>
                  <a:lnTo>
                    <a:pt x="128143" y="768604"/>
                  </a:lnTo>
                  <a:cubicBezTo>
                    <a:pt x="57404" y="768604"/>
                    <a:pt x="0" y="711200"/>
                    <a:pt x="0" y="640461"/>
                  </a:cubicBezTo>
                  <a:close/>
                </a:path>
              </a:pathLst>
            </a:custGeom>
            <a:solidFill>
              <a:srgbClr val="E1EAF2"/>
            </a:solidFill>
            <a:ln w="9525" cap="sq">
              <a:solidFill>
                <a:srgbClr val="CAD6E0"/>
              </a:solidFill>
              <a:prstDash val="solid"/>
              <a:miter/>
            </a:ln>
          </p:spPr>
        </p:sp>
      </p:grpSp>
      <p:grpSp>
        <p:nvGrpSpPr>
          <p:cNvPr name="Group 169" id="169"/>
          <p:cNvGrpSpPr/>
          <p:nvPr/>
        </p:nvGrpSpPr>
        <p:grpSpPr>
          <a:xfrm rot="0">
            <a:off x="11064240" y="7141464"/>
            <a:ext cx="2606040" cy="502920"/>
            <a:chOff x="0" y="0"/>
            <a:chExt cx="3474720" cy="670560"/>
          </a:xfrm>
        </p:grpSpPr>
        <p:sp>
          <p:nvSpPr>
            <p:cNvPr name="Freeform 170" id="170"/>
            <p:cNvSpPr/>
            <p:nvPr/>
          </p:nvSpPr>
          <p:spPr>
            <a:xfrm flipH="false" flipV="false" rot="0">
              <a:off x="0" y="0"/>
              <a:ext cx="3474719" cy="670560"/>
            </a:xfrm>
            <a:custGeom>
              <a:avLst/>
              <a:gdLst/>
              <a:ahLst/>
              <a:cxnLst/>
              <a:rect r="r" b="b" t="t" l="l"/>
              <a:pathLst>
                <a:path h="670560" w="3474719">
                  <a:moveTo>
                    <a:pt x="0" y="0"/>
                  </a:moveTo>
                  <a:lnTo>
                    <a:pt x="3474719" y="0"/>
                  </a:lnTo>
                  <a:lnTo>
                    <a:pt x="3474719" y="670560"/>
                  </a:lnTo>
                  <a:lnTo>
                    <a:pt x="0" y="670560"/>
                  </a:lnTo>
                  <a:close/>
                </a:path>
              </a:pathLst>
            </a:custGeom>
            <a:blipFill>
              <a:blip r:embed="rId3">
                <a:alphaModFix amt="0"/>
              </a:blip>
              <a:stretch>
                <a:fillRect l="0" t="-50967" r="0" b="-50967"/>
              </a:stretch>
            </a:blipFill>
          </p:spPr>
        </p:sp>
        <p:sp>
          <p:nvSpPr>
            <p:cNvPr name="TextBox 171" id="171"/>
            <p:cNvSpPr txBox="true"/>
            <p:nvPr/>
          </p:nvSpPr>
          <p:spPr>
            <a:xfrm>
              <a:off x="0" y="0"/>
              <a:ext cx="3474720" cy="670560"/>
            </a:xfrm>
            <a:prstGeom prst="rect">
              <a:avLst/>
            </a:prstGeom>
          </p:spPr>
          <p:txBody>
            <a:bodyPr anchor="ctr" rtlCol="false" tIns="0" lIns="0" bIns="0" rIns="0"/>
            <a:lstStyle/>
            <a:p>
              <a:pPr algn="ctr">
                <a:lnSpc>
                  <a:spcPts val="1680"/>
                </a:lnSpc>
              </a:pPr>
              <a:r>
                <a:rPr lang="en-US" sz="1400">
                  <a:solidFill>
                    <a:srgbClr val="24486E"/>
                  </a:solidFill>
                  <a:latin typeface="Aptos"/>
                  <a:ea typeface="Aptos"/>
                  <a:cs typeface="Aptos"/>
                  <a:sym typeface="Aptos"/>
                </a:rPr>
                <a:t>Covered combination</a:t>
              </a:r>
            </a:p>
          </p:txBody>
        </p:sp>
      </p:grpSp>
      <p:sp>
        <p:nvSpPr>
          <p:cNvPr name="TextBox 172" id="172"/>
          <p:cNvSpPr txBox="true"/>
          <p:nvPr/>
        </p:nvSpPr>
        <p:spPr>
          <a:xfrm rot="0">
            <a:off x="822960" y="5596128"/>
            <a:ext cx="3337560" cy="2020824"/>
          </a:xfrm>
          <a:prstGeom prst="rect">
            <a:avLst/>
          </a:prstGeom>
        </p:spPr>
        <p:txBody>
          <a:bodyPr anchor="t" rtlCol="false" tIns="0" lIns="0" bIns="0" rIns="0">
            <a:spAutoFit/>
          </a:bodyPr>
          <a:lstStyle/>
          <a:p>
            <a:pPr algn="l">
              <a:lnSpc>
                <a:spcPts val="2279"/>
              </a:lnSpc>
            </a:pPr>
            <a:r>
              <a:rPr lang="en-US" sz="1899">
                <a:solidFill>
                  <a:srgbClr val="2F3A44"/>
                </a:solidFill>
                <a:latin typeface="Aptos"/>
                <a:ea typeface="Aptos"/>
                <a:cs typeface="Aptos"/>
                <a:sym typeface="Aptos"/>
              </a:rPr>
              <a:t>The cross combines:</a:t>
            </a:r>
          </a:p>
          <a:p>
            <a:pPr algn="l">
              <a:lnSpc>
                <a:spcPts val="2279"/>
              </a:lnSpc>
            </a:pPr>
          </a:p>
          <a:p>
            <a:pPr algn="l">
              <a:lnSpc>
                <a:spcPts val="2279"/>
              </a:lnSpc>
            </a:pPr>
            <a:r>
              <a:rPr lang="en-US" sz="1899">
                <a:solidFill>
                  <a:srgbClr val="2F3A44"/>
                </a:solidFill>
                <a:latin typeface="Aptos"/>
                <a:ea typeface="Aptos"/>
                <a:cs typeface="Aptos"/>
                <a:sym typeface="Aptos"/>
              </a:rPr>
              <a:t>• 2 transfer directions</a:t>
            </a:r>
          </a:p>
          <a:p>
            <a:pPr algn="l">
              <a:lnSpc>
                <a:spcPts val="2279"/>
              </a:lnSpc>
            </a:pPr>
            <a:r>
              <a:rPr lang="en-US" sz="1899">
                <a:solidFill>
                  <a:srgbClr val="2F3A44"/>
                </a:solidFill>
                <a:latin typeface="Aptos"/>
                <a:ea typeface="Aptos"/>
                <a:cs typeface="Aptos"/>
                <a:sym typeface="Aptos"/>
              </a:rPr>
              <a:t>• 3 supported transfer sizes</a:t>
            </a:r>
          </a:p>
          <a:p>
            <a:pPr algn="l">
              <a:lnSpc>
                <a:spcPts val="2279"/>
              </a:lnSpc>
            </a:pPr>
            <a:r>
              <a:rPr lang="en-US" sz="1899">
                <a:solidFill>
                  <a:srgbClr val="2F3A44"/>
                </a:solidFill>
                <a:latin typeface="Aptos"/>
                <a:ea typeface="Aptos"/>
                <a:cs typeface="Aptos"/>
                <a:sym typeface="Aptos"/>
              </a:rPr>
              <a:t>• 6 total combinations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grpSp>
        <p:nvGrpSpPr>
          <p:cNvPr name="Group 2" id="2"/>
          <p:cNvGrpSpPr/>
          <p:nvPr/>
        </p:nvGrpSpPr>
        <p:grpSpPr>
          <a:xfrm rot="0">
            <a:off x="228600" y="-3086"/>
            <a:ext cx="16276320" cy="1268035"/>
            <a:chOff x="0" y="0"/>
            <a:chExt cx="21701760" cy="1690713"/>
          </a:xfrm>
        </p:grpSpPr>
        <p:sp>
          <p:nvSpPr>
            <p:cNvPr name="Freeform 3" id="3"/>
            <p:cNvSpPr/>
            <p:nvPr/>
          </p:nvSpPr>
          <p:spPr>
            <a:xfrm flipH="false" flipV="false" rot="0">
              <a:off x="0" y="0"/>
              <a:ext cx="21701761" cy="1690719"/>
            </a:xfrm>
            <a:custGeom>
              <a:avLst/>
              <a:gdLst/>
              <a:ahLst/>
              <a:cxnLst/>
              <a:rect r="r" b="b" t="t" l="l"/>
              <a:pathLst>
                <a:path h="1690719" w="21701761">
                  <a:moveTo>
                    <a:pt x="0" y="0"/>
                  </a:moveTo>
                  <a:lnTo>
                    <a:pt x="21701761" y="0"/>
                  </a:lnTo>
                  <a:lnTo>
                    <a:pt x="21701761" y="1690719"/>
                  </a:lnTo>
                  <a:lnTo>
                    <a:pt x="0" y="1690719"/>
                  </a:lnTo>
                  <a:close/>
                </a:path>
              </a:pathLst>
            </a:custGeom>
            <a:blipFill>
              <a:blip r:embed="rId2">
                <a:alphaModFix amt="0"/>
              </a:blip>
              <a:stretch>
                <a:fillRect l="0" t="-200106" r="0" b="-200106"/>
              </a:stretch>
            </a:blipFill>
          </p:spPr>
        </p:sp>
        <p:sp>
          <p:nvSpPr>
            <p:cNvPr name="TextBox 4" id="4"/>
            <p:cNvSpPr txBox="true"/>
            <p:nvPr/>
          </p:nvSpPr>
          <p:spPr>
            <a:xfrm>
              <a:off x="0" y="0"/>
              <a:ext cx="21701760" cy="1690713"/>
            </a:xfrm>
            <a:prstGeom prst="rect">
              <a:avLst/>
            </a:prstGeom>
          </p:spPr>
          <p:txBody>
            <a:bodyPr anchor="ctr" rtlCol="false" tIns="0" lIns="0" bIns="0" rIns="0"/>
            <a:lstStyle/>
            <a:p>
              <a:pPr algn="l">
                <a:lnSpc>
                  <a:spcPts val="9600"/>
                </a:lnSpc>
              </a:pPr>
              <a:r>
                <a:rPr lang="en-US" sz="8000">
                  <a:solidFill>
                    <a:srgbClr val="2D5986"/>
                  </a:solidFill>
                  <a:latin typeface="Anton"/>
                  <a:ea typeface="Anton"/>
                  <a:cs typeface="Anton"/>
                  <a:sym typeface="Anton"/>
                </a:rPr>
                <a:t>APB Transfer Coverage</a:t>
              </a:r>
            </a:p>
          </p:txBody>
        </p:sp>
      </p:grpSp>
      <p:grpSp>
        <p:nvGrpSpPr>
          <p:cNvPr name="Group 5" id="5"/>
          <p:cNvGrpSpPr/>
          <p:nvPr/>
        </p:nvGrpSpPr>
        <p:grpSpPr>
          <a:xfrm rot="0">
            <a:off x="292608" y="1166012"/>
            <a:ext cx="16093440" cy="283150"/>
            <a:chOff x="0" y="0"/>
            <a:chExt cx="21457920" cy="377533"/>
          </a:xfrm>
        </p:grpSpPr>
        <p:sp>
          <p:nvSpPr>
            <p:cNvPr name="Freeform 6" id="6"/>
            <p:cNvSpPr/>
            <p:nvPr/>
          </p:nvSpPr>
          <p:spPr>
            <a:xfrm flipH="false" flipV="false" rot="0">
              <a:off x="0" y="0"/>
              <a:ext cx="21457920" cy="377539"/>
            </a:xfrm>
            <a:custGeom>
              <a:avLst/>
              <a:gdLst/>
              <a:ahLst/>
              <a:cxnLst/>
              <a:rect r="r" b="b" t="t" l="l"/>
              <a:pathLst>
                <a:path h="377539" w="21457920">
                  <a:moveTo>
                    <a:pt x="0" y="0"/>
                  </a:moveTo>
                  <a:lnTo>
                    <a:pt x="21457920" y="0"/>
                  </a:lnTo>
                  <a:lnTo>
                    <a:pt x="21457920" y="377539"/>
                  </a:lnTo>
                  <a:lnTo>
                    <a:pt x="0" y="377539"/>
                  </a:lnTo>
                  <a:close/>
                </a:path>
              </a:pathLst>
            </a:custGeom>
            <a:blipFill>
              <a:blip r:embed="rId2">
                <a:alphaModFix amt="0"/>
              </a:blip>
              <a:stretch>
                <a:fillRect l="0" t="-1057459" r="0" b="-1057457"/>
              </a:stretch>
            </a:blipFill>
          </p:spPr>
        </p:sp>
        <p:sp>
          <p:nvSpPr>
            <p:cNvPr name="TextBox 7" id="7"/>
            <p:cNvSpPr txBox="true"/>
            <p:nvPr/>
          </p:nvSpPr>
          <p:spPr>
            <a:xfrm>
              <a:off x="0" y="0"/>
              <a:ext cx="21457920" cy="377533"/>
            </a:xfrm>
            <a:prstGeom prst="rect">
              <a:avLst/>
            </a:prstGeom>
          </p:spPr>
          <p:txBody>
            <a:bodyPr anchor="ctr" rtlCol="false" tIns="0" lIns="0" bIns="0" rIns="0"/>
            <a:lstStyle/>
            <a:p>
              <a:pPr algn="l">
                <a:lnSpc>
                  <a:spcPts val="1919"/>
                </a:lnSpc>
              </a:pPr>
              <a:r>
                <a:rPr lang="en-US" sz="1599">
                  <a:solidFill>
                    <a:srgbClr val="63707C"/>
                  </a:solidFill>
                  <a:latin typeface="Aptos"/>
                  <a:ea typeface="Aptos"/>
                  <a:cs typeface="Aptos"/>
                  <a:sym typeface="Aptos"/>
                </a:rPr>
                <a:t>CG-005–008, CG-013  |  Strobes, completion, response and latency</a:t>
              </a:r>
            </a:p>
          </p:txBody>
        </p:sp>
      </p:grpSp>
      <p:grpSp>
        <p:nvGrpSpPr>
          <p:cNvPr name="Group 8" id="8"/>
          <p:cNvGrpSpPr/>
          <p:nvPr/>
        </p:nvGrpSpPr>
        <p:grpSpPr>
          <a:xfrm rot="0">
            <a:off x="404498" y="1776098"/>
            <a:ext cx="10209533" cy="3717293"/>
            <a:chOff x="0" y="0"/>
            <a:chExt cx="13612711" cy="4956391"/>
          </a:xfrm>
        </p:grpSpPr>
        <p:sp>
          <p:nvSpPr>
            <p:cNvPr name="Freeform 9" id="9"/>
            <p:cNvSpPr/>
            <p:nvPr/>
          </p:nvSpPr>
          <p:spPr>
            <a:xfrm flipH="false" flipV="false" rot="0">
              <a:off x="0" y="0"/>
              <a:ext cx="13612876" cy="4956429"/>
            </a:xfrm>
            <a:custGeom>
              <a:avLst/>
              <a:gdLst/>
              <a:ahLst/>
              <a:cxnLst/>
              <a:rect r="r" b="b" t="t" l="l"/>
              <a:pathLst>
                <a:path h="4956429" w="13612876">
                  <a:moveTo>
                    <a:pt x="0" y="826135"/>
                  </a:moveTo>
                  <a:cubicBezTo>
                    <a:pt x="0" y="369824"/>
                    <a:pt x="369824" y="0"/>
                    <a:pt x="826135" y="0"/>
                  </a:cubicBezTo>
                  <a:lnTo>
                    <a:pt x="12786741" y="0"/>
                  </a:lnTo>
                  <a:cubicBezTo>
                    <a:pt x="13242925" y="0"/>
                    <a:pt x="13612876" y="369824"/>
                    <a:pt x="13612876" y="826135"/>
                  </a:cubicBezTo>
                  <a:lnTo>
                    <a:pt x="13612876" y="4130294"/>
                  </a:lnTo>
                  <a:cubicBezTo>
                    <a:pt x="13612876" y="4586478"/>
                    <a:pt x="13243052" y="4956429"/>
                    <a:pt x="12786741" y="4956429"/>
                  </a:cubicBezTo>
                  <a:lnTo>
                    <a:pt x="826135" y="4956429"/>
                  </a:lnTo>
                  <a:cubicBezTo>
                    <a:pt x="369824" y="4956429"/>
                    <a:pt x="0" y="4586478"/>
                    <a:pt x="0" y="4130294"/>
                  </a:cubicBezTo>
                  <a:close/>
                </a:path>
              </a:pathLst>
            </a:custGeom>
            <a:solidFill>
              <a:srgbClr val="FFFFFF"/>
            </a:solidFill>
            <a:ln w="13970" cap="sq">
              <a:solidFill>
                <a:srgbClr val="CAD6E0"/>
              </a:solidFill>
              <a:prstDash val="solid"/>
              <a:miter/>
            </a:ln>
          </p:spPr>
        </p:sp>
      </p:grpSp>
      <p:grpSp>
        <p:nvGrpSpPr>
          <p:cNvPr name="Group 10" id="10"/>
          <p:cNvGrpSpPr/>
          <p:nvPr/>
        </p:nvGrpSpPr>
        <p:grpSpPr>
          <a:xfrm rot="0">
            <a:off x="411480" y="1856232"/>
            <a:ext cx="68580" cy="3557016"/>
            <a:chOff x="0" y="0"/>
            <a:chExt cx="91440" cy="4742688"/>
          </a:xfrm>
        </p:grpSpPr>
        <p:sp>
          <p:nvSpPr>
            <p:cNvPr name="Freeform 11" id="11"/>
            <p:cNvSpPr/>
            <p:nvPr/>
          </p:nvSpPr>
          <p:spPr>
            <a:xfrm flipH="false" flipV="false" rot="0">
              <a:off x="0" y="0"/>
              <a:ext cx="91440" cy="4742688"/>
            </a:xfrm>
            <a:custGeom>
              <a:avLst/>
              <a:gdLst/>
              <a:ahLst/>
              <a:cxnLst/>
              <a:rect r="r" b="b" t="t" l="l"/>
              <a:pathLst>
                <a:path h="4742688" w="91440">
                  <a:moveTo>
                    <a:pt x="0" y="0"/>
                  </a:moveTo>
                  <a:lnTo>
                    <a:pt x="91440" y="0"/>
                  </a:lnTo>
                  <a:lnTo>
                    <a:pt x="91440" y="4742688"/>
                  </a:lnTo>
                  <a:lnTo>
                    <a:pt x="0" y="4742688"/>
                  </a:lnTo>
                  <a:close/>
                </a:path>
              </a:pathLst>
            </a:custGeom>
            <a:solidFill>
              <a:srgbClr val="2D5986"/>
            </a:solidFill>
          </p:spPr>
        </p:sp>
      </p:grpSp>
      <p:grpSp>
        <p:nvGrpSpPr>
          <p:cNvPr name="Group 12" id="12"/>
          <p:cNvGrpSpPr/>
          <p:nvPr/>
        </p:nvGrpSpPr>
        <p:grpSpPr>
          <a:xfrm rot="0">
            <a:off x="704088" y="1892808"/>
            <a:ext cx="9811512" cy="384048"/>
            <a:chOff x="0" y="0"/>
            <a:chExt cx="13082016" cy="512064"/>
          </a:xfrm>
        </p:grpSpPr>
        <p:sp>
          <p:nvSpPr>
            <p:cNvPr name="Freeform 13" id="13"/>
            <p:cNvSpPr/>
            <p:nvPr/>
          </p:nvSpPr>
          <p:spPr>
            <a:xfrm flipH="false" flipV="false" rot="0">
              <a:off x="0" y="0"/>
              <a:ext cx="13082015" cy="512064"/>
            </a:xfrm>
            <a:custGeom>
              <a:avLst/>
              <a:gdLst/>
              <a:ahLst/>
              <a:cxnLst/>
              <a:rect r="r" b="b" t="t" l="l"/>
              <a:pathLst>
                <a:path h="512064" w="13082015">
                  <a:moveTo>
                    <a:pt x="0" y="0"/>
                  </a:moveTo>
                  <a:lnTo>
                    <a:pt x="13082015" y="0"/>
                  </a:lnTo>
                  <a:lnTo>
                    <a:pt x="13082015" y="512064"/>
                  </a:lnTo>
                  <a:lnTo>
                    <a:pt x="0" y="512064"/>
                  </a:lnTo>
                  <a:close/>
                </a:path>
              </a:pathLst>
            </a:custGeom>
            <a:blipFill>
              <a:blip r:embed="rId2">
                <a:alphaModFix amt="0"/>
              </a:blip>
              <a:stretch>
                <a:fillRect l="0" t="-447796" r="0" b="-447796"/>
              </a:stretch>
            </a:blipFill>
          </p:spPr>
        </p:sp>
        <p:sp>
          <p:nvSpPr>
            <p:cNvPr name="TextBox 14" id="14"/>
            <p:cNvSpPr txBox="true"/>
            <p:nvPr/>
          </p:nvSpPr>
          <p:spPr>
            <a:xfrm>
              <a:off x="0" y="-9525"/>
              <a:ext cx="13082016" cy="521589"/>
            </a:xfrm>
            <a:prstGeom prst="rect">
              <a:avLst/>
            </a:prstGeom>
          </p:spPr>
          <p:txBody>
            <a:bodyPr anchor="ctr" rtlCol="false" tIns="0" lIns="0" bIns="0" rIns="0"/>
            <a:lstStyle/>
            <a:p>
              <a:pPr algn="l">
                <a:lnSpc>
                  <a:spcPts val="2520"/>
                </a:lnSpc>
              </a:pPr>
              <a:r>
                <a:rPr lang="en-US" sz="2100" b="true">
                  <a:solidFill>
                    <a:srgbClr val="2D5986"/>
                  </a:solidFill>
                  <a:latin typeface="Aptos Bold"/>
                  <a:ea typeface="Aptos Bold"/>
                  <a:cs typeface="Aptos Bold"/>
                  <a:sym typeface="Aptos Bold"/>
                </a:rPr>
                <a:t>PSTRB patterns</a:t>
              </a:r>
            </a:p>
          </p:txBody>
        </p:sp>
      </p:grpSp>
      <p:grpSp>
        <p:nvGrpSpPr>
          <p:cNvPr name="Group 15" id="15"/>
          <p:cNvGrpSpPr/>
          <p:nvPr/>
        </p:nvGrpSpPr>
        <p:grpSpPr>
          <a:xfrm rot="0">
            <a:off x="749808" y="2293849"/>
            <a:ext cx="9464040" cy="267767"/>
            <a:chOff x="0" y="0"/>
            <a:chExt cx="12618720" cy="357022"/>
          </a:xfrm>
        </p:grpSpPr>
        <p:sp>
          <p:nvSpPr>
            <p:cNvPr name="Freeform 16" id="16"/>
            <p:cNvSpPr/>
            <p:nvPr/>
          </p:nvSpPr>
          <p:spPr>
            <a:xfrm flipH="false" flipV="false" rot="0">
              <a:off x="0" y="0"/>
              <a:ext cx="12618720" cy="357021"/>
            </a:xfrm>
            <a:custGeom>
              <a:avLst/>
              <a:gdLst/>
              <a:ahLst/>
              <a:cxnLst/>
              <a:rect r="r" b="b" t="t" l="l"/>
              <a:pathLst>
                <a:path h="357021" w="12618720">
                  <a:moveTo>
                    <a:pt x="0" y="0"/>
                  </a:moveTo>
                  <a:lnTo>
                    <a:pt x="12618720" y="0"/>
                  </a:lnTo>
                  <a:lnTo>
                    <a:pt x="12618720" y="357021"/>
                  </a:lnTo>
                  <a:lnTo>
                    <a:pt x="0" y="357021"/>
                  </a:lnTo>
                  <a:close/>
                </a:path>
              </a:pathLst>
            </a:custGeom>
            <a:blipFill>
              <a:blip r:embed="rId2">
                <a:alphaModFix amt="0"/>
              </a:blip>
              <a:stretch>
                <a:fillRect l="0" t="-638687" r="0" b="-638687"/>
              </a:stretch>
            </a:blipFill>
          </p:spPr>
        </p:sp>
        <p:sp>
          <p:nvSpPr>
            <p:cNvPr name="TextBox 17" id="17"/>
            <p:cNvSpPr txBox="true"/>
            <p:nvPr/>
          </p:nvSpPr>
          <p:spPr>
            <a:xfrm>
              <a:off x="0" y="0"/>
              <a:ext cx="12618720" cy="357022"/>
            </a:xfrm>
            <a:prstGeom prst="rect">
              <a:avLst/>
            </a:prstGeom>
          </p:spPr>
          <p:txBody>
            <a:bodyPr anchor="ctr" rtlCol="false" tIns="0" lIns="0" bIns="0" rIns="0"/>
            <a:lstStyle/>
            <a:p>
              <a:pPr algn="l">
                <a:lnSpc>
                  <a:spcPts val="1800"/>
                </a:lnSpc>
              </a:pPr>
              <a:r>
                <a:rPr lang="en-US" sz="1500">
                  <a:solidFill>
                    <a:srgbClr val="63707C"/>
                  </a:solidFill>
                  <a:latin typeface="Aptos"/>
                  <a:ea typeface="Aptos"/>
                  <a:cs typeface="Aptos"/>
                  <a:sym typeface="Aptos"/>
                </a:rPr>
                <a:t>Observed APB byte enables.</a:t>
              </a:r>
            </a:p>
          </p:txBody>
        </p:sp>
      </p:grpSp>
      <p:grpSp>
        <p:nvGrpSpPr>
          <p:cNvPr name="Group 18" id="18"/>
          <p:cNvGrpSpPr/>
          <p:nvPr/>
        </p:nvGrpSpPr>
        <p:grpSpPr>
          <a:xfrm rot="0">
            <a:off x="749808" y="2761488"/>
            <a:ext cx="2148840" cy="822960"/>
            <a:chOff x="0" y="0"/>
            <a:chExt cx="2865120" cy="1097280"/>
          </a:xfrm>
        </p:grpSpPr>
        <p:sp>
          <p:nvSpPr>
            <p:cNvPr name="Freeform 19" id="19"/>
            <p:cNvSpPr/>
            <p:nvPr/>
          </p:nvSpPr>
          <p:spPr>
            <a:xfrm flipH="false" flipV="false" rot="0">
              <a:off x="0" y="0"/>
              <a:ext cx="2865120" cy="1097280"/>
            </a:xfrm>
            <a:custGeom>
              <a:avLst/>
              <a:gdLst/>
              <a:ahLst/>
              <a:cxnLst/>
              <a:rect r="r" b="b" t="t" l="l"/>
              <a:pathLst>
                <a:path h="1097280" w="2865120">
                  <a:moveTo>
                    <a:pt x="0" y="182880"/>
                  </a:moveTo>
                  <a:cubicBezTo>
                    <a:pt x="0" y="81915"/>
                    <a:pt x="81915" y="0"/>
                    <a:pt x="182880" y="0"/>
                  </a:cubicBezTo>
                  <a:lnTo>
                    <a:pt x="2682240" y="0"/>
                  </a:lnTo>
                  <a:cubicBezTo>
                    <a:pt x="2783205" y="0"/>
                    <a:pt x="2865120" y="81915"/>
                    <a:pt x="2865120" y="182880"/>
                  </a:cubicBezTo>
                  <a:lnTo>
                    <a:pt x="2865120" y="914400"/>
                  </a:lnTo>
                  <a:cubicBezTo>
                    <a:pt x="2865120" y="1015365"/>
                    <a:pt x="2783205" y="1097280"/>
                    <a:pt x="2682240" y="1097280"/>
                  </a:cubicBezTo>
                  <a:lnTo>
                    <a:pt x="182880" y="1097280"/>
                  </a:lnTo>
                  <a:cubicBezTo>
                    <a:pt x="81915" y="1097280"/>
                    <a:pt x="0" y="1015365"/>
                    <a:pt x="0" y="914400"/>
                  </a:cubicBezTo>
                  <a:close/>
                </a:path>
              </a:pathLst>
            </a:custGeom>
            <a:solidFill>
              <a:srgbClr val="EFF3F7"/>
            </a:solidFill>
          </p:spPr>
        </p:sp>
      </p:grpSp>
      <p:grpSp>
        <p:nvGrpSpPr>
          <p:cNvPr name="Group 20" id="20"/>
          <p:cNvGrpSpPr/>
          <p:nvPr/>
        </p:nvGrpSpPr>
        <p:grpSpPr>
          <a:xfrm rot="0">
            <a:off x="795528" y="2807208"/>
            <a:ext cx="2057400" cy="345643"/>
            <a:chOff x="0" y="0"/>
            <a:chExt cx="2743200" cy="460858"/>
          </a:xfrm>
        </p:grpSpPr>
        <p:sp>
          <p:nvSpPr>
            <p:cNvPr name="Freeform 21" id="21"/>
            <p:cNvSpPr/>
            <p:nvPr/>
          </p:nvSpPr>
          <p:spPr>
            <a:xfrm flipH="false" flipV="false" rot="0">
              <a:off x="0" y="0"/>
              <a:ext cx="2743200" cy="460857"/>
            </a:xfrm>
            <a:custGeom>
              <a:avLst/>
              <a:gdLst/>
              <a:ahLst/>
              <a:cxnLst/>
              <a:rect r="r" b="b" t="t" l="l"/>
              <a:pathLst>
                <a:path h="460857" w="2743200">
                  <a:moveTo>
                    <a:pt x="0" y="0"/>
                  </a:moveTo>
                  <a:lnTo>
                    <a:pt x="2743200" y="0"/>
                  </a:lnTo>
                  <a:lnTo>
                    <a:pt x="2743200" y="460857"/>
                  </a:lnTo>
                  <a:lnTo>
                    <a:pt x="0" y="460857"/>
                  </a:lnTo>
                  <a:close/>
                </a:path>
              </a:pathLst>
            </a:custGeom>
            <a:blipFill>
              <a:blip r:embed="rId2">
                <a:alphaModFix amt="0"/>
              </a:blip>
              <a:stretch>
                <a:fillRect l="0" t="-65982" r="0" b="-65982"/>
              </a:stretch>
            </a:blipFill>
          </p:spPr>
        </p:sp>
        <p:sp>
          <p:nvSpPr>
            <p:cNvPr name="TextBox 22" id="22"/>
            <p:cNvSpPr txBox="true"/>
            <p:nvPr/>
          </p:nvSpPr>
          <p:spPr>
            <a:xfrm>
              <a:off x="0" y="0"/>
              <a:ext cx="2743200" cy="460858"/>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NO STROBE</a:t>
              </a:r>
            </a:p>
          </p:txBody>
        </p:sp>
      </p:grpSp>
      <p:grpSp>
        <p:nvGrpSpPr>
          <p:cNvPr name="Group 23" id="23"/>
          <p:cNvGrpSpPr/>
          <p:nvPr/>
        </p:nvGrpSpPr>
        <p:grpSpPr>
          <a:xfrm rot="0">
            <a:off x="795528" y="3115361"/>
            <a:ext cx="2057400" cy="395021"/>
            <a:chOff x="0" y="0"/>
            <a:chExt cx="2743200" cy="526694"/>
          </a:xfrm>
        </p:grpSpPr>
        <p:sp>
          <p:nvSpPr>
            <p:cNvPr name="Freeform 24" id="24"/>
            <p:cNvSpPr/>
            <p:nvPr/>
          </p:nvSpPr>
          <p:spPr>
            <a:xfrm flipH="false" flipV="false" rot="0">
              <a:off x="0" y="0"/>
              <a:ext cx="2743200" cy="526693"/>
            </a:xfrm>
            <a:custGeom>
              <a:avLst/>
              <a:gdLst/>
              <a:ahLst/>
              <a:cxnLst/>
              <a:rect r="r" b="b" t="t" l="l"/>
              <a:pathLst>
                <a:path h="526693" w="2743200">
                  <a:moveTo>
                    <a:pt x="0" y="0"/>
                  </a:moveTo>
                  <a:lnTo>
                    <a:pt x="2743200" y="0"/>
                  </a:lnTo>
                  <a:lnTo>
                    <a:pt x="2743200" y="526693"/>
                  </a:lnTo>
                  <a:lnTo>
                    <a:pt x="0" y="526693"/>
                  </a:lnTo>
                  <a:close/>
                </a:path>
              </a:pathLst>
            </a:custGeom>
            <a:blipFill>
              <a:blip r:embed="rId2">
                <a:alphaModFix amt="0"/>
              </a:blip>
              <a:stretch>
                <a:fillRect l="0" t="-51484" r="0" b="-51484"/>
              </a:stretch>
            </a:blipFill>
          </p:spPr>
        </p:sp>
        <p:sp>
          <p:nvSpPr>
            <p:cNvPr name="TextBox 25" id="25"/>
            <p:cNvSpPr txBox="true"/>
            <p:nvPr/>
          </p:nvSpPr>
          <p:spPr>
            <a:xfrm>
              <a:off x="0" y="0"/>
              <a:ext cx="2743200" cy="526694"/>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0000</a:t>
              </a:r>
            </a:p>
          </p:txBody>
        </p:sp>
      </p:grpSp>
      <p:grpSp>
        <p:nvGrpSpPr>
          <p:cNvPr name="Group 26" id="26"/>
          <p:cNvGrpSpPr/>
          <p:nvPr/>
        </p:nvGrpSpPr>
        <p:grpSpPr>
          <a:xfrm rot="0">
            <a:off x="3154680" y="2761488"/>
            <a:ext cx="2148840" cy="822960"/>
            <a:chOff x="0" y="0"/>
            <a:chExt cx="2865120" cy="1097280"/>
          </a:xfrm>
        </p:grpSpPr>
        <p:sp>
          <p:nvSpPr>
            <p:cNvPr name="Freeform 27" id="27"/>
            <p:cNvSpPr/>
            <p:nvPr/>
          </p:nvSpPr>
          <p:spPr>
            <a:xfrm flipH="false" flipV="false" rot="0">
              <a:off x="0" y="0"/>
              <a:ext cx="2865120" cy="1097280"/>
            </a:xfrm>
            <a:custGeom>
              <a:avLst/>
              <a:gdLst/>
              <a:ahLst/>
              <a:cxnLst/>
              <a:rect r="r" b="b" t="t" l="l"/>
              <a:pathLst>
                <a:path h="1097280" w="2865120">
                  <a:moveTo>
                    <a:pt x="0" y="182880"/>
                  </a:moveTo>
                  <a:cubicBezTo>
                    <a:pt x="0" y="81915"/>
                    <a:pt x="81915" y="0"/>
                    <a:pt x="182880" y="0"/>
                  </a:cubicBezTo>
                  <a:lnTo>
                    <a:pt x="2682240" y="0"/>
                  </a:lnTo>
                  <a:cubicBezTo>
                    <a:pt x="2783205" y="0"/>
                    <a:pt x="2865120" y="81915"/>
                    <a:pt x="2865120" y="182880"/>
                  </a:cubicBezTo>
                  <a:lnTo>
                    <a:pt x="2865120" y="914400"/>
                  </a:lnTo>
                  <a:cubicBezTo>
                    <a:pt x="2865120" y="1015365"/>
                    <a:pt x="2783205" y="1097280"/>
                    <a:pt x="2682240" y="1097280"/>
                  </a:cubicBezTo>
                  <a:lnTo>
                    <a:pt x="182880" y="1097280"/>
                  </a:lnTo>
                  <a:cubicBezTo>
                    <a:pt x="81915" y="1097280"/>
                    <a:pt x="0" y="1015365"/>
                    <a:pt x="0" y="914400"/>
                  </a:cubicBezTo>
                  <a:close/>
                </a:path>
              </a:pathLst>
            </a:custGeom>
            <a:solidFill>
              <a:srgbClr val="EFF3F7"/>
            </a:solidFill>
          </p:spPr>
        </p:sp>
      </p:grpSp>
      <p:grpSp>
        <p:nvGrpSpPr>
          <p:cNvPr name="Group 28" id="28"/>
          <p:cNvGrpSpPr/>
          <p:nvPr/>
        </p:nvGrpSpPr>
        <p:grpSpPr>
          <a:xfrm rot="0">
            <a:off x="3200400" y="2807208"/>
            <a:ext cx="2057400" cy="345643"/>
            <a:chOff x="0" y="0"/>
            <a:chExt cx="2743200" cy="460858"/>
          </a:xfrm>
        </p:grpSpPr>
        <p:sp>
          <p:nvSpPr>
            <p:cNvPr name="Freeform 29" id="29"/>
            <p:cNvSpPr/>
            <p:nvPr/>
          </p:nvSpPr>
          <p:spPr>
            <a:xfrm flipH="false" flipV="false" rot="0">
              <a:off x="0" y="0"/>
              <a:ext cx="2743200" cy="460857"/>
            </a:xfrm>
            <a:custGeom>
              <a:avLst/>
              <a:gdLst/>
              <a:ahLst/>
              <a:cxnLst/>
              <a:rect r="r" b="b" t="t" l="l"/>
              <a:pathLst>
                <a:path h="460857" w="2743200">
                  <a:moveTo>
                    <a:pt x="0" y="0"/>
                  </a:moveTo>
                  <a:lnTo>
                    <a:pt x="2743200" y="0"/>
                  </a:lnTo>
                  <a:lnTo>
                    <a:pt x="2743200" y="460857"/>
                  </a:lnTo>
                  <a:lnTo>
                    <a:pt x="0" y="460857"/>
                  </a:lnTo>
                  <a:close/>
                </a:path>
              </a:pathLst>
            </a:custGeom>
            <a:blipFill>
              <a:blip r:embed="rId2">
                <a:alphaModFix amt="0"/>
              </a:blip>
              <a:stretch>
                <a:fillRect l="0" t="-65982" r="0" b="-65982"/>
              </a:stretch>
            </a:blipFill>
          </p:spPr>
        </p:sp>
        <p:sp>
          <p:nvSpPr>
            <p:cNvPr name="TextBox 30" id="30"/>
            <p:cNvSpPr txBox="true"/>
            <p:nvPr/>
          </p:nvSpPr>
          <p:spPr>
            <a:xfrm>
              <a:off x="0" y="0"/>
              <a:ext cx="2743200" cy="460858"/>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BYTE 0</a:t>
              </a:r>
            </a:p>
          </p:txBody>
        </p:sp>
      </p:grpSp>
      <p:grpSp>
        <p:nvGrpSpPr>
          <p:cNvPr name="Group 31" id="31"/>
          <p:cNvGrpSpPr/>
          <p:nvPr/>
        </p:nvGrpSpPr>
        <p:grpSpPr>
          <a:xfrm rot="0">
            <a:off x="3200400" y="3115361"/>
            <a:ext cx="2057400" cy="395021"/>
            <a:chOff x="0" y="0"/>
            <a:chExt cx="2743200" cy="526694"/>
          </a:xfrm>
        </p:grpSpPr>
        <p:sp>
          <p:nvSpPr>
            <p:cNvPr name="Freeform 32" id="32"/>
            <p:cNvSpPr/>
            <p:nvPr/>
          </p:nvSpPr>
          <p:spPr>
            <a:xfrm flipH="false" flipV="false" rot="0">
              <a:off x="0" y="0"/>
              <a:ext cx="2743200" cy="526693"/>
            </a:xfrm>
            <a:custGeom>
              <a:avLst/>
              <a:gdLst/>
              <a:ahLst/>
              <a:cxnLst/>
              <a:rect r="r" b="b" t="t" l="l"/>
              <a:pathLst>
                <a:path h="526693" w="2743200">
                  <a:moveTo>
                    <a:pt x="0" y="0"/>
                  </a:moveTo>
                  <a:lnTo>
                    <a:pt x="2743200" y="0"/>
                  </a:lnTo>
                  <a:lnTo>
                    <a:pt x="2743200" y="526693"/>
                  </a:lnTo>
                  <a:lnTo>
                    <a:pt x="0" y="526693"/>
                  </a:lnTo>
                  <a:close/>
                </a:path>
              </a:pathLst>
            </a:custGeom>
            <a:blipFill>
              <a:blip r:embed="rId2">
                <a:alphaModFix amt="0"/>
              </a:blip>
              <a:stretch>
                <a:fillRect l="0" t="-51484" r="0" b="-51484"/>
              </a:stretch>
            </a:blipFill>
          </p:spPr>
        </p:sp>
        <p:sp>
          <p:nvSpPr>
            <p:cNvPr name="TextBox 33" id="33"/>
            <p:cNvSpPr txBox="true"/>
            <p:nvPr/>
          </p:nvSpPr>
          <p:spPr>
            <a:xfrm>
              <a:off x="0" y="0"/>
              <a:ext cx="2743200" cy="526694"/>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0001</a:t>
              </a:r>
            </a:p>
          </p:txBody>
        </p:sp>
      </p:grpSp>
      <p:grpSp>
        <p:nvGrpSpPr>
          <p:cNvPr name="Group 34" id="34"/>
          <p:cNvGrpSpPr/>
          <p:nvPr/>
        </p:nvGrpSpPr>
        <p:grpSpPr>
          <a:xfrm rot="0">
            <a:off x="5559552" y="2761488"/>
            <a:ext cx="2148840" cy="822960"/>
            <a:chOff x="0" y="0"/>
            <a:chExt cx="2865120" cy="1097280"/>
          </a:xfrm>
        </p:grpSpPr>
        <p:sp>
          <p:nvSpPr>
            <p:cNvPr name="Freeform 35" id="35"/>
            <p:cNvSpPr/>
            <p:nvPr/>
          </p:nvSpPr>
          <p:spPr>
            <a:xfrm flipH="false" flipV="false" rot="0">
              <a:off x="0" y="0"/>
              <a:ext cx="2865120" cy="1097280"/>
            </a:xfrm>
            <a:custGeom>
              <a:avLst/>
              <a:gdLst/>
              <a:ahLst/>
              <a:cxnLst/>
              <a:rect r="r" b="b" t="t" l="l"/>
              <a:pathLst>
                <a:path h="1097280" w="2865120">
                  <a:moveTo>
                    <a:pt x="0" y="182880"/>
                  </a:moveTo>
                  <a:cubicBezTo>
                    <a:pt x="0" y="81915"/>
                    <a:pt x="81915" y="0"/>
                    <a:pt x="182880" y="0"/>
                  </a:cubicBezTo>
                  <a:lnTo>
                    <a:pt x="2682240" y="0"/>
                  </a:lnTo>
                  <a:cubicBezTo>
                    <a:pt x="2783205" y="0"/>
                    <a:pt x="2865120" y="81915"/>
                    <a:pt x="2865120" y="182880"/>
                  </a:cubicBezTo>
                  <a:lnTo>
                    <a:pt x="2865120" y="914400"/>
                  </a:lnTo>
                  <a:cubicBezTo>
                    <a:pt x="2865120" y="1015365"/>
                    <a:pt x="2783205" y="1097280"/>
                    <a:pt x="2682240" y="1097280"/>
                  </a:cubicBezTo>
                  <a:lnTo>
                    <a:pt x="182880" y="1097280"/>
                  </a:lnTo>
                  <a:cubicBezTo>
                    <a:pt x="81915" y="1097280"/>
                    <a:pt x="0" y="1015365"/>
                    <a:pt x="0" y="914400"/>
                  </a:cubicBezTo>
                  <a:close/>
                </a:path>
              </a:pathLst>
            </a:custGeom>
            <a:solidFill>
              <a:srgbClr val="EFF3F7"/>
            </a:solidFill>
          </p:spPr>
        </p:sp>
      </p:grpSp>
      <p:grpSp>
        <p:nvGrpSpPr>
          <p:cNvPr name="Group 36" id="36"/>
          <p:cNvGrpSpPr/>
          <p:nvPr/>
        </p:nvGrpSpPr>
        <p:grpSpPr>
          <a:xfrm rot="0">
            <a:off x="5605272" y="2807208"/>
            <a:ext cx="2057400" cy="345643"/>
            <a:chOff x="0" y="0"/>
            <a:chExt cx="2743200" cy="460858"/>
          </a:xfrm>
        </p:grpSpPr>
        <p:sp>
          <p:nvSpPr>
            <p:cNvPr name="Freeform 37" id="37"/>
            <p:cNvSpPr/>
            <p:nvPr/>
          </p:nvSpPr>
          <p:spPr>
            <a:xfrm flipH="false" flipV="false" rot="0">
              <a:off x="0" y="0"/>
              <a:ext cx="2743200" cy="460857"/>
            </a:xfrm>
            <a:custGeom>
              <a:avLst/>
              <a:gdLst/>
              <a:ahLst/>
              <a:cxnLst/>
              <a:rect r="r" b="b" t="t" l="l"/>
              <a:pathLst>
                <a:path h="460857" w="2743200">
                  <a:moveTo>
                    <a:pt x="0" y="0"/>
                  </a:moveTo>
                  <a:lnTo>
                    <a:pt x="2743200" y="0"/>
                  </a:lnTo>
                  <a:lnTo>
                    <a:pt x="2743200" y="460857"/>
                  </a:lnTo>
                  <a:lnTo>
                    <a:pt x="0" y="460857"/>
                  </a:lnTo>
                  <a:close/>
                </a:path>
              </a:pathLst>
            </a:custGeom>
            <a:blipFill>
              <a:blip r:embed="rId2">
                <a:alphaModFix amt="0"/>
              </a:blip>
              <a:stretch>
                <a:fillRect l="0" t="-65982" r="0" b="-65982"/>
              </a:stretch>
            </a:blipFill>
          </p:spPr>
        </p:sp>
        <p:sp>
          <p:nvSpPr>
            <p:cNvPr name="TextBox 38" id="38"/>
            <p:cNvSpPr txBox="true"/>
            <p:nvPr/>
          </p:nvSpPr>
          <p:spPr>
            <a:xfrm>
              <a:off x="0" y="0"/>
              <a:ext cx="2743200" cy="460858"/>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BYTE 1</a:t>
              </a:r>
            </a:p>
          </p:txBody>
        </p:sp>
      </p:grpSp>
      <p:grpSp>
        <p:nvGrpSpPr>
          <p:cNvPr name="Group 39" id="39"/>
          <p:cNvGrpSpPr/>
          <p:nvPr/>
        </p:nvGrpSpPr>
        <p:grpSpPr>
          <a:xfrm rot="0">
            <a:off x="5605272" y="3115361"/>
            <a:ext cx="2057400" cy="395021"/>
            <a:chOff x="0" y="0"/>
            <a:chExt cx="2743200" cy="526694"/>
          </a:xfrm>
        </p:grpSpPr>
        <p:sp>
          <p:nvSpPr>
            <p:cNvPr name="Freeform 40" id="40"/>
            <p:cNvSpPr/>
            <p:nvPr/>
          </p:nvSpPr>
          <p:spPr>
            <a:xfrm flipH="false" flipV="false" rot="0">
              <a:off x="0" y="0"/>
              <a:ext cx="2743200" cy="526693"/>
            </a:xfrm>
            <a:custGeom>
              <a:avLst/>
              <a:gdLst/>
              <a:ahLst/>
              <a:cxnLst/>
              <a:rect r="r" b="b" t="t" l="l"/>
              <a:pathLst>
                <a:path h="526693" w="2743200">
                  <a:moveTo>
                    <a:pt x="0" y="0"/>
                  </a:moveTo>
                  <a:lnTo>
                    <a:pt x="2743200" y="0"/>
                  </a:lnTo>
                  <a:lnTo>
                    <a:pt x="2743200" y="526693"/>
                  </a:lnTo>
                  <a:lnTo>
                    <a:pt x="0" y="526693"/>
                  </a:lnTo>
                  <a:close/>
                </a:path>
              </a:pathLst>
            </a:custGeom>
            <a:blipFill>
              <a:blip r:embed="rId2">
                <a:alphaModFix amt="0"/>
              </a:blip>
              <a:stretch>
                <a:fillRect l="0" t="-51484" r="0" b="-51484"/>
              </a:stretch>
            </a:blipFill>
          </p:spPr>
        </p:sp>
        <p:sp>
          <p:nvSpPr>
            <p:cNvPr name="TextBox 41" id="41"/>
            <p:cNvSpPr txBox="true"/>
            <p:nvPr/>
          </p:nvSpPr>
          <p:spPr>
            <a:xfrm>
              <a:off x="0" y="0"/>
              <a:ext cx="2743200" cy="526694"/>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0010</a:t>
              </a:r>
            </a:p>
          </p:txBody>
        </p:sp>
      </p:grpSp>
      <p:grpSp>
        <p:nvGrpSpPr>
          <p:cNvPr name="Group 42" id="42"/>
          <p:cNvGrpSpPr/>
          <p:nvPr/>
        </p:nvGrpSpPr>
        <p:grpSpPr>
          <a:xfrm rot="0">
            <a:off x="7964424" y="2761488"/>
            <a:ext cx="2148840" cy="822960"/>
            <a:chOff x="0" y="0"/>
            <a:chExt cx="2865120" cy="1097280"/>
          </a:xfrm>
        </p:grpSpPr>
        <p:sp>
          <p:nvSpPr>
            <p:cNvPr name="Freeform 43" id="43"/>
            <p:cNvSpPr/>
            <p:nvPr/>
          </p:nvSpPr>
          <p:spPr>
            <a:xfrm flipH="false" flipV="false" rot="0">
              <a:off x="0" y="0"/>
              <a:ext cx="2865120" cy="1097280"/>
            </a:xfrm>
            <a:custGeom>
              <a:avLst/>
              <a:gdLst/>
              <a:ahLst/>
              <a:cxnLst/>
              <a:rect r="r" b="b" t="t" l="l"/>
              <a:pathLst>
                <a:path h="1097280" w="2865120">
                  <a:moveTo>
                    <a:pt x="0" y="182880"/>
                  </a:moveTo>
                  <a:cubicBezTo>
                    <a:pt x="0" y="81915"/>
                    <a:pt x="81915" y="0"/>
                    <a:pt x="182880" y="0"/>
                  </a:cubicBezTo>
                  <a:lnTo>
                    <a:pt x="2682240" y="0"/>
                  </a:lnTo>
                  <a:cubicBezTo>
                    <a:pt x="2783205" y="0"/>
                    <a:pt x="2865120" y="81915"/>
                    <a:pt x="2865120" y="182880"/>
                  </a:cubicBezTo>
                  <a:lnTo>
                    <a:pt x="2865120" y="914400"/>
                  </a:lnTo>
                  <a:cubicBezTo>
                    <a:pt x="2865120" y="1015365"/>
                    <a:pt x="2783205" y="1097280"/>
                    <a:pt x="2682240" y="1097280"/>
                  </a:cubicBezTo>
                  <a:lnTo>
                    <a:pt x="182880" y="1097280"/>
                  </a:lnTo>
                  <a:cubicBezTo>
                    <a:pt x="81915" y="1097280"/>
                    <a:pt x="0" y="1015365"/>
                    <a:pt x="0" y="914400"/>
                  </a:cubicBezTo>
                  <a:close/>
                </a:path>
              </a:pathLst>
            </a:custGeom>
            <a:solidFill>
              <a:srgbClr val="EFF3F7"/>
            </a:solidFill>
          </p:spPr>
        </p:sp>
      </p:grpSp>
      <p:grpSp>
        <p:nvGrpSpPr>
          <p:cNvPr name="Group 44" id="44"/>
          <p:cNvGrpSpPr/>
          <p:nvPr/>
        </p:nvGrpSpPr>
        <p:grpSpPr>
          <a:xfrm rot="0">
            <a:off x="8010144" y="2807208"/>
            <a:ext cx="2057400" cy="345643"/>
            <a:chOff x="0" y="0"/>
            <a:chExt cx="2743200" cy="460858"/>
          </a:xfrm>
        </p:grpSpPr>
        <p:sp>
          <p:nvSpPr>
            <p:cNvPr name="Freeform 45" id="45"/>
            <p:cNvSpPr/>
            <p:nvPr/>
          </p:nvSpPr>
          <p:spPr>
            <a:xfrm flipH="false" flipV="false" rot="0">
              <a:off x="0" y="0"/>
              <a:ext cx="2743200" cy="460857"/>
            </a:xfrm>
            <a:custGeom>
              <a:avLst/>
              <a:gdLst/>
              <a:ahLst/>
              <a:cxnLst/>
              <a:rect r="r" b="b" t="t" l="l"/>
              <a:pathLst>
                <a:path h="460857" w="2743200">
                  <a:moveTo>
                    <a:pt x="0" y="0"/>
                  </a:moveTo>
                  <a:lnTo>
                    <a:pt x="2743200" y="0"/>
                  </a:lnTo>
                  <a:lnTo>
                    <a:pt x="2743200" y="460857"/>
                  </a:lnTo>
                  <a:lnTo>
                    <a:pt x="0" y="460857"/>
                  </a:lnTo>
                  <a:close/>
                </a:path>
              </a:pathLst>
            </a:custGeom>
            <a:blipFill>
              <a:blip r:embed="rId2">
                <a:alphaModFix amt="0"/>
              </a:blip>
              <a:stretch>
                <a:fillRect l="0" t="-65982" r="0" b="-65982"/>
              </a:stretch>
            </a:blipFill>
          </p:spPr>
        </p:sp>
        <p:sp>
          <p:nvSpPr>
            <p:cNvPr name="TextBox 46" id="46"/>
            <p:cNvSpPr txBox="true"/>
            <p:nvPr/>
          </p:nvSpPr>
          <p:spPr>
            <a:xfrm>
              <a:off x="0" y="0"/>
              <a:ext cx="2743200" cy="460858"/>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BYTE 2</a:t>
              </a:r>
            </a:p>
          </p:txBody>
        </p:sp>
      </p:grpSp>
      <p:grpSp>
        <p:nvGrpSpPr>
          <p:cNvPr name="Group 47" id="47"/>
          <p:cNvGrpSpPr/>
          <p:nvPr/>
        </p:nvGrpSpPr>
        <p:grpSpPr>
          <a:xfrm rot="0">
            <a:off x="8010144" y="3115361"/>
            <a:ext cx="2057400" cy="395021"/>
            <a:chOff x="0" y="0"/>
            <a:chExt cx="2743200" cy="526694"/>
          </a:xfrm>
        </p:grpSpPr>
        <p:sp>
          <p:nvSpPr>
            <p:cNvPr name="Freeform 48" id="48"/>
            <p:cNvSpPr/>
            <p:nvPr/>
          </p:nvSpPr>
          <p:spPr>
            <a:xfrm flipH="false" flipV="false" rot="0">
              <a:off x="0" y="0"/>
              <a:ext cx="2743200" cy="526693"/>
            </a:xfrm>
            <a:custGeom>
              <a:avLst/>
              <a:gdLst/>
              <a:ahLst/>
              <a:cxnLst/>
              <a:rect r="r" b="b" t="t" l="l"/>
              <a:pathLst>
                <a:path h="526693" w="2743200">
                  <a:moveTo>
                    <a:pt x="0" y="0"/>
                  </a:moveTo>
                  <a:lnTo>
                    <a:pt x="2743200" y="0"/>
                  </a:lnTo>
                  <a:lnTo>
                    <a:pt x="2743200" y="526693"/>
                  </a:lnTo>
                  <a:lnTo>
                    <a:pt x="0" y="526693"/>
                  </a:lnTo>
                  <a:close/>
                </a:path>
              </a:pathLst>
            </a:custGeom>
            <a:blipFill>
              <a:blip r:embed="rId2">
                <a:alphaModFix amt="0"/>
              </a:blip>
              <a:stretch>
                <a:fillRect l="0" t="-51484" r="0" b="-51484"/>
              </a:stretch>
            </a:blipFill>
          </p:spPr>
        </p:sp>
        <p:sp>
          <p:nvSpPr>
            <p:cNvPr name="TextBox 49" id="49"/>
            <p:cNvSpPr txBox="true"/>
            <p:nvPr/>
          </p:nvSpPr>
          <p:spPr>
            <a:xfrm>
              <a:off x="0" y="0"/>
              <a:ext cx="2743200" cy="526694"/>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0100</a:t>
              </a:r>
            </a:p>
          </p:txBody>
        </p:sp>
      </p:grpSp>
      <p:grpSp>
        <p:nvGrpSpPr>
          <p:cNvPr name="Group 50" id="50"/>
          <p:cNvGrpSpPr/>
          <p:nvPr/>
        </p:nvGrpSpPr>
        <p:grpSpPr>
          <a:xfrm rot="0">
            <a:off x="749808" y="3840480"/>
            <a:ext cx="2148840" cy="822960"/>
            <a:chOff x="0" y="0"/>
            <a:chExt cx="2865120" cy="1097280"/>
          </a:xfrm>
        </p:grpSpPr>
        <p:sp>
          <p:nvSpPr>
            <p:cNvPr name="Freeform 51" id="51"/>
            <p:cNvSpPr/>
            <p:nvPr/>
          </p:nvSpPr>
          <p:spPr>
            <a:xfrm flipH="false" flipV="false" rot="0">
              <a:off x="0" y="0"/>
              <a:ext cx="2865120" cy="1097280"/>
            </a:xfrm>
            <a:custGeom>
              <a:avLst/>
              <a:gdLst/>
              <a:ahLst/>
              <a:cxnLst/>
              <a:rect r="r" b="b" t="t" l="l"/>
              <a:pathLst>
                <a:path h="1097280" w="2865120">
                  <a:moveTo>
                    <a:pt x="0" y="182880"/>
                  </a:moveTo>
                  <a:cubicBezTo>
                    <a:pt x="0" y="81915"/>
                    <a:pt x="81915" y="0"/>
                    <a:pt x="182880" y="0"/>
                  </a:cubicBezTo>
                  <a:lnTo>
                    <a:pt x="2682240" y="0"/>
                  </a:lnTo>
                  <a:cubicBezTo>
                    <a:pt x="2783205" y="0"/>
                    <a:pt x="2865120" y="81915"/>
                    <a:pt x="2865120" y="182880"/>
                  </a:cubicBezTo>
                  <a:lnTo>
                    <a:pt x="2865120" y="914400"/>
                  </a:lnTo>
                  <a:cubicBezTo>
                    <a:pt x="2865120" y="1015365"/>
                    <a:pt x="2783205" y="1097280"/>
                    <a:pt x="2682240" y="1097280"/>
                  </a:cubicBezTo>
                  <a:lnTo>
                    <a:pt x="182880" y="1097280"/>
                  </a:lnTo>
                  <a:cubicBezTo>
                    <a:pt x="81915" y="1097280"/>
                    <a:pt x="0" y="1015365"/>
                    <a:pt x="0" y="914400"/>
                  </a:cubicBezTo>
                  <a:close/>
                </a:path>
              </a:pathLst>
            </a:custGeom>
            <a:solidFill>
              <a:srgbClr val="E1EAF2"/>
            </a:solidFill>
          </p:spPr>
        </p:sp>
      </p:grpSp>
      <p:grpSp>
        <p:nvGrpSpPr>
          <p:cNvPr name="Group 52" id="52"/>
          <p:cNvGrpSpPr/>
          <p:nvPr/>
        </p:nvGrpSpPr>
        <p:grpSpPr>
          <a:xfrm rot="0">
            <a:off x="795528" y="3886200"/>
            <a:ext cx="2057400" cy="345643"/>
            <a:chOff x="0" y="0"/>
            <a:chExt cx="2743200" cy="460858"/>
          </a:xfrm>
        </p:grpSpPr>
        <p:sp>
          <p:nvSpPr>
            <p:cNvPr name="Freeform 53" id="53"/>
            <p:cNvSpPr/>
            <p:nvPr/>
          </p:nvSpPr>
          <p:spPr>
            <a:xfrm flipH="false" flipV="false" rot="0">
              <a:off x="0" y="0"/>
              <a:ext cx="2743200" cy="460857"/>
            </a:xfrm>
            <a:custGeom>
              <a:avLst/>
              <a:gdLst/>
              <a:ahLst/>
              <a:cxnLst/>
              <a:rect r="r" b="b" t="t" l="l"/>
              <a:pathLst>
                <a:path h="460857" w="2743200">
                  <a:moveTo>
                    <a:pt x="0" y="0"/>
                  </a:moveTo>
                  <a:lnTo>
                    <a:pt x="2743200" y="0"/>
                  </a:lnTo>
                  <a:lnTo>
                    <a:pt x="2743200" y="460857"/>
                  </a:lnTo>
                  <a:lnTo>
                    <a:pt x="0" y="460857"/>
                  </a:lnTo>
                  <a:close/>
                </a:path>
              </a:pathLst>
            </a:custGeom>
            <a:blipFill>
              <a:blip r:embed="rId2">
                <a:alphaModFix amt="0"/>
              </a:blip>
              <a:stretch>
                <a:fillRect l="0" t="-65982" r="0" b="-65982"/>
              </a:stretch>
            </a:blipFill>
          </p:spPr>
        </p:sp>
        <p:sp>
          <p:nvSpPr>
            <p:cNvPr name="TextBox 54" id="54"/>
            <p:cNvSpPr txBox="true"/>
            <p:nvPr/>
          </p:nvSpPr>
          <p:spPr>
            <a:xfrm>
              <a:off x="0" y="0"/>
              <a:ext cx="2743200" cy="460858"/>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BYTE 3</a:t>
              </a:r>
            </a:p>
          </p:txBody>
        </p:sp>
      </p:grpSp>
      <p:grpSp>
        <p:nvGrpSpPr>
          <p:cNvPr name="Group 55" id="55"/>
          <p:cNvGrpSpPr/>
          <p:nvPr/>
        </p:nvGrpSpPr>
        <p:grpSpPr>
          <a:xfrm rot="0">
            <a:off x="795528" y="4194353"/>
            <a:ext cx="2057400" cy="395021"/>
            <a:chOff x="0" y="0"/>
            <a:chExt cx="2743200" cy="526694"/>
          </a:xfrm>
        </p:grpSpPr>
        <p:sp>
          <p:nvSpPr>
            <p:cNvPr name="Freeform 56" id="56"/>
            <p:cNvSpPr/>
            <p:nvPr/>
          </p:nvSpPr>
          <p:spPr>
            <a:xfrm flipH="false" flipV="false" rot="0">
              <a:off x="0" y="0"/>
              <a:ext cx="2743200" cy="526693"/>
            </a:xfrm>
            <a:custGeom>
              <a:avLst/>
              <a:gdLst/>
              <a:ahLst/>
              <a:cxnLst/>
              <a:rect r="r" b="b" t="t" l="l"/>
              <a:pathLst>
                <a:path h="526693" w="2743200">
                  <a:moveTo>
                    <a:pt x="0" y="0"/>
                  </a:moveTo>
                  <a:lnTo>
                    <a:pt x="2743200" y="0"/>
                  </a:lnTo>
                  <a:lnTo>
                    <a:pt x="2743200" y="526693"/>
                  </a:lnTo>
                  <a:lnTo>
                    <a:pt x="0" y="526693"/>
                  </a:lnTo>
                  <a:close/>
                </a:path>
              </a:pathLst>
            </a:custGeom>
            <a:blipFill>
              <a:blip r:embed="rId2">
                <a:alphaModFix amt="0"/>
              </a:blip>
              <a:stretch>
                <a:fillRect l="0" t="-51484" r="0" b="-51484"/>
              </a:stretch>
            </a:blipFill>
          </p:spPr>
        </p:sp>
        <p:sp>
          <p:nvSpPr>
            <p:cNvPr name="TextBox 57" id="57"/>
            <p:cNvSpPr txBox="true"/>
            <p:nvPr/>
          </p:nvSpPr>
          <p:spPr>
            <a:xfrm>
              <a:off x="0" y="0"/>
              <a:ext cx="2743200" cy="526694"/>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1000</a:t>
              </a:r>
            </a:p>
          </p:txBody>
        </p:sp>
      </p:grpSp>
      <p:grpSp>
        <p:nvGrpSpPr>
          <p:cNvPr name="Group 58" id="58"/>
          <p:cNvGrpSpPr/>
          <p:nvPr/>
        </p:nvGrpSpPr>
        <p:grpSpPr>
          <a:xfrm rot="0">
            <a:off x="3154680" y="3840480"/>
            <a:ext cx="2148840" cy="822960"/>
            <a:chOff x="0" y="0"/>
            <a:chExt cx="2865120" cy="1097280"/>
          </a:xfrm>
        </p:grpSpPr>
        <p:sp>
          <p:nvSpPr>
            <p:cNvPr name="Freeform 59" id="59"/>
            <p:cNvSpPr/>
            <p:nvPr/>
          </p:nvSpPr>
          <p:spPr>
            <a:xfrm flipH="false" flipV="false" rot="0">
              <a:off x="0" y="0"/>
              <a:ext cx="2865120" cy="1097280"/>
            </a:xfrm>
            <a:custGeom>
              <a:avLst/>
              <a:gdLst/>
              <a:ahLst/>
              <a:cxnLst/>
              <a:rect r="r" b="b" t="t" l="l"/>
              <a:pathLst>
                <a:path h="1097280" w="2865120">
                  <a:moveTo>
                    <a:pt x="0" y="182880"/>
                  </a:moveTo>
                  <a:cubicBezTo>
                    <a:pt x="0" y="81915"/>
                    <a:pt x="81915" y="0"/>
                    <a:pt x="182880" y="0"/>
                  </a:cubicBezTo>
                  <a:lnTo>
                    <a:pt x="2682240" y="0"/>
                  </a:lnTo>
                  <a:cubicBezTo>
                    <a:pt x="2783205" y="0"/>
                    <a:pt x="2865120" y="81915"/>
                    <a:pt x="2865120" y="182880"/>
                  </a:cubicBezTo>
                  <a:lnTo>
                    <a:pt x="2865120" y="914400"/>
                  </a:lnTo>
                  <a:cubicBezTo>
                    <a:pt x="2865120" y="1015365"/>
                    <a:pt x="2783205" y="1097280"/>
                    <a:pt x="2682240" y="1097280"/>
                  </a:cubicBezTo>
                  <a:lnTo>
                    <a:pt x="182880" y="1097280"/>
                  </a:lnTo>
                  <a:cubicBezTo>
                    <a:pt x="81915" y="1097280"/>
                    <a:pt x="0" y="1015365"/>
                    <a:pt x="0" y="914400"/>
                  </a:cubicBezTo>
                  <a:close/>
                </a:path>
              </a:pathLst>
            </a:custGeom>
            <a:solidFill>
              <a:srgbClr val="E1EAF2"/>
            </a:solidFill>
          </p:spPr>
        </p:sp>
      </p:grpSp>
      <p:grpSp>
        <p:nvGrpSpPr>
          <p:cNvPr name="Group 60" id="60"/>
          <p:cNvGrpSpPr/>
          <p:nvPr/>
        </p:nvGrpSpPr>
        <p:grpSpPr>
          <a:xfrm rot="0">
            <a:off x="3200400" y="3886200"/>
            <a:ext cx="2057400" cy="345643"/>
            <a:chOff x="0" y="0"/>
            <a:chExt cx="2743200" cy="460858"/>
          </a:xfrm>
        </p:grpSpPr>
        <p:sp>
          <p:nvSpPr>
            <p:cNvPr name="Freeform 61" id="61"/>
            <p:cNvSpPr/>
            <p:nvPr/>
          </p:nvSpPr>
          <p:spPr>
            <a:xfrm flipH="false" flipV="false" rot="0">
              <a:off x="0" y="0"/>
              <a:ext cx="2743200" cy="460857"/>
            </a:xfrm>
            <a:custGeom>
              <a:avLst/>
              <a:gdLst/>
              <a:ahLst/>
              <a:cxnLst/>
              <a:rect r="r" b="b" t="t" l="l"/>
              <a:pathLst>
                <a:path h="460857" w="2743200">
                  <a:moveTo>
                    <a:pt x="0" y="0"/>
                  </a:moveTo>
                  <a:lnTo>
                    <a:pt x="2743200" y="0"/>
                  </a:lnTo>
                  <a:lnTo>
                    <a:pt x="2743200" y="460857"/>
                  </a:lnTo>
                  <a:lnTo>
                    <a:pt x="0" y="460857"/>
                  </a:lnTo>
                  <a:close/>
                </a:path>
              </a:pathLst>
            </a:custGeom>
            <a:blipFill>
              <a:blip r:embed="rId2">
                <a:alphaModFix amt="0"/>
              </a:blip>
              <a:stretch>
                <a:fillRect l="0" t="-65982" r="0" b="-65982"/>
              </a:stretch>
            </a:blipFill>
          </p:spPr>
        </p:sp>
        <p:sp>
          <p:nvSpPr>
            <p:cNvPr name="TextBox 62" id="62"/>
            <p:cNvSpPr txBox="true"/>
            <p:nvPr/>
          </p:nvSpPr>
          <p:spPr>
            <a:xfrm>
              <a:off x="0" y="0"/>
              <a:ext cx="2743200" cy="460858"/>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HALFWORD LOW</a:t>
              </a:r>
            </a:p>
          </p:txBody>
        </p:sp>
      </p:grpSp>
      <p:grpSp>
        <p:nvGrpSpPr>
          <p:cNvPr name="Group 63" id="63"/>
          <p:cNvGrpSpPr/>
          <p:nvPr/>
        </p:nvGrpSpPr>
        <p:grpSpPr>
          <a:xfrm rot="0">
            <a:off x="3200400" y="4194353"/>
            <a:ext cx="2057400" cy="395021"/>
            <a:chOff x="0" y="0"/>
            <a:chExt cx="2743200" cy="526694"/>
          </a:xfrm>
        </p:grpSpPr>
        <p:sp>
          <p:nvSpPr>
            <p:cNvPr name="Freeform 64" id="64"/>
            <p:cNvSpPr/>
            <p:nvPr/>
          </p:nvSpPr>
          <p:spPr>
            <a:xfrm flipH="false" flipV="false" rot="0">
              <a:off x="0" y="0"/>
              <a:ext cx="2743200" cy="526693"/>
            </a:xfrm>
            <a:custGeom>
              <a:avLst/>
              <a:gdLst/>
              <a:ahLst/>
              <a:cxnLst/>
              <a:rect r="r" b="b" t="t" l="l"/>
              <a:pathLst>
                <a:path h="526693" w="2743200">
                  <a:moveTo>
                    <a:pt x="0" y="0"/>
                  </a:moveTo>
                  <a:lnTo>
                    <a:pt x="2743200" y="0"/>
                  </a:lnTo>
                  <a:lnTo>
                    <a:pt x="2743200" y="526693"/>
                  </a:lnTo>
                  <a:lnTo>
                    <a:pt x="0" y="526693"/>
                  </a:lnTo>
                  <a:close/>
                </a:path>
              </a:pathLst>
            </a:custGeom>
            <a:blipFill>
              <a:blip r:embed="rId2">
                <a:alphaModFix amt="0"/>
              </a:blip>
              <a:stretch>
                <a:fillRect l="0" t="-51484" r="0" b="-51484"/>
              </a:stretch>
            </a:blipFill>
          </p:spPr>
        </p:sp>
        <p:sp>
          <p:nvSpPr>
            <p:cNvPr name="TextBox 65" id="65"/>
            <p:cNvSpPr txBox="true"/>
            <p:nvPr/>
          </p:nvSpPr>
          <p:spPr>
            <a:xfrm>
              <a:off x="0" y="0"/>
              <a:ext cx="2743200" cy="526694"/>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0011</a:t>
              </a:r>
            </a:p>
          </p:txBody>
        </p:sp>
      </p:grpSp>
      <p:grpSp>
        <p:nvGrpSpPr>
          <p:cNvPr name="Group 66" id="66"/>
          <p:cNvGrpSpPr/>
          <p:nvPr/>
        </p:nvGrpSpPr>
        <p:grpSpPr>
          <a:xfrm rot="0">
            <a:off x="5559552" y="3840480"/>
            <a:ext cx="2148840" cy="822960"/>
            <a:chOff x="0" y="0"/>
            <a:chExt cx="2865120" cy="1097280"/>
          </a:xfrm>
        </p:grpSpPr>
        <p:sp>
          <p:nvSpPr>
            <p:cNvPr name="Freeform 67" id="67"/>
            <p:cNvSpPr/>
            <p:nvPr/>
          </p:nvSpPr>
          <p:spPr>
            <a:xfrm flipH="false" flipV="false" rot="0">
              <a:off x="0" y="0"/>
              <a:ext cx="2865120" cy="1097280"/>
            </a:xfrm>
            <a:custGeom>
              <a:avLst/>
              <a:gdLst/>
              <a:ahLst/>
              <a:cxnLst/>
              <a:rect r="r" b="b" t="t" l="l"/>
              <a:pathLst>
                <a:path h="1097280" w="2865120">
                  <a:moveTo>
                    <a:pt x="0" y="182880"/>
                  </a:moveTo>
                  <a:cubicBezTo>
                    <a:pt x="0" y="81915"/>
                    <a:pt x="81915" y="0"/>
                    <a:pt x="182880" y="0"/>
                  </a:cubicBezTo>
                  <a:lnTo>
                    <a:pt x="2682240" y="0"/>
                  </a:lnTo>
                  <a:cubicBezTo>
                    <a:pt x="2783205" y="0"/>
                    <a:pt x="2865120" y="81915"/>
                    <a:pt x="2865120" y="182880"/>
                  </a:cubicBezTo>
                  <a:lnTo>
                    <a:pt x="2865120" y="914400"/>
                  </a:lnTo>
                  <a:cubicBezTo>
                    <a:pt x="2865120" y="1015365"/>
                    <a:pt x="2783205" y="1097280"/>
                    <a:pt x="2682240" y="1097280"/>
                  </a:cubicBezTo>
                  <a:lnTo>
                    <a:pt x="182880" y="1097280"/>
                  </a:lnTo>
                  <a:cubicBezTo>
                    <a:pt x="81915" y="1097280"/>
                    <a:pt x="0" y="1015365"/>
                    <a:pt x="0" y="914400"/>
                  </a:cubicBezTo>
                  <a:close/>
                </a:path>
              </a:pathLst>
            </a:custGeom>
            <a:solidFill>
              <a:srgbClr val="E1EAF2"/>
            </a:solidFill>
          </p:spPr>
        </p:sp>
      </p:grpSp>
      <p:grpSp>
        <p:nvGrpSpPr>
          <p:cNvPr name="Group 68" id="68"/>
          <p:cNvGrpSpPr/>
          <p:nvPr/>
        </p:nvGrpSpPr>
        <p:grpSpPr>
          <a:xfrm rot="0">
            <a:off x="5605272" y="3886200"/>
            <a:ext cx="2057400" cy="345643"/>
            <a:chOff x="0" y="0"/>
            <a:chExt cx="2743200" cy="460858"/>
          </a:xfrm>
        </p:grpSpPr>
        <p:sp>
          <p:nvSpPr>
            <p:cNvPr name="Freeform 69" id="69"/>
            <p:cNvSpPr/>
            <p:nvPr/>
          </p:nvSpPr>
          <p:spPr>
            <a:xfrm flipH="false" flipV="false" rot="0">
              <a:off x="0" y="0"/>
              <a:ext cx="2743200" cy="460857"/>
            </a:xfrm>
            <a:custGeom>
              <a:avLst/>
              <a:gdLst/>
              <a:ahLst/>
              <a:cxnLst/>
              <a:rect r="r" b="b" t="t" l="l"/>
              <a:pathLst>
                <a:path h="460857" w="2743200">
                  <a:moveTo>
                    <a:pt x="0" y="0"/>
                  </a:moveTo>
                  <a:lnTo>
                    <a:pt x="2743200" y="0"/>
                  </a:lnTo>
                  <a:lnTo>
                    <a:pt x="2743200" y="460857"/>
                  </a:lnTo>
                  <a:lnTo>
                    <a:pt x="0" y="460857"/>
                  </a:lnTo>
                  <a:close/>
                </a:path>
              </a:pathLst>
            </a:custGeom>
            <a:blipFill>
              <a:blip r:embed="rId2">
                <a:alphaModFix amt="0"/>
              </a:blip>
              <a:stretch>
                <a:fillRect l="0" t="-65982" r="0" b="-65982"/>
              </a:stretch>
            </a:blipFill>
          </p:spPr>
        </p:sp>
        <p:sp>
          <p:nvSpPr>
            <p:cNvPr name="TextBox 70" id="70"/>
            <p:cNvSpPr txBox="true"/>
            <p:nvPr/>
          </p:nvSpPr>
          <p:spPr>
            <a:xfrm>
              <a:off x="0" y="0"/>
              <a:ext cx="2743200" cy="460858"/>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HALFWORD HIGH</a:t>
              </a:r>
            </a:p>
          </p:txBody>
        </p:sp>
      </p:grpSp>
      <p:grpSp>
        <p:nvGrpSpPr>
          <p:cNvPr name="Group 71" id="71"/>
          <p:cNvGrpSpPr/>
          <p:nvPr/>
        </p:nvGrpSpPr>
        <p:grpSpPr>
          <a:xfrm rot="0">
            <a:off x="5605272" y="4194353"/>
            <a:ext cx="2057400" cy="395021"/>
            <a:chOff x="0" y="0"/>
            <a:chExt cx="2743200" cy="526694"/>
          </a:xfrm>
        </p:grpSpPr>
        <p:sp>
          <p:nvSpPr>
            <p:cNvPr name="Freeform 72" id="72"/>
            <p:cNvSpPr/>
            <p:nvPr/>
          </p:nvSpPr>
          <p:spPr>
            <a:xfrm flipH="false" flipV="false" rot="0">
              <a:off x="0" y="0"/>
              <a:ext cx="2743200" cy="526693"/>
            </a:xfrm>
            <a:custGeom>
              <a:avLst/>
              <a:gdLst/>
              <a:ahLst/>
              <a:cxnLst/>
              <a:rect r="r" b="b" t="t" l="l"/>
              <a:pathLst>
                <a:path h="526693" w="2743200">
                  <a:moveTo>
                    <a:pt x="0" y="0"/>
                  </a:moveTo>
                  <a:lnTo>
                    <a:pt x="2743200" y="0"/>
                  </a:lnTo>
                  <a:lnTo>
                    <a:pt x="2743200" y="526693"/>
                  </a:lnTo>
                  <a:lnTo>
                    <a:pt x="0" y="526693"/>
                  </a:lnTo>
                  <a:close/>
                </a:path>
              </a:pathLst>
            </a:custGeom>
            <a:blipFill>
              <a:blip r:embed="rId2">
                <a:alphaModFix amt="0"/>
              </a:blip>
              <a:stretch>
                <a:fillRect l="0" t="-51484" r="0" b="-51484"/>
              </a:stretch>
            </a:blipFill>
          </p:spPr>
        </p:sp>
        <p:sp>
          <p:nvSpPr>
            <p:cNvPr name="TextBox 73" id="73"/>
            <p:cNvSpPr txBox="true"/>
            <p:nvPr/>
          </p:nvSpPr>
          <p:spPr>
            <a:xfrm>
              <a:off x="0" y="0"/>
              <a:ext cx="2743200" cy="526694"/>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1100</a:t>
              </a:r>
            </a:p>
          </p:txBody>
        </p:sp>
      </p:grpSp>
      <p:grpSp>
        <p:nvGrpSpPr>
          <p:cNvPr name="Group 74" id="74"/>
          <p:cNvGrpSpPr/>
          <p:nvPr/>
        </p:nvGrpSpPr>
        <p:grpSpPr>
          <a:xfrm rot="0">
            <a:off x="7964424" y="3840480"/>
            <a:ext cx="2148840" cy="822960"/>
            <a:chOff x="0" y="0"/>
            <a:chExt cx="2865120" cy="1097280"/>
          </a:xfrm>
        </p:grpSpPr>
        <p:sp>
          <p:nvSpPr>
            <p:cNvPr name="Freeform 75" id="75"/>
            <p:cNvSpPr/>
            <p:nvPr/>
          </p:nvSpPr>
          <p:spPr>
            <a:xfrm flipH="false" flipV="false" rot="0">
              <a:off x="0" y="0"/>
              <a:ext cx="2865120" cy="1097280"/>
            </a:xfrm>
            <a:custGeom>
              <a:avLst/>
              <a:gdLst/>
              <a:ahLst/>
              <a:cxnLst/>
              <a:rect r="r" b="b" t="t" l="l"/>
              <a:pathLst>
                <a:path h="1097280" w="2865120">
                  <a:moveTo>
                    <a:pt x="0" y="182880"/>
                  </a:moveTo>
                  <a:cubicBezTo>
                    <a:pt x="0" y="81915"/>
                    <a:pt x="81915" y="0"/>
                    <a:pt x="182880" y="0"/>
                  </a:cubicBezTo>
                  <a:lnTo>
                    <a:pt x="2682240" y="0"/>
                  </a:lnTo>
                  <a:cubicBezTo>
                    <a:pt x="2783205" y="0"/>
                    <a:pt x="2865120" y="81915"/>
                    <a:pt x="2865120" y="182880"/>
                  </a:cubicBezTo>
                  <a:lnTo>
                    <a:pt x="2865120" y="914400"/>
                  </a:lnTo>
                  <a:cubicBezTo>
                    <a:pt x="2865120" y="1015365"/>
                    <a:pt x="2783205" y="1097280"/>
                    <a:pt x="2682240" y="1097280"/>
                  </a:cubicBezTo>
                  <a:lnTo>
                    <a:pt x="182880" y="1097280"/>
                  </a:lnTo>
                  <a:cubicBezTo>
                    <a:pt x="81915" y="1097280"/>
                    <a:pt x="0" y="1015365"/>
                    <a:pt x="0" y="914400"/>
                  </a:cubicBezTo>
                  <a:close/>
                </a:path>
              </a:pathLst>
            </a:custGeom>
            <a:solidFill>
              <a:srgbClr val="E1EAF2"/>
            </a:solidFill>
          </p:spPr>
        </p:sp>
      </p:grpSp>
      <p:grpSp>
        <p:nvGrpSpPr>
          <p:cNvPr name="Group 76" id="76"/>
          <p:cNvGrpSpPr/>
          <p:nvPr/>
        </p:nvGrpSpPr>
        <p:grpSpPr>
          <a:xfrm rot="0">
            <a:off x="8010144" y="3886200"/>
            <a:ext cx="2057400" cy="345643"/>
            <a:chOff x="0" y="0"/>
            <a:chExt cx="2743200" cy="460858"/>
          </a:xfrm>
        </p:grpSpPr>
        <p:sp>
          <p:nvSpPr>
            <p:cNvPr name="Freeform 77" id="77"/>
            <p:cNvSpPr/>
            <p:nvPr/>
          </p:nvSpPr>
          <p:spPr>
            <a:xfrm flipH="false" flipV="false" rot="0">
              <a:off x="0" y="0"/>
              <a:ext cx="2743200" cy="460857"/>
            </a:xfrm>
            <a:custGeom>
              <a:avLst/>
              <a:gdLst/>
              <a:ahLst/>
              <a:cxnLst/>
              <a:rect r="r" b="b" t="t" l="l"/>
              <a:pathLst>
                <a:path h="460857" w="2743200">
                  <a:moveTo>
                    <a:pt x="0" y="0"/>
                  </a:moveTo>
                  <a:lnTo>
                    <a:pt x="2743200" y="0"/>
                  </a:lnTo>
                  <a:lnTo>
                    <a:pt x="2743200" y="460857"/>
                  </a:lnTo>
                  <a:lnTo>
                    <a:pt x="0" y="460857"/>
                  </a:lnTo>
                  <a:close/>
                </a:path>
              </a:pathLst>
            </a:custGeom>
            <a:blipFill>
              <a:blip r:embed="rId2">
                <a:alphaModFix amt="0"/>
              </a:blip>
              <a:stretch>
                <a:fillRect l="0" t="-65982" r="0" b="-65982"/>
              </a:stretch>
            </a:blipFill>
          </p:spPr>
        </p:sp>
        <p:sp>
          <p:nvSpPr>
            <p:cNvPr name="TextBox 78" id="78"/>
            <p:cNvSpPr txBox="true"/>
            <p:nvPr/>
          </p:nvSpPr>
          <p:spPr>
            <a:xfrm>
              <a:off x="0" y="0"/>
              <a:ext cx="2743200" cy="460858"/>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FULL WORD</a:t>
              </a:r>
            </a:p>
          </p:txBody>
        </p:sp>
      </p:grpSp>
      <p:grpSp>
        <p:nvGrpSpPr>
          <p:cNvPr name="Group 79" id="79"/>
          <p:cNvGrpSpPr/>
          <p:nvPr/>
        </p:nvGrpSpPr>
        <p:grpSpPr>
          <a:xfrm rot="0">
            <a:off x="8010144" y="4194353"/>
            <a:ext cx="2057400" cy="395021"/>
            <a:chOff x="0" y="0"/>
            <a:chExt cx="2743200" cy="526694"/>
          </a:xfrm>
        </p:grpSpPr>
        <p:sp>
          <p:nvSpPr>
            <p:cNvPr name="Freeform 80" id="80"/>
            <p:cNvSpPr/>
            <p:nvPr/>
          </p:nvSpPr>
          <p:spPr>
            <a:xfrm flipH="false" flipV="false" rot="0">
              <a:off x="0" y="0"/>
              <a:ext cx="2743200" cy="526693"/>
            </a:xfrm>
            <a:custGeom>
              <a:avLst/>
              <a:gdLst/>
              <a:ahLst/>
              <a:cxnLst/>
              <a:rect r="r" b="b" t="t" l="l"/>
              <a:pathLst>
                <a:path h="526693" w="2743200">
                  <a:moveTo>
                    <a:pt x="0" y="0"/>
                  </a:moveTo>
                  <a:lnTo>
                    <a:pt x="2743200" y="0"/>
                  </a:lnTo>
                  <a:lnTo>
                    <a:pt x="2743200" y="526693"/>
                  </a:lnTo>
                  <a:lnTo>
                    <a:pt x="0" y="526693"/>
                  </a:lnTo>
                  <a:close/>
                </a:path>
              </a:pathLst>
            </a:custGeom>
            <a:blipFill>
              <a:blip r:embed="rId2">
                <a:alphaModFix amt="0"/>
              </a:blip>
              <a:stretch>
                <a:fillRect l="0" t="-51484" r="0" b="-51484"/>
              </a:stretch>
            </a:blipFill>
          </p:spPr>
        </p:sp>
        <p:sp>
          <p:nvSpPr>
            <p:cNvPr name="TextBox 81" id="81"/>
            <p:cNvSpPr txBox="true"/>
            <p:nvPr/>
          </p:nvSpPr>
          <p:spPr>
            <a:xfrm>
              <a:off x="0" y="0"/>
              <a:ext cx="2743200" cy="526694"/>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1111</a:t>
              </a:r>
            </a:p>
          </p:txBody>
        </p:sp>
      </p:grpSp>
      <p:grpSp>
        <p:nvGrpSpPr>
          <p:cNvPr name="Group 82" id="82"/>
          <p:cNvGrpSpPr/>
          <p:nvPr/>
        </p:nvGrpSpPr>
        <p:grpSpPr>
          <a:xfrm rot="0">
            <a:off x="10892666" y="1776098"/>
            <a:ext cx="6798821" cy="3717293"/>
            <a:chOff x="0" y="0"/>
            <a:chExt cx="9065095" cy="4956391"/>
          </a:xfrm>
        </p:grpSpPr>
        <p:sp>
          <p:nvSpPr>
            <p:cNvPr name="Freeform 83" id="83"/>
            <p:cNvSpPr/>
            <p:nvPr/>
          </p:nvSpPr>
          <p:spPr>
            <a:xfrm flipH="false" flipV="false" rot="0">
              <a:off x="0" y="0"/>
              <a:ext cx="9065261" cy="4956429"/>
            </a:xfrm>
            <a:custGeom>
              <a:avLst/>
              <a:gdLst/>
              <a:ahLst/>
              <a:cxnLst/>
              <a:rect r="r" b="b" t="t" l="l"/>
              <a:pathLst>
                <a:path h="4956429" w="9065261">
                  <a:moveTo>
                    <a:pt x="0" y="826135"/>
                  </a:moveTo>
                  <a:cubicBezTo>
                    <a:pt x="0" y="369824"/>
                    <a:pt x="369824" y="0"/>
                    <a:pt x="826135" y="0"/>
                  </a:cubicBezTo>
                  <a:lnTo>
                    <a:pt x="8239125" y="0"/>
                  </a:lnTo>
                  <a:cubicBezTo>
                    <a:pt x="8695310" y="0"/>
                    <a:pt x="9065261" y="369824"/>
                    <a:pt x="9065261" y="826135"/>
                  </a:cubicBezTo>
                  <a:lnTo>
                    <a:pt x="9065261" y="4130294"/>
                  </a:lnTo>
                  <a:cubicBezTo>
                    <a:pt x="9065261" y="4586478"/>
                    <a:pt x="8695436" y="4956429"/>
                    <a:pt x="8239125" y="4956429"/>
                  </a:cubicBezTo>
                  <a:lnTo>
                    <a:pt x="826135" y="4956429"/>
                  </a:lnTo>
                  <a:cubicBezTo>
                    <a:pt x="369824" y="4956429"/>
                    <a:pt x="0" y="4586478"/>
                    <a:pt x="0" y="4130294"/>
                  </a:cubicBezTo>
                  <a:close/>
                </a:path>
              </a:pathLst>
            </a:custGeom>
            <a:solidFill>
              <a:srgbClr val="FFFFFF"/>
            </a:solidFill>
            <a:ln w="13970" cap="sq">
              <a:solidFill>
                <a:srgbClr val="CAD6E0"/>
              </a:solidFill>
              <a:prstDash val="solid"/>
              <a:miter/>
            </a:ln>
          </p:spPr>
        </p:sp>
      </p:grpSp>
      <p:grpSp>
        <p:nvGrpSpPr>
          <p:cNvPr name="Group 84" id="84"/>
          <p:cNvGrpSpPr/>
          <p:nvPr/>
        </p:nvGrpSpPr>
        <p:grpSpPr>
          <a:xfrm rot="0">
            <a:off x="10899648" y="1856232"/>
            <a:ext cx="68580" cy="3557016"/>
            <a:chOff x="0" y="0"/>
            <a:chExt cx="91440" cy="4742688"/>
          </a:xfrm>
        </p:grpSpPr>
        <p:sp>
          <p:nvSpPr>
            <p:cNvPr name="Freeform 85" id="85"/>
            <p:cNvSpPr/>
            <p:nvPr/>
          </p:nvSpPr>
          <p:spPr>
            <a:xfrm flipH="false" flipV="false" rot="0">
              <a:off x="0" y="0"/>
              <a:ext cx="91440" cy="4742688"/>
            </a:xfrm>
            <a:custGeom>
              <a:avLst/>
              <a:gdLst/>
              <a:ahLst/>
              <a:cxnLst/>
              <a:rect r="r" b="b" t="t" l="l"/>
              <a:pathLst>
                <a:path h="4742688" w="91440">
                  <a:moveTo>
                    <a:pt x="0" y="0"/>
                  </a:moveTo>
                  <a:lnTo>
                    <a:pt x="91440" y="0"/>
                  </a:lnTo>
                  <a:lnTo>
                    <a:pt x="91440" y="4742688"/>
                  </a:lnTo>
                  <a:lnTo>
                    <a:pt x="0" y="4742688"/>
                  </a:lnTo>
                  <a:close/>
                </a:path>
              </a:pathLst>
            </a:custGeom>
            <a:solidFill>
              <a:srgbClr val="2D5986"/>
            </a:solidFill>
          </p:spPr>
        </p:sp>
      </p:grpSp>
      <p:grpSp>
        <p:nvGrpSpPr>
          <p:cNvPr name="Group 86" id="86"/>
          <p:cNvGrpSpPr/>
          <p:nvPr/>
        </p:nvGrpSpPr>
        <p:grpSpPr>
          <a:xfrm rot="0">
            <a:off x="11201400" y="1892808"/>
            <a:ext cx="6400800" cy="384048"/>
            <a:chOff x="0" y="0"/>
            <a:chExt cx="8534400" cy="512064"/>
          </a:xfrm>
        </p:grpSpPr>
        <p:sp>
          <p:nvSpPr>
            <p:cNvPr name="Freeform 87" id="87"/>
            <p:cNvSpPr/>
            <p:nvPr/>
          </p:nvSpPr>
          <p:spPr>
            <a:xfrm flipH="false" flipV="false" rot="0">
              <a:off x="0" y="0"/>
              <a:ext cx="8534400" cy="512064"/>
            </a:xfrm>
            <a:custGeom>
              <a:avLst/>
              <a:gdLst/>
              <a:ahLst/>
              <a:cxnLst/>
              <a:rect r="r" b="b" t="t" l="l"/>
              <a:pathLst>
                <a:path h="512064" w="8534400">
                  <a:moveTo>
                    <a:pt x="0" y="0"/>
                  </a:moveTo>
                  <a:lnTo>
                    <a:pt x="8534400" y="0"/>
                  </a:lnTo>
                  <a:lnTo>
                    <a:pt x="8534400" y="512064"/>
                  </a:lnTo>
                  <a:lnTo>
                    <a:pt x="0" y="512064"/>
                  </a:lnTo>
                  <a:close/>
                </a:path>
              </a:pathLst>
            </a:custGeom>
            <a:blipFill>
              <a:blip r:embed="rId2">
                <a:alphaModFix amt="0"/>
              </a:blip>
              <a:stretch>
                <a:fillRect l="0" t="-274750" r="0" b="-274750"/>
              </a:stretch>
            </a:blipFill>
          </p:spPr>
        </p:sp>
        <p:sp>
          <p:nvSpPr>
            <p:cNvPr name="TextBox 88" id="88"/>
            <p:cNvSpPr txBox="true"/>
            <p:nvPr/>
          </p:nvSpPr>
          <p:spPr>
            <a:xfrm>
              <a:off x="0" y="-9525"/>
              <a:ext cx="8534400" cy="521589"/>
            </a:xfrm>
            <a:prstGeom prst="rect">
              <a:avLst/>
            </a:prstGeom>
          </p:spPr>
          <p:txBody>
            <a:bodyPr anchor="ctr" rtlCol="false" tIns="0" lIns="0" bIns="0" rIns="0"/>
            <a:lstStyle/>
            <a:p>
              <a:pPr algn="l">
                <a:lnSpc>
                  <a:spcPts val="2520"/>
                </a:lnSpc>
              </a:pPr>
              <a:r>
                <a:rPr lang="en-US" sz="2100" b="true">
                  <a:solidFill>
                    <a:srgbClr val="2D5986"/>
                  </a:solidFill>
                  <a:latin typeface="Aptos Bold"/>
                  <a:ea typeface="Aptos Bold"/>
                  <a:cs typeface="Aptos Bold"/>
                  <a:sym typeface="Aptos Bold"/>
                </a:rPr>
                <a:t>APB response</a:t>
              </a:r>
            </a:p>
          </p:txBody>
        </p:sp>
      </p:grpSp>
      <p:grpSp>
        <p:nvGrpSpPr>
          <p:cNvPr name="Group 89" id="89"/>
          <p:cNvGrpSpPr/>
          <p:nvPr/>
        </p:nvGrpSpPr>
        <p:grpSpPr>
          <a:xfrm rot="0">
            <a:off x="11292840" y="2532888"/>
            <a:ext cx="2606040" cy="1024128"/>
            <a:chOff x="0" y="0"/>
            <a:chExt cx="3474720" cy="1365504"/>
          </a:xfrm>
        </p:grpSpPr>
        <p:sp>
          <p:nvSpPr>
            <p:cNvPr name="Freeform 90" id="90"/>
            <p:cNvSpPr/>
            <p:nvPr/>
          </p:nvSpPr>
          <p:spPr>
            <a:xfrm flipH="false" flipV="false" rot="0">
              <a:off x="0" y="0"/>
              <a:ext cx="3474720" cy="1365504"/>
            </a:xfrm>
            <a:custGeom>
              <a:avLst/>
              <a:gdLst/>
              <a:ahLst/>
              <a:cxnLst/>
              <a:rect r="r" b="b" t="t" l="l"/>
              <a:pathLst>
                <a:path h="1365504" w="3474720">
                  <a:moveTo>
                    <a:pt x="0" y="227584"/>
                  </a:moveTo>
                  <a:cubicBezTo>
                    <a:pt x="0" y="101854"/>
                    <a:pt x="101854" y="0"/>
                    <a:pt x="227584" y="0"/>
                  </a:cubicBezTo>
                  <a:lnTo>
                    <a:pt x="3247136" y="0"/>
                  </a:lnTo>
                  <a:cubicBezTo>
                    <a:pt x="3372866" y="0"/>
                    <a:pt x="3474720" y="101854"/>
                    <a:pt x="3474720" y="227584"/>
                  </a:cubicBezTo>
                  <a:lnTo>
                    <a:pt x="3474720" y="1137920"/>
                  </a:lnTo>
                  <a:cubicBezTo>
                    <a:pt x="3474720" y="1263650"/>
                    <a:pt x="3372866" y="1365504"/>
                    <a:pt x="3247136" y="1365504"/>
                  </a:cubicBezTo>
                  <a:lnTo>
                    <a:pt x="227584" y="1365504"/>
                  </a:lnTo>
                  <a:cubicBezTo>
                    <a:pt x="101854" y="1365504"/>
                    <a:pt x="0" y="1263650"/>
                    <a:pt x="0" y="1137920"/>
                  </a:cubicBezTo>
                  <a:close/>
                </a:path>
              </a:pathLst>
            </a:custGeom>
            <a:solidFill>
              <a:srgbClr val="E1EAF2"/>
            </a:solidFill>
          </p:spPr>
        </p:sp>
      </p:grpSp>
      <p:grpSp>
        <p:nvGrpSpPr>
          <p:cNvPr name="Group 91" id="91"/>
          <p:cNvGrpSpPr/>
          <p:nvPr/>
        </p:nvGrpSpPr>
        <p:grpSpPr>
          <a:xfrm rot="0">
            <a:off x="11338560" y="2578608"/>
            <a:ext cx="2514600" cy="430130"/>
            <a:chOff x="0" y="0"/>
            <a:chExt cx="3352800" cy="573507"/>
          </a:xfrm>
        </p:grpSpPr>
        <p:sp>
          <p:nvSpPr>
            <p:cNvPr name="Freeform 92" id="92"/>
            <p:cNvSpPr/>
            <p:nvPr/>
          </p:nvSpPr>
          <p:spPr>
            <a:xfrm flipH="false" flipV="false" rot="0">
              <a:off x="0" y="0"/>
              <a:ext cx="3352800" cy="573511"/>
            </a:xfrm>
            <a:custGeom>
              <a:avLst/>
              <a:gdLst/>
              <a:ahLst/>
              <a:cxnLst/>
              <a:rect r="r" b="b" t="t" l="l"/>
              <a:pathLst>
                <a:path h="573511" w="3352800">
                  <a:moveTo>
                    <a:pt x="0" y="0"/>
                  </a:moveTo>
                  <a:lnTo>
                    <a:pt x="3352800" y="0"/>
                  </a:lnTo>
                  <a:lnTo>
                    <a:pt x="3352800" y="573511"/>
                  </a:lnTo>
                  <a:lnTo>
                    <a:pt x="0" y="573511"/>
                  </a:lnTo>
                  <a:close/>
                </a:path>
              </a:pathLst>
            </a:custGeom>
            <a:blipFill>
              <a:blip r:embed="rId2">
                <a:alphaModFix amt="0"/>
              </a:blip>
              <a:stretch>
                <a:fillRect l="0" t="-63911" r="0" b="-63911"/>
              </a:stretch>
            </a:blipFill>
          </p:spPr>
        </p:sp>
        <p:sp>
          <p:nvSpPr>
            <p:cNvPr name="TextBox 93" id="93"/>
            <p:cNvSpPr txBox="true"/>
            <p:nvPr/>
          </p:nvSpPr>
          <p:spPr>
            <a:xfrm>
              <a:off x="0" y="0"/>
              <a:ext cx="3352800" cy="573507"/>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PSLVERR</a:t>
              </a:r>
            </a:p>
          </p:txBody>
        </p:sp>
      </p:grpSp>
      <p:grpSp>
        <p:nvGrpSpPr>
          <p:cNvPr name="Group 94" id="94"/>
          <p:cNvGrpSpPr/>
          <p:nvPr/>
        </p:nvGrpSpPr>
        <p:grpSpPr>
          <a:xfrm rot="0">
            <a:off x="11338560" y="2973267"/>
            <a:ext cx="2514600" cy="491585"/>
            <a:chOff x="0" y="0"/>
            <a:chExt cx="3352800" cy="655447"/>
          </a:xfrm>
        </p:grpSpPr>
        <p:sp>
          <p:nvSpPr>
            <p:cNvPr name="Freeform 95" id="95"/>
            <p:cNvSpPr/>
            <p:nvPr/>
          </p:nvSpPr>
          <p:spPr>
            <a:xfrm flipH="false" flipV="false" rot="0">
              <a:off x="0" y="0"/>
              <a:ext cx="3352800" cy="655441"/>
            </a:xfrm>
            <a:custGeom>
              <a:avLst/>
              <a:gdLst/>
              <a:ahLst/>
              <a:cxnLst/>
              <a:rect r="r" b="b" t="t" l="l"/>
              <a:pathLst>
                <a:path h="655441" w="3352800">
                  <a:moveTo>
                    <a:pt x="0" y="0"/>
                  </a:moveTo>
                  <a:lnTo>
                    <a:pt x="3352800" y="0"/>
                  </a:lnTo>
                  <a:lnTo>
                    <a:pt x="3352800" y="655441"/>
                  </a:lnTo>
                  <a:lnTo>
                    <a:pt x="0" y="655441"/>
                  </a:lnTo>
                  <a:close/>
                </a:path>
              </a:pathLst>
            </a:custGeom>
            <a:blipFill>
              <a:blip r:embed="rId2">
                <a:alphaModFix amt="0"/>
              </a:blip>
              <a:stretch>
                <a:fillRect l="0" t="-49672" r="0" b="-49672"/>
              </a:stretch>
            </a:blipFill>
          </p:spPr>
        </p:sp>
        <p:sp>
          <p:nvSpPr>
            <p:cNvPr name="TextBox 96" id="96"/>
            <p:cNvSpPr txBox="true"/>
            <p:nvPr/>
          </p:nvSpPr>
          <p:spPr>
            <a:xfrm>
              <a:off x="0" y="0"/>
              <a:ext cx="3352800" cy="655447"/>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OKAY  |  0</a:t>
              </a:r>
            </a:p>
          </p:txBody>
        </p:sp>
      </p:grpSp>
      <p:grpSp>
        <p:nvGrpSpPr>
          <p:cNvPr name="Group 97" id="97"/>
          <p:cNvGrpSpPr/>
          <p:nvPr/>
        </p:nvGrpSpPr>
        <p:grpSpPr>
          <a:xfrm rot="0">
            <a:off x="14218920" y="2532888"/>
            <a:ext cx="2971800" cy="1024128"/>
            <a:chOff x="0" y="0"/>
            <a:chExt cx="3962400" cy="1365504"/>
          </a:xfrm>
        </p:grpSpPr>
        <p:sp>
          <p:nvSpPr>
            <p:cNvPr name="Freeform 98" id="98"/>
            <p:cNvSpPr/>
            <p:nvPr/>
          </p:nvSpPr>
          <p:spPr>
            <a:xfrm flipH="false" flipV="false" rot="0">
              <a:off x="0" y="0"/>
              <a:ext cx="3962400" cy="1365504"/>
            </a:xfrm>
            <a:custGeom>
              <a:avLst/>
              <a:gdLst/>
              <a:ahLst/>
              <a:cxnLst/>
              <a:rect r="r" b="b" t="t" l="l"/>
              <a:pathLst>
                <a:path h="1365504" w="3962400">
                  <a:moveTo>
                    <a:pt x="0" y="227584"/>
                  </a:moveTo>
                  <a:cubicBezTo>
                    <a:pt x="0" y="101854"/>
                    <a:pt x="101854" y="0"/>
                    <a:pt x="227584" y="0"/>
                  </a:cubicBezTo>
                  <a:lnTo>
                    <a:pt x="3734816" y="0"/>
                  </a:lnTo>
                  <a:cubicBezTo>
                    <a:pt x="3860546" y="0"/>
                    <a:pt x="3962400" y="101854"/>
                    <a:pt x="3962400" y="227584"/>
                  </a:cubicBezTo>
                  <a:lnTo>
                    <a:pt x="3962400" y="1137920"/>
                  </a:lnTo>
                  <a:cubicBezTo>
                    <a:pt x="3962400" y="1263650"/>
                    <a:pt x="3860546" y="1365504"/>
                    <a:pt x="3734816" y="1365504"/>
                  </a:cubicBezTo>
                  <a:lnTo>
                    <a:pt x="227584" y="1365504"/>
                  </a:lnTo>
                  <a:cubicBezTo>
                    <a:pt x="101854" y="1365504"/>
                    <a:pt x="0" y="1263650"/>
                    <a:pt x="0" y="1137920"/>
                  </a:cubicBezTo>
                  <a:close/>
                </a:path>
              </a:pathLst>
            </a:custGeom>
            <a:solidFill>
              <a:srgbClr val="F7E8E1"/>
            </a:solidFill>
          </p:spPr>
        </p:sp>
      </p:grpSp>
      <p:grpSp>
        <p:nvGrpSpPr>
          <p:cNvPr name="Group 99" id="99"/>
          <p:cNvGrpSpPr/>
          <p:nvPr/>
        </p:nvGrpSpPr>
        <p:grpSpPr>
          <a:xfrm rot="0">
            <a:off x="14264640" y="2578608"/>
            <a:ext cx="2880360" cy="430130"/>
            <a:chOff x="0" y="0"/>
            <a:chExt cx="3840480" cy="573507"/>
          </a:xfrm>
        </p:grpSpPr>
        <p:sp>
          <p:nvSpPr>
            <p:cNvPr name="Freeform 100" id="100"/>
            <p:cNvSpPr/>
            <p:nvPr/>
          </p:nvSpPr>
          <p:spPr>
            <a:xfrm flipH="false" flipV="false" rot="0">
              <a:off x="0" y="0"/>
              <a:ext cx="3840480" cy="573511"/>
            </a:xfrm>
            <a:custGeom>
              <a:avLst/>
              <a:gdLst/>
              <a:ahLst/>
              <a:cxnLst/>
              <a:rect r="r" b="b" t="t" l="l"/>
              <a:pathLst>
                <a:path h="573511" w="3840480">
                  <a:moveTo>
                    <a:pt x="0" y="0"/>
                  </a:moveTo>
                  <a:lnTo>
                    <a:pt x="3840480" y="0"/>
                  </a:lnTo>
                  <a:lnTo>
                    <a:pt x="3840480" y="573511"/>
                  </a:lnTo>
                  <a:lnTo>
                    <a:pt x="0" y="573511"/>
                  </a:lnTo>
                  <a:close/>
                </a:path>
              </a:pathLst>
            </a:custGeom>
            <a:blipFill>
              <a:blip r:embed="rId2">
                <a:alphaModFix amt="0"/>
              </a:blip>
              <a:stretch>
                <a:fillRect l="0" t="-80480" r="0" b="-80480"/>
              </a:stretch>
            </a:blipFill>
          </p:spPr>
        </p:sp>
        <p:sp>
          <p:nvSpPr>
            <p:cNvPr name="TextBox 101" id="101"/>
            <p:cNvSpPr txBox="true"/>
            <p:nvPr/>
          </p:nvSpPr>
          <p:spPr>
            <a:xfrm>
              <a:off x="0" y="0"/>
              <a:ext cx="3840480" cy="573507"/>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PSLVERR</a:t>
              </a:r>
            </a:p>
          </p:txBody>
        </p:sp>
      </p:grpSp>
      <p:grpSp>
        <p:nvGrpSpPr>
          <p:cNvPr name="Group 102" id="102"/>
          <p:cNvGrpSpPr/>
          <p:nvPr/>
        </p:nvGrpSpPr>
        <p:grpSpPr>
          <a:xfrm rot="0">
            <a:off x="14264640" y="2973267"/>
            <a:ext cx="2880360" cy="491585"/>
            <a:chOff x="0" y="0"/>
            <a:chExt cx="3840480" cy="655447"/>
          </a:xfrm>
        </p:grpSpPr>
        <p:sp>
          <p:nvSpPr>
            <p:cNvPr name="Freeform 103" id="103"/>
            <p:cNvSpPr/>
            <p:nvPr/>
          </p:nvSpPr>
          <p:spPr>
            <a:xfrm flipH="false" flipV="false" rot="0">
              <a:off x="0" y="0"/>
              <a:ext cx="3840480" cy="655441"/>
            </a:xfrm>
            <a:custGeom>
              <a:avLst/>
              <a:gdLst/>
              <a:ahLst/>
              <a:cxnLst/>
              <a:rect r="r" b="b" t="t" l="l"/>
              <a:pathLst>
                <a:path h="655441" w="3840480">
                  <a:moveTo>
                    <a:pt x="0" y="0"/>
                  </a:moveTo>
                  <a:lnTo>
                    <a:pt x="3840480" y="0"/>
                  </a:lnTo>
                  <a:lnTo>
                    <a:pt x="3840480" y="655441"/>
                  </a:lnTo>
                  <a:lnTo>
                    <a:pt x="0" y="655441"/>
                  </a:lnTo>
                  <a:close/>
                </a:path>
              </a:pathLst>
            </a:custGeom>
            <a:blipFill>
              <a:blip r:embed="rId2">
                <a:alphaModFix amt="0"/>
              </a:blip>
              <a:stretch>
                <a:fillRect l="0" t="-64169" r="0" b="-64170"/>
              </a:stretch>
            </a:blipFill>
          </p:spPr>
        </p:sp>
        <p:sp>
          <p:nvSpPr>
            <p:cNvPr name="TextBox 104" id="104"/>
            <p:cNvSpPr txBox="true"/>
            <p:nvPr/>
          </p:nvSpPr>
          <p:spPr>
            <a:xfrm>
              <a:off x="0" y="0"/>
              <a:ext cx="3840480" cy="655447"/>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ERROR  |  1</a:t>
              </a:r>
            </a:p>
          </p:txBody>
        </p:sp>
      </p:grpSp>
      <p:grpSp>
        <p:nvGrpSpPr>
          <p:cNvPr name="Group 105" id="105"/>
          <p:cNvGrpSpPr/>
          <p:nvPr/>
        </p:nvGrpSpPr>
        <p:grpSpPr>
          <a:xfrm rot="0">
            <a:off x="11338560" y="3858768"/>
            <a:ext cx="5943600" cy="438912"/>
            <a:chOff x="0" y="0"/>
            <a:chExt cx="7924800" cy="585216"/>
          </a:xfrm>
        </p:grpSpPr>
        <p:sp>
          <p:nvSpPr>
            <p:cNvPr name="Freeform 106" id="106"/>
            <p:cNvSpPr/>
            <p:nvPr/>
          </p:nvSpPr>
          <p:spPr>
            <a:xfrm flipH="false" flipV="false" rot="0">
              <a:off x="0" y="0"/>
              <a:ext cx="7924800" cy="585216"/>
            </a:xfrm>
            <a:custGeom>
              <a:avLst/>
              <a:gdLst/>
              <a:ahLst/>
              <a:cxnLst/>
              <a:rect r="r" b="b" t="t" l="l"/>
              <a:pathLst>
                <a:path h="585216" w="7924800">
                  <a:moveTo>
                    <a:pt x="0" y="0"/>
                  </a:moveTo>
                  <a:lnTo>
                    <a:pt x="7924800" y="0"/>
                  </a:lnTo>
                  <a:lnTo>
                    <a:pt x="7924800" y="585216"/>
                  </a:lnTo>
                  <a:lnTo>
                    <a:pt x="0" y="585216"/>
                  </a:lnTo>
                  <a:close/>
                </a:path>
              </a:pathLst>
            </a:custGeom>
            <a:blipFill>
              <a:blip r:embed="rId2">
                <a:alphaModFix amt="0"/>
              </a:blip>
              <a:stretch>
                <a:fillRect l="0" t="-213859" r="0" b="-213859"/>
              </a:stretch>
            </a:blipFill>
          </p:spPr>
        </p:sp>
        <p:sp>
          <p:nvSpPr>
            <p:cNvPr name="TextBox 107" id="107"/>
            <p:cNvSpPr txBox="true"/>
            <p:nvPr/>
          </p:nvSpPr>
          <p:spPr>
            <a:xfrm>
              <a:off x="0" y="-9525"/>
              <a:ext cx="7924800" cy="594741"/>
            </a:xfrm>
            <a:prstGeom prst="rect">
              <a:avLst/>
            </a:prstGeom>
          </p:spPr>
          <p:txBody>
            <a:bodyPr anchor="ctr" rtlCol="false" tIns="0" lIns="0" bIns="0" rIns="0"/>
            <a:lstStyle/>
            <a:p>
              <a:pPr algn="ctr">
                <a:lnSpc>
                  <a:spcPts val="2040"/>
                </a:lnSpc>
              </a:pPr>
              <a:r>
                <a:rPr lang="en-US" sz="1700" b="true">
                  <a:solidFill>
                    <a:srgbClr val="24486E"/>
                  </a:solidFill>
                  <a:latin typeface="Aptos Bold"/>
                  <a:ea typeface="Aptos Bold"/>
                  <a:cs typeface="Aptos Bold"/>
                  <a:sym typeface="Aptos Bold"/>
                </a:rPr>
                <a:t>PREADY = 1 at published completion</a:t>
              </a:r>
            </a:p>
          </p:txBody>
        </p:sp>
      </p:grpSp>
      <p:grpSp>
        <p:nvGrpSpPr>
          <p:cNvPr name="Group 108" id="108"/>
          <p:cNvGrpSpPr/>
          <p:nvPr/>
        </p:nvGrpSpPr>
        <p:grpSpPr>
          <a:xfrm rot="0">
            <a:off x="11430000" y="4370832"/>
            <a:ext cx="5669280" cy="438912"/>
            <a:chOff x="0" y="0"/>
            <a:chExt cx="7559040" cy="585216"/>
          </a:xfrm>
        </p:grpSpPr>
        <p:sp>
          <p:nvSpPr>
            <p:cNvPr name="Freeform 109" id="109"/>
            <p:cNvSpPr/>
            <p:nvPr/>
          </p:nvSpPr>
          <p:spPr>
            <a:xfrm flipH="false" flipV="false" rot="0">
              <a:off x="0" y="0"/>
              <a:ext cx="7559040" cy="585216"/>
            </a:xfrm>
            <a:custGeom>
              <a:avLst/>
              <a:gdLst/>
              <a:ahLst/>
              <a:cxnLst/>
              <a:rect r="r" b="b" t="t" l="l"/>
              <a:pathLst>
                <a:path h="585216" w="7559040">
                  <a:moveTo>
                    <a:pt x="0" y="0"/>
                  </a:moveTo>
                  <a:lnTo>
                    <a:pt x="7559040" y="0"/>
                  </a:lnTo>
                  <a:lnTo>
                    <a:pt x="7559040" y="585216"/>
                  </a:lnTo>
                  <a:lnTo>
                    <a:pt x="0" y="585216"/>
                  </a:lnTo>
                  <a:close/>
                </a:path>
              </a:pathLst>
            </a:custGeom>
            <a:blipFill>
              <a:blip r:embed="rId2">
                <a:alphaModFix amt="0"/>
              </a:blip>
              <a:stretch>
                <a:fillRect l="0" t="-201681" r="0" b="-201681"/>
              </a:stretch>
            </a:blipFill>
          </p:spPr>
        </p:sp>
        <p:sp>
          <p:nvSpPr>
            <p:cNvPr name="TextBox 110" id="110"/>
            <p:cNvSpPr txBox="true"/>
            <p:nvPr/>
          </p:nvSpPr>
          <p:spPr>
            <a:xfrm>
              <a:off x="0" y="-9525"/>
              <a:ext cx="7559040" cy="594741"/>
            </a:xfrm>
            <a:prstGeom prst="rect">
              <a:avLst/>
            </a:prstGeom>
          </p:spPr>
          <p:txBody>
            <a:bodyPr anchor="ctr" rtlCol="false" tIns="0" lIns="0" bIns="0" rIns="0"/>
            <a:lstStyle/>
            <a:p>
              <a:pPr algn="ctr">
                <a:lnSpc>
                  <a:spcPts val="2040"/>
                </a:lnSpc>
              </a:pPr>
              <a:r>
                <a:rPr lang="en-US" sz="1700" b="true">
                  <a:solidFill>
                    <a:srgbClr val="24486E"/>
                  </a:solidFill>
                  <a:latin typeface="Aptos Bold"/>
                  <a:ea typeface="Aptos Bold"/>
                  <a:cs typeface="Aptos Bold"/>
                  <a:sym typeface="Aptos Bold"/>
                </a:rPr>
                <a:t>SETUP: PSEL = 1, PENABLE = 0</a:t>
              </a:r>
            </a:p>
          </p:txBody>
        </p:sp>
      </p:grpSp>
      <p:grpSp>
        <p:nvGrpSpPr>
          <p:cNvPr name="Group 111" id="111"/>
          <p:cNvGrpSpPr/>
          <p:nvPr/>
        </p:nvGrpSpPr>
        <p:grpSpPr>
          <a:xfrm rot="0">
            <a:off x="404498" y="5735450"/>
            <a:ext cx="17286989" cy="2985773"/>
            <a:chOff x="0" y="0"/>
            <a:chExt cx="23049319" cy="3981031"/>
          </a:xfrm>
        </p:grpSpPr>
        <p:sp>
          <p:nvSpPr>
            <p:cNvPr name="Freeform 112" id="112"/>
            <p:cNvSpPr/>
            <p:nvPr/>
          </p:nvSpPr>
          <p:spPr>
            <a:xfrm flipH="false" flipV="false" rot="0">
              <a:off x="0" y="0"/>
              <a:ext cx="23049357" cy="3981069"/>
            </a:xfrm>
            <a:custGeom>
              <a:avLst/>
              <a:gdLst/>
              <a:ahLst/>
              <a:cxnLst/>
              <a:rect r="r" b="b" t="t" l="l"/>
              <a:pathLst>
                <a:path h="3981069" w="23049357">
                  <a:moveTo>
                    <a:pt x="0" y="663575"/>
                  </a:moveTo>
                  <a:cubicBezTo>
                    <a:pt x="0" y="297053"/>
                    <a:pt x="297053" y="0"/>
                    <a:pt x="663575" y="0"/>
                  </a:cubicBezTo>
                  <a:lnTo>
                    <a:pt x="22385782" y="0"/>
                  </a:lnTo>
                  <a:cubicBezTo>
                    <a:pt x="22752177" y="0"/>
                    <a:pt x="23049357" y="297053"/>
                    <a:pt x="23049357" y="663575"/>
                  </a:cubicBezTo>
                  <a:lnTo>
                    <a:pt x="23049357" y="3317494"/>
                  </a:lnTo>
                  <a:cubicBezTo>
                    <a:pt x="23049357" y="3683889"/>
                    <a:pt x="22752304" y="3981069"/>
                    <a:pt x="22385782" y="3981069"/>
                  </a:cubicBezTo>
                  <a:lnTo>
                    <a:pt x="663575" y="3981069"/>
                  </a:lnTo>
                  <a:cubicBezTo>
                    <a:pt x="297053" y="3981069"/>
                    <a:pt x="0" y="3684016"/>
                    <a:pt x="0" y="3317494"/>
                  </a:cubicBezTo>
                  <a:close/>
                </a:path>
              </a:pathLst>
            </a:custGeom>
            <a:solidFill>
              <a:srgbClr val="FFFFFF"/>
            </a:solidFill>
            <a:ln w="13970" cap="sq">
              <a:solidFill>
                <a:srgbClr val="CAD6E0"/>
              </a:solidFill>
              <a:prstDash val="solid"/>
              <a:miter/>
            </a:ln>
          </p:spPr>
        </p:sp>
      </p:grpSp>
      <p:grpSp>
        <p:nvGrpSpPr>
          <p:cNvPr name="Group 113" id="113"/>
          <p:cNvGrpSpPr/>
          <p:nvPr/>
        </p:nvGrpSpPr>
        <p:grpSpPr>
          <a:xfrm rot="0">
            <a:off x="411480" y="5815584"/>
            <a:ext cx="68580" cy="2825496"/>
            <a:chOff x="0" y="0"/>
            <a:chExt cx="91440" cy="3767328"/>
          </a:xfrm>
        </p:grpSpPr>
        <p:sp>
          <p:nvSpPr>
            <p:cNvPr name="Freeform 114" id="114"/>
            <p:cNvSpPr/>
            <p:nvPr/>
          </p:nvSpPr>
          <p:spPr>
            <a:xfrm flipH="false" flipV="false" rot="0">
              <a:off x="0" y="0"/>
              <a:ext cx="91440" cy="3767328"/>
            </a:xfrm>
            <a:custGeom>
              <a:avLst/>
              <a:gdLst/>
              <a:ahLst/>
              <a:cxnLst/>
              <a:rect r="r" b="b" t="t" l="l"/>
              <a:pathLst>
                <a:path h="3767328" w="91440">
                  <a:moveTo>
                    <a:pt x="0" y="0"/>
                  </a:moveTo>
                  <a:lnTo>
                    <a:pt x="91440" y="0"/>
                  </a:lnTo>
                  <a:lnTo>
                    <a:pt x="91440" y="3767328"/>
                  </a:lnTo>
                  <a:lnTo>
                    <a:pt x="0" y="3767328"/>
                  </a:lnTo>
                  <a:close/>
                </a:path>
              </a:pathLst>
            </a:custGeom>
            <a:solidFill>
              <a:srgbClr val="2D5986"/>
            </a:solidFill>
          </p:spPr>
        </p:sp>
      </p:grpSp>
      <p:grpSp>
        <p:nvGrpSpPr>
          <p:cNvPr name="Group 115" id="115"/>
          <p:cNvGrpSpPr/>
          <p:nvPr/>
        </p:nvGrpSpPr>
        <p:grpSpPr>
          <a:xfrm rot="0">
            <a:off x="713232" y="5852160"/>
            <a:ext cx="16888968" cy="384048"/>
            <a:chOff x="0" y="0"/>
            <a:chExt cx="22518624" cy="512064"/>
          </a:xfrm>
        </p:grpSpPr>
        <p:sp>
          <p:nvSpPr>
            <p:cNvPr name="Freeform 116" id="116"/>
            <p:cNvSpPr/>
            <p:nvPr/>
          </p:nvSpPr>
          <p:spPr>
            <a:xfrm flipH="false" flipV="false" rot="0">
              <a:off x="0" y="0"/>
              <a:ext cx="22518624" cy="512064"/>
            </a:xfrm>
            <a:custGeom>
              <a:avLst/>
              <a:gdLst/>
              <a:ahLst/>
              <a:cxnLst/>
              <a:rect r="r" b="b" t="t" l="l"/>
              <a:pathLst>
                <a:path h="512064" w="22518624">
                  <a:moveTo>
                    <a:pt x="0" y="0"/>
                  </a:moveTo>
                  <a:lnTo>
                    <a:pt x="22518624" y="0"/>
                  </a:lnTo>
                  <a:lnTo>
                    <a:pt x="22518624" y="512064"/>
                  </a:lnTo>
                  <a:lnTo>
                    <a:pt x="0" y="512064"/>
                  </a:lnTo>
                  <a:close/>
                </a:path>
              </a:pathLst>
            </a:custGeom>
            <a:blipFill>
              <a:blip r:embed="rId2">
                <a:alphaModFix amt="0"/>
              </a:blip>
              <a:stretch>
                <a:fillRect l="0" t="-806877" r="0" b="-806877"/>
              </a:stretch>
            </a:blipFill>
          </p:spPr>
        </p:sp>
        <p:sp>
          <p:nvSpPr>
            <p:cNvPr name="TextBox 117" id="117"/>
            <p:cNvSpPr txBox="true"/>
            <p:nvPr/>
          </p:nvSpPr>
          <p:spPr>
            <a:xfrm>
              <a:off x="0" y="-9525"/>
              <a:ext cx="22518624" cy="521589"/>
            </a:xfrm>
            <a:prstGeom prst="rect">
              <a:avLst/>
            </a:prstGeom>
          </p:spPr>
          <p:txBody>
            <a:bodyPr anchor="ctr" rtlCol="false" tIns="0" lIns="0" bIns="0" rIns="0"/>
            <a:lstStyle/>
            <a:p>
              <a:pPr algn="l">
                <a:lnSpc>
                  <a:spcPts val="2520"/>
                </a:lnSpc>
              </a:pPr>
              <a:r>
                <a:rPr lang="en-US" sz="2100" b="true">
                  <a:solidFill>
                    <a:srgbClr val="2D5986"/>
                  </a:solidFill>
                  <a:latin typeface="Aptos Bold"/>
                  <a:ea typeface="Aptos Bold"/>
                  <a:cs typeface="Aptos Bold"/>
                  <a:sym typeface="Aptos Bold"/>
                </a:rPr>
                <a:t>Transfer latency  |  wait_count bins</a:t>
              </a:r>
            </a:p>
          </p:txBody>
        </p:sp>
      </p:grpSp>
      <p:grpSp>
        <p:nvGrpSpPr>
          <p:cNvPr name="Group 118" id="118"/>
          <p:cNvGrpSpPr/>
          <p:nvPr/>
        </p:nvGrpSpPr>
        <p:grpSpPr>
          <a:xfrm rot="0">
            <a:off x="868680" y="6804660"/>
            <a:ext cx="3703320" cy="1005840"/>
            <a:chOff x="0" y="0"/>
            <a:chExt cx="4937760" cy="1341120"/>
          </a:xfrm>
        </p:grpSpPr>
        <p:sp>
          <p:nvSpPr>
            <p:cNvPr name="Freeform 119" id="119"/>
            <p:cNvSpPr/>
            <p:nvPr/>
          </p:nvSpPr>
          <p:spPr>
            <a:xfrm flipH="false" flipV="false" rot="0">
              <a:off x="0" y="0"/>
              <a:ext cx="4937760" cy="1341120"/>
            </a:xfrm>
            <a:custGeom>
              <a:avLst/>
              <a:gdLst/>
              <a:ahLst/>
              <a:cxnLst/>
              <a:rect r="r" b="b" t="t" l="l"/>
              <a:pathLst>
                <a:path h="1341120" w="4937760">
                  <a:moveTo>
                    <a:pt x="0" y="223520"/>
                  </a:moveTo>
                  <a:cubicBezTo>
                    <a:pt x="0" y="100076"/>
                    <a:pt x="100076" y="0"/>
                    <a:pt x="223520" y="0"/>
                  </a:cubicBezTo>
                  <a:lnTo>
                    <a:pt x="4714240" y="0"/>
                  </a:lnTo>
                  <a:cubicBezTo>
                    <a:pt x="4837684" y="0"/>
                    <a:pt x="4937760" y="100076"/>
                    <a:pt x="4937760" y="223520"/>
                  </a:cubicBezTo>
                  <a:lnTo>
                    <a:pt x="4937760" y="1117600"/>
                  </a:lnTo>
                  <a:cubicBezTo>
                    <a:pt x="4937760" y="1241044"/>
                    <a:pt x="4837684" y="1341120"/>
                    <a:pt x="4714240" y="1341120"/>
                  </a:cubicBezTo>
                  <a:lnTo>
                    <a:pt x="223520" y="1341120"/>
                  </a:lnTo>
                  <a:cubicBezTo>
                    <a:pt x="100076" y="1341120"/>
                    <a:pt x="0" y="1241044"/>
                    <a:pt x="0" y="1117600"/>
                  </a:cubicBezTo>
                  <a:close/>
                </a:path>
              </a:pathLst>
            </a:custGeom>
            <a:solidFill>
              <a:srgbClr val="E1EAF2"/>
            </a:solidFill>
          </p:spPr>
        </p:sp>
      </p:grpSp>
      <p:grpSp>
        <p:nvGrpSpPr>
          <p:cNvPr name="Group 120" id="120"/>
          <p:cNvGrpSpPr/>
          <p:nvPr/>
        </p:nvGrpSpPr>
        <p:grpSpPr>
          <a:xfrm rot="0">
            <a:off x="914400" y="6850380"/>
            <a:ext cx="3611880" cy="422453"/>
            <a:chOff x="0" y="0"/>
            <a:chExt cx="4815840" cy="563270"/>
          </a:xfrm>
        </p:grpSpPr>
        <p:sp>
          <p:nvSpPr>
            <p:cNvPr name="Freeform 121" id="121"/>
            <p:cNvSpPr/>
            <p:nvPr/>
          </p:nvSpPr>
          <p:spPr>
            <a:xfrm flipH="false" flipV="false" rot="0">
              <a:off x="0" y="0"/>
              <a:ext cx="4815839" cy="563269"/>
            </a:xfrm>
            <a:custGeom>
              <a:avLst/>
              <a:gdLst/>
              <a:ahLst/>
              <a:cxnLst/>
              <a:rect r="r" b="b" t="t" l="l"/>
              <a:pathLst>
                <a:path h="563269" w="4815839">
                  <a:moveTo>
                    <a:pt x="0" y="0"/>
                  </a:moveTo>
                  <a:lnTo>
                    <a:pt x="4815839" y="0"/>
                  </a:lnTo>
                  <a:lnTo>
                    <a:pt x="4815839" y="563269"/>
                  </a:lnTo>
                  <a:lnTo>
                    <a:pt x="0" y="563269"/>
                  </a:lnTo>
                  <a:close/>
                </a:path>
              </a:pathLst>
            </a:custGeom>
            <a:blipFill>
              <a:blip r:embed="rId2">
                <a:alphaModFix amt="0"/>
              </a:blip>
              <a:stretch>
                <a:fillRect l="0" t="-116593" r="0" b="-116593"/>
              </a:stretch>
            </a:blipFill>
          </p:spPr>
        </p:sp>
        <p:sp>
          <p:nvSpPr>
            <p:cNvPr name="TextBox 122" id="122"/>
            <p:cNvSpPr txBox="true"/>
            <p:nvPr/>
          </p:nvSpPr>
          <p:spPr>
            <a:xfrm>
              <a:off x="0" y="0"/>
              <a:ext cx="4815840" cy="563270"/>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NO WAIT</a:t>
              </a:r>
            </a:p>
          </p:txBody>
        </p:sp>
      </p:grpSp>
      <p:grpSp>
        <p:nvGrpSpPr>
          <p:cNvPr name="Group 123" id="123"/>
          <p:cNvGrpSpPr/>
          <p:nvPr/>
        </p:nvGrpSpPr>
        <p:grpSpPr>
          <a:xfrm rot="0">
            <a:off x="914400" y="7237171"/>
            <a:ext cx="3611880" cy="482803"/>
            <a:chOff x="0" y="0"/>
            <a:chExt cx="4815840" cy="643738"/>
          </a:xfrm>
        </p:grpSpPr>
        <p:sp>
          <p:nvSpPr>
            <p:cNvPr name="Freeform 124" id="124"/>
            <p:cNvSpPr/>
            <p:nvPr/>
          </p:nvSpPr>
          <p:spPr>
            <a:xfrm flipH="false" flipV="false" rot="0">
              <a:off x="0" y="0"/>
              <a:ext cx="4815839" cy="643737"/>
            </a:xfrm>
            <a:custGeom>
              <a:avLst/>
              <a:gdLst/>
              <a:ahLst/>
              <a:cxnLst/>
              <a:rect r="r" b="b" t="t" l="l"/>
              <a:pathLst>
                <a:path h="643737" w="4815839">
                  <a:moveTo>
                    <a:pt x="0" y="0"/>
                  </a:moveTo>
                  <a:lnTo>
                    <a:pt x="4815839" y="0"/>
                  </a:lnTo>
                  <a:lnTo>
                    <a:pt x="4815839" y="643737"/>
                  </a:lnTo>
                  <a:lnTo>
                    <a:pt x="0" y="643737"/>
                  </a:lnTo>
                  <a:close/>
                </a:path>
              </a:pathLst>
            </a:custGeom>
            <a:blipFill>
              <a:blip r:embed="rId2">
                <a:alphaModFix amt="0"/>
              </a:blip>
              <a:stretch>
                <a:fillRect l="0" t="-95768" r="0" b="-95768"/>
              </a:stretch>
            </a:blipFill>
          </p:spPr>
        </p:sp>
        <p:sp>
          <p:nvSpPr>
            <p:cNvPr name="TextBox 125" id="125"/>
            <p:cNvSpPr txBox="true"/>
            <p:nvPr/>
          </p:nvSpPr>
          <p:spPr>
            <a:xfrm>
              <a:off x="0" y="0"/>
              <a:ext cx="4815840" cy="643738"/>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wait_count = 1</a:t>
              </a:r>
            </a:p>
          </p:txBody>
        </p:sp>
      </p:grpSp>
      <p:grpSp>
        <p:nvGrpSpPr>
          <p:cNvPr name="Group 126" id="126"/>
          <p:cNvGrpSpPr/>
          <p:nvPr/>
        </p:nvGrpSpPr>
        <p:grpSpPr>
          <a:xfrm rot="0">
            <a:off x="5029200" y="6804660"/>
            <a:ext cx="3703320" cy="1005840"/>
            <a:chOff x="0" y="0"/>
            <a:chExt cx="4937760" cy="1341120"/>
          </a:xfrm>
        </p:grpSpPr>
        <p:sp>
          <p:nvSpPr>
            <p:cNvPr name="Freeform 127" id="127"/>
            <p:cNvSpPr/>
            <p:nvPr/>
          </p:nvSpPr>
          <p:spPr>
            <a:xfrm flipH="false" flipV="false" rot="0">
              <a:off x="0" y="0"/>
              <a:ext cx="4937760" cy="1341120"/>
            </a:xfrm>
            <a:custGeom>
              <a:avLst/>
              <a:gdLst/>
              <a:ahLst/>
              <a:cxnLst/>
              <a:rect r="r" b="b" t="t" l="l"/>
              <a:pathLst>
                <a:path h="1341120" w="4937760">
                  <a:moveTo>
                    <a:pt x="0" y="223520"/>
                  </a:moveTo>
                  <a:cubicBezTo>
                    <a:pt x="0" y="100076"/>
                    <a:pt x="100076" y="0"/>
                    <a:pt x="223520" y="0"/>
                  </a:cubicBezTo>
                  <a:lnTo>
                    <a:pt x="4714240" y="0"/>
                  </a:lnTo>
                  <a:cubicBezTo>
                    <a:pt x="4837684" y="0"/>
                    <a:pt x="4937760" y="100076"/>
                    <a:pt x="4937760" y="223520"/>
                  </a:cubicBezTo>
                  <a:lnTo>
                    <a:pt x="4937760" y="1117600"/>
                  </a:lnTo>
                  <a:cubicBezTo>
                    <a:pt x="4937760" y="1241044"/>
                    <a:pt x="4837684" y="1341120"/>
                    <a:pt x="4714240" y="1341120"/>
                  </a:cubicBezTo>
                  <a:lnTo>
                    <a:pt x="223520" y="1341120"/>
                  </a:lnTo>
                  <a:cubicBezTo>
                    <a:pt x="100076" y="1341120"/>
                    <a:pt x="0" y="1241044"/>
                    <a:pt x="0" y="1117600"/>
                  </a:cubicBezTo>
                  <a:close/>
                </a:path>
              </a:pathLst>
            </a:custGeom>
            <a:solidFill>
              <a:srgbClr val="E1EAF2"/>
            </a:solidFill>
          </p:spPr>
        </p:sp>
      </p:grpSp>
      <p:grpSp>
        <p:nvGrpSpPr>
          <p:cNvPr name="Group 128" id="128"/>
          <p:cNvGrpSpPr/>
          <p:nvPr/>
        </p:nvGrpSpPr>
        <p:grpSpPr>
          <a:xfrm rot="0">
            <a:off x="5074920" y="6850380"/>
            <a:ext cx="3611880" cy="422453"/>
            <a:chOff x="0" y="0"/>
            <a:chExt cx="4815840" cy="563270"/>
          </a:xfrm>
        </p:grpSpPr>
        <p:sp>
          <p:nvSpPr>
            <p:cNvPr name="Freeform 129" id="129"/>
            <p:cNvSpPr/>
            <p:nvPr/>
          </p:nvSpPr>
          <p:spPr>
            <a:xfrm flipH="false" flipV="false" rot="0">
              <a:off x="0" y="0"/>
              <a:ext cx="4815839" cy="563269"/>
            </a:xfrm>
            <a:custGeom>
              <a:avLst/>
              <a:gdLst/>
              <a:ahLst/>
              <a:cxnLst/>
              <a:rect r="r" b="b" t="t" l="l"/>
              <a:pathLst>
                <a:path h="563269" w="4815839">
                  <a:moveTo>
                    <a:pt x="0" y="0"/>
                  </a:moveTo>
                  <a:lnTo>
                    <a:pt x="4815839" y="0"/>
                  </a:lnTo>
                  <a:lnTo>
                    <a:pt x="4815839" y="563269"/>
                  </a:lnTo>
                  <a:lnTo>
                    <a:pt x="0" y="563269"/>
                  </a:lnTo>
                  <a:close/>
                </a:path>
              </a:pathLst>
            </a:custGeom>
            <a:blipFill>
              <a:blip r:embed="rId2">
                <a:alphaModFix amt="0"/>
              </a:blip>
              <a:stretch>
                <a:fillRect l="0" t="-116593" r="0" b="-116593"/>
              </a:stretch>
            </a:blipFill>
          </p:spPr>
        </p:sp>
        <p:sp>
          <p:nvSpPr>
            <p:cNvPr name="TextBox 130" id="130"/>
            <p:cNvSpPr txBox="true"/>
            <p:nvPr/>
          </p:nvSpPr>
          <p:spPr>
            <a:xfrm>
              <a:off x="0" y="0"/>
              <a:ext cx="4815840" cy="563270"/>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ONE WAIT</a:t>
              </a:r>
            </a:p>
          </p:txBody>
        </p:sp>
      </p:grpSp>
      <p:grpSp>
        <p:nvGrpSpPr>
          <p:cNvPr name="Group 131" id="131"/>
          <p:cNvGrpSpPr/>
          <p:nvPr/>
        </p:nvGrpSpPr>
        <p:grpSpPr>
          <a:xfrm rot="0">
            <a:off x="5074920" y="7237171"/>
            <a:ext cx="3611880" cy="482803"/>
            <a:chOff x="0" y="0"/>
            <a:chExt cx="4815840" cy="643738"/>
          </a:xfrm>
        </p:grpSpPr>
        <p:sp>
          <p:nvSpPr>
            <p:cNvPr name="Freeform 132" id="132"/>
            <p:cNvSpPr/>
            <p:nvPr/>
          </p:nvSpPr>
          <p:spPr>
            <a:xfrm flipH="false" flipV="false" rot="0">
              <a:off x="0" y="0"/>
              <a:ext cx="4815839" cy="643737"/>
            </a:xfrm>
            <a:custGeom>
              <a:avLst/>
              <a:gdLst/>
              <a:ahLst/>
              <a:cxnLst/>
              <a:rect r="r" b="b" t="t" l="l"/>
              <a:pathLst>
                <a:path h="643737" w="4815839">
                  <a:moveTo>
                    <a:pt x="0" y="0"/>
                  </a:moveTo>
                  <a:lnTo>
                    <a:pt x="4815839" y="0"/>
                  </a:lnTo>
                  <a:lnTo>
                    <a:pt x="4815839" y="643737"/>
                  </a:lnTo>
                  <a:lnTo>
                    <a:pt x="0" y="643737"/>
                  </a:lnTo>
                  <a:close/>
                </a:path>
              </a:pathLst>
            </a:custGeom>
            <a:blipFill>
              <a:blip r:embed="rId2">
                <a:alphaModFix amt="0"/>
              </a:blip>
              <a:stretch>
                <a:fillRect l="0" t="-95768" r="0" b="-95768"/>
              </a:stretch>
            </a:blipFill>
          </p:spPr>
        </p:sp>
        <p:sp>
          <p:nvSpPr>
            <p:cNvPr name="TextBox 133" id="133"/>
            <p:cNvSpPr txBox="true"/>
            <p:nvPr/>
          </p:nvSpPr>
          <p:spPr>
            <a:xfrm>
              <a:off x="0" y="0"/>
              <a:ext cx="4815840" cy="643738"/>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wait_count = 2</a:t>
              </a:r>
            </a:p>
          </p:txBody>
        </p:sp>
      </p:grpSp>
      <p:grpSp>
        <p:nvGrpSpPr>
          <p:cNvPr name="Group 134" id="134"/>
          <p:cNvGrpSpPr/>
          <p:nvPr/>
        </p:nvGrpSpPr>
        <p:grpSpPr>
          <a:xfrm rot="0">
            <a:off x="9189720" y="6804660"/>
            <a:ext cx="3703320" cy="1005840"/>
            <a:chOff x="0" y="0"/>
            <a:chExt cx="4937760" cy="1341120"/>
          </a:xfrm>
        </p:grpSpPr>
        <p:sp>
          <p:nvSpPr>
            <p:cNvPr name="Freeform 135" id="135"/>
            <p:cNvSpPr/>
            <p:nvPr/>
          </p:nvSpPr>
          <p:spPr>
            <a:xfrm flipH="false" flipV="false" rot="0">
              <a:off x="0" y="0"/>
              <a:ext cx="4937760" cy="1341120"/>
            </a:xfrm>
            <a:custGeom>
              <a:avLst/>
              <a:gdLst/>
              <a:ahLst/>
              <a:cxnLst/>
              <a:rect r="r" b="b" t="t" l="l"/>
              <a:pathLst>
                <a:path h="1341120" w="4937760">
                  <a:moveTo>
                    <a:pt x="0" y="223520"/>
                  </a:moveTo>
                  <a:cubicBezTo>
                    <a:pt x="0" y="100076"/>
                    <a:pt x="100076" y="0"/>
                    <a:pt x="223520" y="0"/>
                  </a:cubicBezTo>
                  <a:lnTo>
                    <a:pt x="4714240" y="0"/>
                  </a:lnTo>
                  <a:cubicBezTo>
                    <a:pt x="4837684" y="0"/>
                    <a:pt x="4937760" y="100076"/>
                    <a:pt x="4937760" y="223520"/>
                  </a:cubicBezTo>
                  <a:lnTo>
                    <a:pt x="4937760" y="1117600"/>
                  </a:lnTo>
                  <a:cubicBezTo>
                    <a:pt x="4937760" y="1241044"/>
                    <a:pt x="4837684" y="1341120"/>
                    <a:pt x="4714240" y="1341120"/>
                  </a:cubicBezTo>
                  <a:lnTo>
                    <a:pt x="223520" y="1341120"/>
                  </a:lnTo>
                  <a:cubicBezTo>
                    <a:pt x="100076" y="1341120"/>
                    <a:pt x="0" y="1241044"/>
                    <a:pt x="0" y="1117600"/>
                  </a:cubicBezTo>
                  <a:close/>
                </a:path>
              </a:pathLst>
            </a:custGeom>
            <a:solidFill>
              <a:srgbClr val="E1EAF2"/>
            </a:solidFill>
          </p:spPr>
        </p:sp>
      </p:grpSp>
      <p:grpSp>
        <p:nvGrpSpPr>
          <p:cNvPr name="Group 136" id="136"/>
          <p:cNvGrpSpPr/>
          <p:nvPr/>
        </p:nvGrpSpPr>
        <p:grpSpPr>
          <a:xfrm rot="0">
            <a:off x="9235440" y="6850380"/>
            <a:ext cx="3611880" cy="422453"/>
            <a:chOff x="0" y="0"/>
            <a:chExt cx="4815840" cy="563270"/>
          </a:xfrm>
        </p:grpSpPr>
        <p:sp>
          <p:nvSpPr>
            <p:cNvPr name="Freeform 137" id="137"/>
            <p:cNvSpPr/>
            <p:nvPr/>
          </p:nvSpPr>
          <p:spPr>
            <a:xfrm flipH="false" flipV="false" rot="0">
              <a:off x="0" y="0"/>
              <a:ext cx="4815839" cy="563269"/>
            </a:xfrm>
            <a:custGeom>
              <a:avLst/>
              <a:gdLst/>
              <a:ahLst/>
              <a:cxnLst/>
              <a:rect r="r" b="b" t="t" l="l"/>
              <a:pathLst>
                <a:path h="563269" w="4815839">
                  <a:moveTo>
                    <a:pt x="0" y="0"/>
                  </a:moveTo>
                  <a:lnTo>
                    <a:pt x="4815839" y="0"/>
                  </a:lnTo>
                  <a:lnTo>
                    <a:pt x="4815839" y="563269"/>
                  </a:lnTo>
                  <a:lnTo>
                    <a:pt x="0" y="563269"/>
                  </a:lnTo>
                  <a:close/>
                </a:path>
              </a:pathLst>
            </a:custGeom>
            <a:blipFill>
              <a:blip r:embed="rId2">
                <a:alphaModFix amt="0"/>
              </a:blip>
              <a:stretch>
                <a:fillRect l="0" t="-116593" r="0" b="-116593"/>
              </a:stretch>
            </a:blipFill>
          </p:spPr>
        </p:sp>
        <p:sp>
          <p:nvSpPr>
            <p:cNvPr name="TextBox 138" id="138"/>
            <p:cNvSpPr txBox="true"/>
            <p:nvPr/>
          </p:nvSpPr>
          <p:spPr>
            <a:xfrm>
              <a:off x="0" y="0"/>
              <a:ext cx="4815840" cy="563270"/>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2–3 WAITS</a:t>
              </a:r>
            </a:p>
          </p:txBody>
        </p:sp>
      </p:grpSp>
      <p:grpSp>
        <p:nvGrpSpPr>
          <p:cNvPr name="Group 139" id="139"/>
          <p:cNvGrpSpPr/>
          <p:nvPr/>
        </p:nvGrpSpPr>
        <p:grpSpPr>
          <a:xfrm rot="0">
            <a:off x="9235440" y="7237171"/>
            <a:ext cx="3611880" cy="482803"/>
            <a:chOff x="0" y="0"/>
            <a:chExt cx="4815840" cy="643738"/>
          </a:xfrm>
        </p:grpSpPr>
        <p:sp>
          <p:nvSpPr>
            <p:cNvPr name="Freeform 140" id="140"/>
            <p:cNvSpPr/>
            <p:nvPr/>
          </p:nvSpPr>
          <p:spPr>
            <a:xfrm flipH="false" flipV="false" rot="0">
              <a:off x="0" y="0"/>
              <a:ext cx="4815839" cy="643737"/>
            </a:xfrm>
            <a:custGeom>
              <a:avLst/>
              <a:gdLst/>
              <a:ahLst/>
              <a:cxnLst/>
              <a:rect r="r" b="b" t="t" l="l"/>
              <a:pathLst>
                <a:path h="643737" w="4815839">
                  <a:moveTo>
                    <a:pt x="0" y="0"/>
                  </a:moveTo>
                  <a:lnTo>
                    <a:pt x="4815839" y="0"/>
                  </a:lnTo>
                  <a:lnTo>
                    <a:pt x="4815839" y="643737"/>
                  </a:lnTo>
                  <a:lnTo>
                    <a:pt x="0" y="643737"/>
                  </a:lnTo>
                  <a:close/>
                </a:path>
              </a:pathLst>
            </a:custGeom>
            <a:blipFill>
              <a:blip r:embed="rId2">
                <a:alphaModFix amt="0"/>
              </a:blip>
              <a:stretch>
                <a:fillRect l="0" t="-95768" r="0" b="-95768"/>
              </a:stretch>
            </a:blipFill>
          </p:spPr>
        </p:sp>
        <p:sp>
          <p:nvSpPr>
            <p:cNvPr name="TextBox 141" id="141"/>
            <p:cNvSpPr txBox="true"/>
            <p:nvPr/>
          </p:nvSpPr>
          <p:spPr>
            <a:xfrm>
              <a:off x="0" y="0"/>
              <a:ext cx="4815840" cy="643738"/>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wait_count = 3–4</a:t>
              </a:r>
            </a:p>
          </p:txBody>
        </p:sp>
      </p:grpSp>
      <p:grpSp>
        <p:nvGrpSpPr>
          <p:cNvPr name="Group 142" id="142"/>
          <p:cNvGrpSpPr/>
          <p:nvPr/>
        </p:nvGrpSpPr>
        <p:grpSpPr>
          <a:xfrm rot="0">
            <a:off x="13350240" y="6804660"/>
            <a:ext cx="3703320" cy="1005840"/>
            <a:chOff x="0" y="0"/>
            <a:chExt cx="4937760" cy="1341120"/>
          </a:xfrm>
        </p:grpSpPr>
        <p:sp>
          <p:nvSpPr>
            <p:cNvPr name="Freeform 143" id="143"/>
            <p:cNvSpPr/>
            <p:nvPr/>
          </p:nvSpPr>
          <p:spPr>
            <a:xfrm flipH="false" flipV="false" rot="0">
              <a:off x="0" y="0"/>
              <a:ext cx="4937760" cy="1341120"/>
            </a:xfrm>
            <a:custGeom>
              <a:avLst/>
              <a:gdLst/>
              <a:ahLst/>
              <a:cxnLst/>
              <a:rect r="r" b="b" t="t" l="l"/>
              <a:pathLst>
                <a:path h="1341120" w="4937760">
                  <a:moveTo>
                    <a:pt x="0" y="223520"/>
                  </a:moveTo>
                  <a:cubicBezTo>
                    <a:pt x="0" y="100076"/>
                    <a:pt x="100076" y="0"/>
                    <a:pt x="223520" y="0"/>
                  </a:cubicBezTo>
                  <a:lnTo>
                    <a:pt x="4714240" y="0"/>
                  </a:lnTo>
                  <a:cubicBezTo>
                    <a:pt x="4837684" y="0"/>
                    <a:pt x="4937760" y="100076"/>
                    <a:pt x="4937760" y="223520"/>
                  </a:cubicBezTo>
                  <a:lnTo>
                    <a:pt x="4937760" y="1117600"/>
                  </a:lnTo>
                  <a:cubicBezTo>
                    <a:pt x="4937760" y="1241044"/>
                    <a:pt x="4837684" y="1341120"/>
                    <a:pt x="4714240" y="1341120"/>
                  </a:cubicBezTo>
                  <a:lnTo>
                    <a:pt x="223520" y="1341120"/>
                  </a:lnTo>
                  <a:cubicBezTo>
                    <a:pt x="100076" y="1341120"/>
                    <a:pt x="0" y="1241044"/>
                    <a:pt x="0" y="1117600"/>
                  </a:cubicBezTo>
                  <a:close/>
                </a:path>
              </a:pathLst>
            </a:custGeom>
            <a:solidFill>
              <a:srgbClr val="E1EAF2"/>
            </a:solidFill>
          </p:spPr>
        </p:sp>
      </p:grpSp>
      <p:grpSp>
        <p:nvGrpSpPr>
          <p:cNvPr name="Group 144" id="144"/>
          <p:cNvGrpSpPr/>
          <p:nvPr/>
        </p:nvGrpSpPr>
        <p:grpSpPr>
          <a:xfrm rot="0">
            <a:off x="13395960" y="6850380"/>
            <a:ext cx="3611880" cy="422453"/>
            <a:chOff x="0" y="0"/>
            <a:chExt cx="4815840" cy="563270"/>
          </a:xfrm>
        </p:grpSpPr>
        <p:sp>
          <p:nvSpPr>
            <p:cNvPr name="Freeform 145" id="145"/>
            <p:cNvSpPr/>
            <p:nvPr/>
          </p:nvSpPr>
          <p:spPr>
            <a:xfrm flipH="false" flipV="false" rot="0">
              <a:off x="0" y="0"/>
              <a:ext cx="4815839" cy="563269"/>
            </a:xfrm>
            <a:custGeom>
              <a:avLst/>
              <a:gdLst/>
              <a:ahLst/>
              <a:cxnLst/>
              <a:rect r="r" b="b" t="t" l="l"/>
              <a:pathLst>
                <a:path h="563269" w="4815839">
                  <a:moveTo>
                    <a:pt x="0" y="0"/>
                  </a:moveTo>
                  <a:lnTo>
                    <a:pt x="4815839" y="0"/>
                  </a:lnTo>
                  <a:lnTo>
                    <a:pt x="4815839" y="563269"/>
                  </a:lnTo>
                  <a:lnTo>
                    <a:pt x="0" y="563269"/>
                  </a:lnTo>
                  <a:close/>
                </a:path>
              </a:pathLst>
            </a:custGeom>
            <a:blipFill>
              <a:blip r:embed="rId2">
                <a:alphaModFix amt="0"/>
              </a:blip>
              <a:stretch>
                <a:fillRect l="0" t="-116593" r="0" b="-116593"/>
              </a:stretch>
            </a:blipFill>
          </p:spPr>
        </p:sp>
        <p:sp>
          <p:nvSpPr>
            <p:cNvPr name="TextBox 146" id="146"/>
            <p:cNvSpPr txBox="true"/>
            <p:nvPr/>
          </p:nvSpPr>
          <p:spPr>
            <a:xfrm>
              <a:off x="0" y="0"/>
              <a:ext cx="4815840" cy="563270"/>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4+ WAITS</a:t>
              </a:r>
            </a:p>
          </p:txBody>
        </p:sp>
      </p:grpSp>
      <p:grpSp>
        <p:nvGrpSpPr>
          <p:cNvPr name="Group 147" id="147"/>
          <p:cNvGrpSpPr/>
          <p:nvPr/>
        </p:nvGrpSpPr>
        <p:grpSpPr>
          <a:xfrm rot="0">
            <a:off x="13395960" y="7237171"/>
            <a:ext cx="3611880" cy="482803"/>
            <a:chOff x="0" y="0"/>
            <a:chExt cx="4815840" cy="643738"/>
          </a:xfrm>
        </p:grpSpPr>
        <p:sp>
          <p:nvSpPr>
            <p:cNvPr name="Freeform 148" id="148"/>
            <p:cNvSpPr/>
            <p:nvPr/>
          </p:nvSpPr>
          <p:spPr>
            <a:xfrm flipH="false" flipV="false" rot="0">
              <a:off x="0" y="0"/>
              <a:ext cx="4815839" cy="643737"/>
            </a:xfrm>
            <a:custGeom>
              <a:avLst/>
              <a:gdLst/>
              <a:ahLst/>
              <a:cxnLst/>
              <a:rect r="r" b="b" t="t" l="l"/>
              <a:pathLst>
                <a:path h="643737" w="4815839">
                  <a:moveTo>
                    <a:pt x="0" y="0"/>
                  </a:moveTo>
                  <a:lnTo>
                    <a:pt x="4815839" y="0"/>
                  </a:lnTo>
                  <a:lnTo>
                    <a:pt x="4815839" y="643737"/>
                  </a:lnTo>
                  <a:lnTo>
                    <a:pt x="0" y="643737"/>
                  </a:lnTo>
                  <a:close/>
                </a:path>
              </a:pathLst>
            </a:custGeom>
            <a:blipFill>
              <a:blip r:embed="rId2">
                <a:alphaModFix amt="0"/>
              </a:blip>
              <a:stretch>
                <a:fillRect l="0" t="-95768" r="0" b="-95768"/>
              </a:stretch>
            </a:blipFill>
          </p:spPr>
        </p:sp>
        <p:sp>
          <p:nvSpPr>
            <p:cNvPr name="TextBox 149" id="149"/>
            <p:cNvSpPr txBox="true"/>
            <p:nvPr/>
          </p:nvSpPr>
          <p:spPr>
            <a:xfrm>
              <a:off x="0" y="0"/>
              <a:ext cx="4815840" cy="643738"/>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wait_count = 5+</a:t>
              </a:r>
            </a:p>
          </p:txBody>
        </p:sp>
      </p:grpSp>
      <p:grpSp>
        <p:nvGrpSpPr>
          <p:cNvPr name="Group 150" id="150"/>
          <p:cNvGrpSpPr/>
          <p:nvPr/>
        </p:nvGrpSpPr>
        <p:grpSpPr>
          <a:xfrm rot="0">
            <a:off x="685800" y="9710928"/>
            <a:ext cx="10972800" cy="411480"/>
            <a:chOff x="0" y="0"/>
            <a:chExt cx="14630400" cy="548640"/>
          </a:xfrm>
        </p:grpSpPr>
        <p:sp>
          <p:nvSpPr>
            <p:cNvPr name="Freeform 151" id="15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152" id="152"/>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153" id="153"/>
          <p:cNvGrpSpPr/>
          <p:nvPr/>
        </p:nvGrpSpPr>
        <p:grpSpPr>
          <a:xfrm rot="0">
            <a:off x="16911828" y="9710928"/>
            <a:ext cx="685800" cy="411480"/>
            <a:chOff x="0" y="0"/>
            <a:chExt cx="914400" cy="548640"/>
          </a:xfrm>
        </p:grpSpPr>
        <p:sp>
          <p:nvSpPr>
            <p:cNvPr name="Freeform 154" id="15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155" id="155"/>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28</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grpSp>
        <p:nvGrpSpPr>
          <p:cNvPr name="Group 2" id="2"/>
          <p:cNvGrpSpPr/>
          <p:nvPr/>
        </p:nvGrpSpPr>
        <p:grpSpPr>
          <a:xfrm rot="0">
            <a:off x="228600" y="-3086"/>
            <a:ext cx="16276320" cy="1268035"/>
            <a:chOff x="0" y="0"/>
            <a:chExt cx="21701760" cy="1690713"/>
          </a:xfrm>
        </p:grpSpPr>
        <p:sp>
          <p:nvSpPr>
            <p:cNvPr name="Freeform 3" id="3"/>
            <p:cNvSpPr/>
            <p:nvPr/>
          </p:nvSpPr>
          <p:spPr>
            <a:xfrm flipH="false" flipV="false" rot="0">
              <a:off x="0" y="0"/>
              <a:ext cx="21701761" cy="1690719"/>
            </a:xfrm>
            <a:custGeom>
              <a:avLst/>
              <a:gdLst/>
              <a:ahLst/>
              <a:cxnLst/>
              <a:rect r="r" b="b" t="t" l="l"/>
              <a:pathLst>
                <a:path h="1690719" w="21701761">
                  <a:moveTo>
                    <a:pt x="0" y="0"/>
                  </a:moveTo>
                  <a:lnTo>
                    <a:pt x="21701761" y="0"/>
                  </a:lnTo>
                  <a:lnTo>
                    <a:pt x="21701761" y="1690719"/>
                  </a:lnTo>
                  <a:lnTo>
                    <a:pt x="0" y="1690719"/>
                  </a:lnTo>
                  <a:close/>
                </a:path>
              </a:pathLst>
            </a:custGeom>
            <a:blipFill>
              <a:blip r:embed="rId2">
                <a:alphaModFix amt="0"/>
              </a:blip>
              <a:stretch>
                <a:fillRect l="0" t="-200106" r="0" b="-200106"/>
              </a:stretch>
            </a:blipFill>
          </p:spPr>
        </p:sp>
        <p:sp>
          <p:nvSpPr>
            <p:cNvPr name="TextBox 4" id="4"/>
            <p:cNvSpPr txBox="true"/>
            <p:nvPr/>
          </p:nvSpPr>
          <p:spPr>
            <a:xfrm>
              <a:off x="0" y="0"/>
              <a:ext cx="21701760" cy="1690713"/>
            </a:xfrm>
            <a:prstGeom prst="rect">
              <a:avLst/>
            </a:prstGeom>
          </p:spPr>
          <p:txBody>
            <a:bodyPr anchor="ctr" rtlCol="false" tIns="0" lIns="0" bIns="0" rIns="0"/>
            <a:lstStyle/>
            <a:p>
              <a:pPr algn="l">
                <a:lnSpc>
                  <a:spcPts val="9600"/>
                </a:lnSpc>
              </a:pPr>
              <a:r>
                <a:rPr lang="en-US" sz="8000">
                  <a:solidFill>
                    <a:srgbClr val="2D5986"/>
                  </a:solidFill>
                  <a:latin typeface="Anton"/>
                  <a:ea typeface="Anton"/>
                  <a:cs typeface="Anton"/>
                  <a:sym typeface="Anton"/>
                </a:rPr>
                <a:t>End-to-End Cross Coverage</a:t>
              </a:r>
            </a:p>
          </p:txBody>
        </p:sp>
      </p:grpSp>
      <p:grpSp>
        <p:nvGrpSpPr>
          <p:cNvPr name="Group 5" id="5"/>
          <p:cNvGrpSpPr/>
          <p:nvPr/>
        </p:nvGrpSpPr>
        <p:grpSpPr>
          <a:xfrm rot="0">
            <a:off x="292608" y="1166012"/>
            <a:ext cx="16093440" cy="283150"/>
            <a:chOff x="0" y="0"/>
            <a:chExt cx="21457920" cy="377533"/>
          </a:xfrm>
        </p:grpSpPr>
        <p:sp>
          <p:nvSpPr>
            <p:cNvPr name="Freeform 6" id="6"/>
            <p:cNvSpPr/>
            <p:nvPr/>
          </p:nvSpPr>
          <p:spPr>
            <a:xfrm flipH="false" flipV="false" rot="0">
              <a:off x="0" y="0"/>
              <a:ext cx="21457920" cy="377539"/>
            </a:xfrm>
            <a:custGeom>
              <a:avLst/>
              <a:gdLst/>
              <a:ahLst/>
              <a:cxnLst/>
              <a:rect r="r" b="b" t="t" l="l"/>
              <a:pathLst>
                <a:path h="377539" w="21457920">
                  <a:moveTo>
                    <a:pt x="0" y="0"/>
                  </a:moveTo>
                  <a:lnTo>
                    <a:pt x="21457920" y="0"/>
                  </a:lnTo>
                  <a:lnTo>
                    <a:pt x="21457920" y="377539"/>
                  </a:lnTo>
                  <a:lnTo>
                    <a:pt x="0" y="377539"/>
                  </a:lnTo>
                  <a:close/>
                </a:path>
              </a:pathLst>
            </a:custGeom>
            <a:blipFill>
              <a:blip r:embed="rId2">
                <a:alphaModFix amt="0"/>
              </a:blip>
              <a:stretch>
                <a:fillRect l="0" t="-1057459" r="0" b="-1057457"/>
              </a:stretch>
            </a:blipFill>
          </p:spPr>
        </p:sp>
        <p:sp>
          <p:nvSpPr>
            <p:cNvPr name="TextBox 7" id="7"/>
            <p:cNvSpPr txBox="true"/>
            <p:nvPr/>
          </p:nvSpPr>
          <p:spPr>
            <a:xfrm>
              <a:off x="0" y="0"/>
              <a:ext cx="21457920" cy="377533"/>
            </a:xfrm>
            <a:prstGeom prst="rect">
              <a:avLst/>
            </a:prstGeom>
          </p:spPr>
          <p:txBody>
            <a:bodyPr anchor="ctr" rtlCol="false" tIns="0" lIns="0" bIns="0" rIns="0"/>
            <a:lstStyle/>
            <a:p>
              <a:pPr algn="l">
                <a:lnSpc>
                  <a:spcPts val="1919"/>
                </a:lnSpc>
              </a:pPr>
              <a:r>
                <a:rPr lang="en-US" sz="1599">
                  <a:solidFill>
                    <a:srgbClr val="63707C"/>
                  </a:solidFill>
                  <a:latin typeface="Aptos"/>
                  <a:ea typeface="Aptos"/>
                  <a:cs typeface="Aptos"/>
                  <a:sym typeface="Aptos"/>
                </a:rPr>
                <a:t>CG-011, CG-012  |  Link the AHB request attributes to the APB outcome</a:t>
              </a:r>
            </a:p>
          </p:txBody>
        </p:sp>
      </p:grpSp>
      <p:grpSp>
        <p:nvGrpSpPr>
          <p:cNvPr name="Group 8" id="8"/>
          <p:cNvGrpSpPr/>
          <p:nvPr/>
        </p:nvGrpSpPr>
        <p:grpSpPr>
          <a:xfrm rot="0">
            <a:off x="404498" y="1776098"/>
            <a:ext cx="8197853" cy="5363213"/>
            <a:chOff x="0" y="0"/>
            <a:chExt cx="10930471" cy="7150951"/>
          </a:xfrm>
        </p:grpSpPr>
        <p:sp>
          <p:nvSpPr>
            <p:cNvPr name="Freeform 9" id="9"/>
            <p:cNvSpPr/>
            <p:nvPr/>
          </p:nvSpPr>
          <p:spPr>
            <a:xfrm flipH="false" flipV="false" rot="0">
              <a:off x="0" y="0"/>
              <a:ext cx="10930509" cy="7150989"/>
            </a:xfrm>
            <a:custGeom>
              <a:avLst/>
              <a:gdLst/>
              <a:ahLst/>
              <a:cxnLst/>
              <a:rect r="r" b="b" t="t" l="l"/>
              <a:pathLst>
                <a:path h="7150989" w="10930509">
                  <a:moveTo>
                    <a:pt x="0" y="1191895"/>
                  </a:moveTo>
                  <a:cubicBezTo>
                    <a:pt x="0" y="533654"/>
                    <a:pt x="533654" y="0"/>
                    <a:pt x="1191895" y="0"/>
                  </a:cubicBezTo>
                  <a:lnTo>
                    <a:pt x="9738614" y="0"/>
                  </a:lnTo>
                  <a:cubicBezTo>
                    <a:pt x="10396855" y="0"/>
                    <a:pt x="10930509" y="533654"/>
                    <a:pt x="10930509" y="1191895"/>
                  </a:cubicBezTo>
                  <a:lnTo>
                    <a:pt x="10930509" y="5959094"/>
                  </a:lnTo>
                  <a:cubicBezTo>
                    <a:pt x="10930509" y="6617335"/>
                    <a:pt x="10396855" y="7150989"/>
                    <a:pt x="9738614" y="7150989"/>
                  </a:cubicBezTo>
                  <a:lnTo>
                    <a:pt x="1191895" y="7150989"/>
                  </a:lnTo>
                  <a:cubicBezTo>
                    <a:pt x="533654" y="7150989"/>
                    <a:pt x="0" y="6617335"/>
                    <a:pt x="0" y="5959094"/>
                  </a:cubicBezTo>
                  <a:close/>
                </a:path>
              </a:pathLst>
            </a:custGeom>
            <a:solidFill>
              <a:srgbClr val="FFFFFF"/>
            </a:solidFill>
            <a:ln w="13970" cap="sq">
              <a:solidFill>
                <a:srgbClr val="CAD6E0"/>
              </a:solidFill>
              <a:prstDash val="solid"/>
              <a:miter/>
            </a:ln>
          </p:spPr>
        </p:sp>
      </p:grpSp>
      <p:grpSp>
        <p:nvGrpSpPr>
          <p:cNvPr name="Group 10" id="10"/>
          <p:cNvGrpSpPr/>
          <p:nvPr/>
        </p:nvGrpSpPr>
        <p:grpSpPr>
          <a:xfrm rot="0">
            <a:off x="411480" y="1856232"/>
            <a:ext cx="68580" cy="5202936"/>
            <a:chOff x="0" y="0"/>
            <a:chExt cx="91440" cy="6937248"/>
          </a:xfrm>
        </p:grpSpPr>
        <p:sp>
          <p:nvSpPr>
            <p:cNvPr name="Freeform 11" id="11"/>
            <p:cNvSpPr/>
            <p:nvPr/>
          </p:nvSpPr>
          <p:spPr>
            <a:xfrm flipH="false" flipV="false" rot="0">
              <a:off x="0" y="0"/>
              <a:ext cx="91440" cy="6937248"/>
            </a:xfrm>
            <a:custGeom>
              <a:avLst/>
              <a:gdLst/>
              <a:ahLst/>
              <a:cxnLst/>
              <a:rect r="r" b="b" t="t" l="l"/>
              <a:pathLst>
                <a:path h="6937248" w="91440">
                  <a:moveTo>
                    <a:pt x="0" y="0"/>
                  </a:moveTo>
                  <a:lnTo>
                    <a:pt x="91440" y="0"/>
                  </a:lnTo>
                  <a:lnTo>
                    <a:pt x="91440" y="6937248"/>
                  </a:lnTo>
                  <a:lnTo>
                    <a:pt x="0" y="6937248"/>
                  </a:lnTo>
                  <a:close/>
                </a:path>
              </a:pathLst>
            </a:custGeom>
            <a:solidFill>
              <a:srgbClr val="2D5986"/>
            </a:solidFill>
          </p:spPr>
        </p:sp>
      </p:grpSp>
      <p:grpSp>
        <p:nvGrpSpPr>
          <p:cNvPr name="Group 12" id="12"/>
          <p:cNvGrpSpPr/>
          <p:nvPr/>
        </p:nvGrpSpPr>
        <p:grpSpPr>
          <a:xfrm rot="0">
            <a:off x="886968" y="1892808"/>
            <a:ext cx="7799832" cy="384048"/>
            <a:chOff x="0" y="0"/>
            <a:chExt cx="10399776" cy="512064"/>
          </a:xfrm>
        </p:grpSpPr>
        <p:sp>
          <p:nvSpPr>
            <p:cNvPr name="Freeform 13" id="13"/>
            <p:cNvSpPr/>
            <p:nvPr/>
          </p:nvSpPr>
          <p:spPr>
            <a:xfrm flipH="false" flipV="false" rot="0">
              <a:off x="0" y="0"/>
              <a:ext cx="10399775" cy="512064"/>
            </a:xfrm>
            <a:custGeom>
              <a:avLst/>
              <a:gdLst/>
              <a:ahLst/>
              <a:cxnLst/>
              <a:rect r="r" b="b" t="t" l="l"/>
              <a:pathLst>
                <a:path h="512064" w="10399775">
                  <a:moveTo>
                    <a:pt x="0" y="0"/>
                  </a:moveTo>
                  <a:lnTo>
                    <a:pt x="10399775" y="0"/>
                  </a:lnTo>
                  <a:lnTo>
                    <a:pt x="10399775" y="512064"/>
                  </a:lnTo>
                  <a:lnTo>
                    <a:pt x="0" y="512064"/>
                  </a:lnTo>
                  <a:close/>
                </a:path>
              </a:pathLst>
            </a:custGeom>
            <a:blipFill>
              <a:blip r:embed="rId2">
                <a:alphaModFix amt="0"/>
              </a:blip>
              <a:stretch>
                <a:fillRect l="0" t="-345731" r="0" b="-345731"/>
              </a:stretch>
            </a:blipFill>
          </p:spPr>
        </p:sp>
        <p:sp>
          <p:nvSpPr>
            <p:cNvPr name="TextBox 14" id="14"/>
            <p:cNvSpPr txBox="true"/>
            <p:nvPr/>
          </p:nvSpPr>
          <p:spPr>
            <a:xfrm>
              <a:off x="0" y="-9525"/>
              <a:ext cx="10399776" cy="521589"/>
            </a:xfrm>
            <a:prstGeom prst="rect">
              <a:avLst/>
            </a:prstGeom>
          </p:spPr>
          <p:txBody>
            <a:bodyPr anchor="ctr" rtlCol="false" tIns="0" lIns="0" bIns="0" rIns="0"/>
            <a:lstStyle/>
            <a:p>
              <a:pPr algn="l">
                <a:lnSpc>
                  <a:spcPts val="2520"/>
                </a:lnSpc>
              </a:pPr>
              <a:r>
                <a:rPr lang="en-US" sz="2100" b="true">
                  <a:solidFill>
                    <a:srgbClr val="2D5986"/>
                  </a:solidFill>
                  <a:latin typeface="Aptos Bold"/>
                  <a:ea typeface="Aptos Bold"/>
                  <a:cs typeface="Aptos Bold"/>
                  <a:sym typeface="Aptos Bold"/>
                </a:rPr>
                <a:t>Read/Write × APB response</a:t>
              </a:r>
            </a:p>
          </p:txBody>
        </p:sp>
      </p:grpSp>
      <p:grpSp>
        <p:nvGrpSpPr>
          <p:cNvPr name="Group 15" id="15"/>
          <p:cNvGrpSpPr/>
          <p:nvPr/>
        </p:nvGrpSpPr>
        <p:grpSpPr>
          <a:xfrm rot="0">
            <a:off x="804672" y="2395728"/>
            <a:ext cx="7269480" cy="384048"/>
            <a:chOff x="0" y="0"/>
            <a:chExt cx="9692640" cy="512064"/>
          </a:xfrm>
        </p:grpSpPr>
        <p:sp>
          <p:nvSpPr>
            <p:cNvPr name="Freeform 16" id="16"/>
            <p:cNvSpPr/>
            <p:nvPr/>
          </p:nvSpPr>
          <p:spPr>
            <a:xfrm flipH="false" flipV="false" rot="0">
              <a:off x="0" y="0"/>
              <a:ext cx="9692640" cy="512064"/>
            </a:xfrm>
            <a:custGeom>
              <a:avLst/>
              <a:gdLst/>
              <a:ahLst/>
              <a:cxnLst/>
              <a:rect r="r" b="b" t="t" l="l"/>
              <a:pathLst>
                <a:path h="512064" w="9692640">
                  <a:moveTo>
                    <a:pt x="0" y="0"/>
                  </a:moveTo>
                  <a:lnTo>
                    <a:pt x="9692640" y="0"/>
                  </a:lnTo>
                  <a:lnTo>
                    <a:pt x="9692640" y="512064"/>
                  </a:lnTo>
                  <a:lnTo>
                    <a:pt x="0" y="512064"/>
                  </a:lnTo>
                  <a:close/>
                </a:path>
              </a:pathLst>
            </a:custGeom>
            <a:blipFill>
              <a:blip r:embed="rId2">
                <a:alphaModFix amt="0"/>
              </a:blip>
              <a:stretch>
                <a:fillRect l="0" t="-318823" r="0" b="-318823"/>
              </a:stretch>
            </a:blipFill>
          </p:spPr>
        </p:sp>
        <p:sp>
          <p:nvSpPr>
            <p:cNvPr name="TextBox 17" id="17"/>
            <p:cNvSpPr txBox="true"/>
            <p:nvPr/>
          </p:nvSpPr>
          <p:spPr>
            <a:xfrm>
              <a:off x="0" y="0"/>
              <a:ext cx="9692640" cy="512064"/>
            </a:xfrm>
            <a:prstGeom prst="rect">
              <a:avLst/>
            </a:prstGeom>
          </p:spPr>
          <p:txBody>
            <a:bodyPr anchor="ctr" rtlCol="false" tIns="0" lIns="0" bIns="0" rIns="0"/>
            <a:lstStyle/>
            <a:p>
              <a:pPr algn="l">
                <a:lnSpc>
                  <a:spcPts val="1919"/>
                </a:lnSpc>
              </a:pPr>
              <a:r>
                <a:rPr lang="en-US" sz="1599">
                  <a:solidFill>
                    <a:srgbClr val="63707C"/>
                  </a:solidFill>
                  <a:latin typeface="Aptos"/>
                  <a:ea typeface="Aptos"/>
                  <a:cs typeface="Aptos"/>
                  <a:sym typeface="Aptos"/>
                </a:rPr>
                <a:t>Sampled only after an AHB/APB pair is matched</a:t>
              </a:r>
            </a:p>
          </p:txBody>
        </p:sp>
      </p:grpSp>
      <p:grpSp>
        <p:nvGrpSpPr>
          <p:cNvPr name="Group 18" id="18"/>
          <p:cNvGrpSpPr/>
          <p:nvPr/>
        </p:nvGrpSpPr>
        <p:grpSpPr>
          <a:xfrm rot="0">
            <a:off x="1874520" y="3127248"/>
            <a:ext cx="2404872" cy="621792"/>
            <a:chOff x="0" y="0"/>
            <a:chExt cx="3206496" cy="829056"/>
          </a:xfrm>
        </p:grpSpPr>
        <p:sp>
          <p:nvSpPr>
            <p:cNvPr name="Freeform 19" id="19"/>
            <p:cNvSpPr/>
            <p:nvPr/>
          </p:nvSpPr>
          <p:spPr>
            <a:xfrm flipH="false" flipV="false" rot="0">
              <a:off x="0" y="0"/>
              <a:ext cx="3206496" cy="829056"/>
            </a:xfrm>
            <a:custGeom>
              <a:avLst/>
              <a:gdLst/>
              <a:ahLst/>
              <a:cxnLst/>
              <a:rect r="r" b="b" t="t" l="l"/>
              <a:pathLst>
                <a:path h="829056" w="3206496">
                  <a:moveTo>
                    <a:pt x="0" y="138176"/>
                  </a:moveTo>
                  <a:cubicBezTo>
                    <a:pt x="0" y="61849"/>
                    <a:pt x="61849" y="0"/>
                    <a:pt x="138176" y="0"/>
                  </a:cubicBezTo>
                  <a:lnTo>
                    <a:pt x="3068320" y="0"/>
                  </a:lnTo>
                  <a:cubicBezTo>
                    <a:pt x="3144647" y="0"/>
                    <a:pt x="3206496" y="61849"/>
                    <a:pt x="3206496" y="138176"/>
                  </a:cubicBezTo>
                  <a:lnTo>
                    <a:pt x="3206496" y="690880"/>
                  </a:lnTo>
                  <a:cubicBezTo>
                    <a:pt x="3206496" y="767207"/>
                    <a:pt x="3144647" y="829056"/>
                    <a:pt x="3068320" y="829056"/>
                  </a:cubicBezTo>
                  <a:lnTo>
                    <a:pt x="138176" y="829056"/>
                  </a:lnTo>
                  <a:cubicBezTo>
                    <a:pt x="61849" y="829056"/>
                    <a:pt x="0" y="767207"/>
                    <a:pt x="0" y="690880"/>
                  </a:cubicBezTo>
                  <a:close/>
                </a:path>
              </a:pathLst>
            </a:custGeom>
            <a:solidFill>
              <a:srgbClr val="2D5986"/>
            </a:solidFill>
          </p:spPr>
        </p:sp>
      </p:grpSp>
      <p:grpSp>
        <p:nvGrpSpPr>
          <p:cNvPr name="Group 20" id="20"/>
          <p:cNvGrpSpPr/>
          <p:nvPr/>
        </p:nvGrpSpPr>
        <p:grpSpPr>
          <a:xfrm rot="0">
            <a:off x="1920240" y="3163824"/>
            <a:ext cx="2313432" cy="512064"/>
            <a:chOff x="0" y="0"/>
            <a:chExt cx="3084576" cy="682752"/>
          </a:xfrm>
        </p:grpSpPr>
        <p:sp>
          <p:nvSpPr>
            <p:cNvPr name="Freeform 21" id="21"/>
            <p:cNvSpPr/>
            <p:nvPr/>
          </p:nvSpPr>
          <p:spPr>
            <a:xfrm flipH="false" flipV="false" rot="0">
              <a:off x="0" y="0"/>
              <a:ext cx="3084576" cy="682752"/>
            </a:xfrm>
            <a:custGeom>
              <a:avLst/>
              <a:gdLst/>
              <a:ahLst/>
              <a:cxnLst/>
              <a:rect r="r" b="b" t="t" l="l"/>
              <a:pathLst>
                <a:path h="682752" w="3084576">
                  <a:moveTo>
                    <a:pt x="0" y="0"/>
                  </a:moveTo>
                  <a:lnTo>
                    <a:pt x="3084576" y="0"/>
                  </a:lnTo>
                  <a:lnTo>
                    <a:pt x="3084576" y="682752"/>
                  </a:lnTo>
                  <a:lnTo>
                    <a:pt x="0" y="682752"/>
                  </a:lnTo>
                  <a:close/>
                </a:path>
              </a:pathLst>
            </a:custGeom>
            <a:blipFill>
              <a:blip r:embed="rId2">
                <a:alphaModFix amt="0"/>
              </a:blip>
              <a:stretch>
                <a:fillRect l="0" t="-38030" r="0" b="-38030"/>
              </a:stretch>
            </a:blipFill>
          </p:spPr>
        </p:sp>
        <p:sp>
          <p:nvSpPr>
            <p:cNvPr name="TextBox 22" id="22"/>
            <p:cNvSpPr txBox="true"/>
            <p:nvPr/>
          </p:nvSpPr>
          <p:spPr>
            <a:xfrm>
              <a:off x="0" y="-9525"/>
              <a:ext cx="3084576" cy="692277"/>
            </a:xfrm>
            <a:prstGeom prst="rect">
              <a:avLst/>
            </a:prstGeom>
          </p:spPr>
          <p:txBody>
            <a:bodyPr anchor="ctr" rtlCol="false" tIns="0" lIns="0" bIns="0" rIns="0"/>
            <a:lstStyle/>
            <a:p>
              <a:pPr algn="ctr">
                <a:lnSpc>
                  <a:spcPts val="2040"/>
                </a:lnSpc>
              </a:pPr>
              <a:r>
                <a:rPr lang="en-US" sz="1700" b="true">
                  <a:solidFill>
                    <a:srgbClr val="FFFFFF"/>
                  </a:solidFill>
                  <a:latin typeface="Aptos Bold"/>
                  <a:ea typeface="Aptos Bold"/>
                  <a:cs typeface="Aptos Bold"/>
                  <a:sym typeface="Aptos Bold"/>
                </a:rPr>
                <a:t>OKAY</a:t>
              </a:r>
            </a:p>
          </p:txBody>
        </p:sp>
      </p:grpSp>
      <p:grpSp>
        <p:nvGrpSpPr>
          <p:cNvPr name="Group 23" id="23"/>
          <p:cNvGrpSpPr/>
          <p:nvPr/>
        </p:nvGrpSpPr>
        <p:grpSpPr>
          <a:xfrm rot="0">
            <a:off x="4389120" y="3127248"/>
            <a:ext cx="2404872" cy="621792"/>
            <a:chOff x="0" y="0"/>
            <a:chExt cx="3206496" cy="829056"/>
          </a:xfrm>
        </p:grpSpPr>
        <p:sp>
          <p:nvSpPr>
            <p:cNvPr name="Freeform 24" id="24"/>
            <p:cNvSpPr/>
            <p:nvPr/>
          </p:nvSpPr>
          <p:spPr>
            <a:xfrm flipH="false" flipV="false" rot="0">
              <a:off x="0" y="0"/>
              <a:ext cx="3206496" cy="829056"/>
            </a:xfrm>
            <a:custGeom>
              <a:avLst/>
              <a:gdLst/>
              <a:ahLst/>
              <a:cxnLst/>
              <a:rect r="r" b="b" t="t" l="l"/>
              <a:pathLst>
                <a:path h="829056" w="3206496">
                  <a:moveTo>
                    <a:pt x="0" y="138176"/>
                  </a:moveTo>
                  <a:cubicBezTo>
                    <a:pt x="0" y="61849"/>
                    <a:pt x="61849" y="0"/>
                    <a:pt x="138176" y="0"/>
                  </a:cubicBezTo>
                  <a:lnTo>
                    <a:pt x="3068320" y="0"/>
                  </a:lnTo>
                  <a:cubicBezTo>
                    <a:pt x="3144647" y="0"/>
                    <a:pt x="3206496" y="61849"/>
                    <a:pt x="3206496" y="138176"/>
                  </a:cubicBezTo>
                  <a:lnTo>
                    <a:pt x="3206496" y="690880"/>
                  </a:lnTo>
                  <a:cubicBezTo>
                    <a:pt x="3206496" y="767207"/>
                    <a:pt x="3144647" y="829056"/>
                    <a:pt x="3068320" y="829056"/>
                  </a:cubicBezTo>
                  <a:lnTo>
                    <a:pt x="138176" y="829056"/>
                  </a:lnTo>
                  <a:cubicBezTo>
                    <a:pt x="61849" y="829056"/>
                    <a:pt x="0" y="767207"/>
                    <a:pt x="0" y="690880"/>
                  </a:cubicBezTo>
                  <a:close/>
                </a:path>
              </a:pathLst>
            </a:custGeom>
            <a:solidFill>
              <a:srgbClr val="2D5986"/>
            </a:solidFill>
          </p:spPr>
        </p:sp>
      </p:grpSp>
      <p:grpSp>
        <p:nvGrpSpPr>
          <p:cNvPr name="Group 25" id="25"/>
          <p:cNvGrpSpPr/>
          <p:nvPr/>
        </p:nvGrpSpPr>
        <p:grpSpPr>
          <a:xfrm rot="0">
            <a:off x="4434840" y="3163824"/>
            <a:ext cx="2313432" cy="512064"/>
            <a:chOff x="0" y="0"/>
            <a:chExt cx="3084576" cy="682752"/>
          </a:xfrm>
        </p:grpSpPr>
        <p:sp>
          <p:nvSpPr>
            <p:cNvPr name="Freeform 26" id="26"/>
            <p:cNvSpPr/>
            <p:nvPr/>
          </p:nvSpPr>
          <p:spPr>
            <a:xfrm flipH="false" flipV="false" rot="0">
              <a:off x="0" y="0"/>
              <a:ext cx="3084576" cy="682752"/>
            </a:xfrm>
            <a:custGeom>
              <a:avLst/>
              <a:gdLst/>
              <a:ahLst/>
              <a:cxnLst/>
              <a:rect r="r" b="b" t="t" l="l"/>
              <a:pathLst>
                <a:path h="682752" w="3084576">
                  <a:moveTo>
                    <a:pt x="0" y="0"/>
                  </a:moveTo>
                  <a:lnTo>
                    <a:pt x="3084576" y="0"/>
                  </a:lnTo>
                  <a:lnTo>
                    <a:pt x="3084576" y="682752"/>
                  </a:lnTo>
                  <a:lnTo>
                    <a:pt x="0" y="682752"/>
                  </a:lnTo>
                  <a:close/>
                </a:path>
              </a:pathLst>
            </a:custGeom>
            <a:blipFill>
              <a:blip r:embed="rId2">
                <a:alphaModFix amt="0"/>
              </a:blip>
              <a:stretch>
                <a:fillRect l="0" t="-38030" r="0" b="-38030"/>
              </a:stretch>
            </a:blipFill>
          </p:spPr>
        </p:sp>
        <p:sp>
          <p:nvSpPr>
            <p:cNvPr name="TextBox 27" id="27"/>
            <p:cNvSpPr txBox="true"/>
            <p:nvPr/>
          </p:nvSpPr>
          <p:spPr>
            <a:xfrm>
              <a:off x="0" y="-9525"/>
              <a:ext cx="3084576" cy="692277"/>
            </a:xfrm>
            <a:prstGeom prst="rect">
              <a:avLst/>
            </a:prstGeom>
          </p:spPr>
          <p:txBody>
            <a:bodyPr anchor="ctr" rtlCol="false" tIns="0" lIns="0" bIns="0" rIns="0"/>
            <a:lstStyle/>
            <a:p>
              <a:pPr algn="ctr">
                <a:lnSpc>
                  <a:spcPts val="2040"/>
                </a:lnSpc>
              </a:pPr>
              <a:r>
                <a:rPr lang="en-US" sz="1700" b="true">
                  <a:solidFill>
                    <a:srgbClr val="FFFFFF"/>
                  </a:solidFill>
                  <a:latin typeface="Aptos Bold"/>
                  <a:ea typeface="Aptos Bold"/>
                  <a:cs typeface="Aptos Bold"/>
                  <a:sym typeface="Aptos Bold"/>
                </a:rPr>
                <a:t>ERROR</a:t>
              </a:r>
            </a:p>
          </p:txBody>
        </p:sp>
      </p:grpSp>
      <p:grpSp>
        <p:nvGrpSpPr>
          <p:cNvPr name="Group 28" id="28"/>
          <p:cNvGrpSpPr/>
          <p:nvPr/>
        </p:nvGrpSpPr>
        <p:grpSpPr>
          <a:xfrm rot="0">
            <a:off x="822960" y="3931920"/>
            <a:ext cx="914400" cy="457200"/>
            <a:chOff x="0" y="0"/>
            <a:chExt cx="1219200" cy="609600"/>
          </a:xfrm>
        </p:grpSpPr>
        <p:sp>
          <p:nvSpPr>
            <p:cNvPr name="Freeform 29" id="29"/>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close/>
                </a:path>
              </a:pathLst>
            </a:custGeom>
            <a:blipFill>
              <a:blip r:embed="rId2">
                <a:alphaModFix amt="0"/>
              </a:blip>
              <a:stretch>
                <a:fillRect l="-14151" t="0" r="-14151" b="0"/>
              </a:stretch>
            </a:blipFill>
          </p:spPr>
        </p:sp>
        <p:sp>
          <p:nvSpPr>
            <p:cNvPr name="TextBox 30" id="30"/>
            <p:cNvSpPr txBox="true"/>
            <p:nvPr/>
          </p:nvSpPr>
          <p:spPr>
            <a:xfrm>
              <a:off x="0" y="0"/>
              <a:ext cx="1219200" cy="609600"/>
            </a:xfrm>
            <a:prstGeom prst="rect">
              <a:avLst/>
            </a:prstGeom>
          </p:spPr>
          <p:txBody>
            <a:bodyPr anchor="ctr" rtlCol="false" tIns="0" lIns="0" bIns="0" rIns="0"/>
            <a:lstStyle/>
            <a:p>
              <a:pPr algn="ctr">
                <a:lnSpc>
                  <a:spcPts val="1919"/>
                </a:lnSpc>
              </a:pPr>
              <a:r>
                <a:rPr lang="en-US" sz="1599" b="true">
                  <a:solidFill>
                    <a:srgbClr val="2D5986"/>
                  </a:solidFill>
                  <a:latin typeface="Aptos Bold"/>
                  <a:ea typeface="Aptos Bold"/>
                  <a:cs typeface="Aptos Bold"/>
                  <a:sym typeface="Aptos Bold"/>
                </a:rPr>
                <a:t>READ</a:t>
              </a:r>
            </a:p>
          </p:txBody>
        </p:sp>
      </p:grpSp>
      <p:grpSp>
        <p:nvGrpSpPr>
          <p:cNvPr name="Group 31" id="31"/>
          <p:cNvGrpSpPr/>
          <p:nvPr/>
        </p:nvGrpSpPr>
        <p:grpSpPr>
          <a:xfrm rot="0">
            <a:off x="1869758" y="3835717"/>
            <a:ext cx="2414397" cy="814197"/>
            <a:chOff x="0" y="0"/>
            <a:chExt cx="3219196" cy="1085596"/>
          </a:xfrm>
        </p:grpSpPr>
        <p:sp>
          <p:nvSpPr>
            <p:cNvPr name="Freeform 32" id="32"/>
            <p:cNvSpPr/>
            <p:nvPr/>
          </p:nvSpPr>
          <p:spPr>
            <a:xfrm flipH="false" flipV="false" rot="0">
              <a:off x="0" y="0"/>
              <a:ext cx="3219196" cy="1085596"/>
            </a:xfrm>
            <a:custGeom>
              <a:avLst/>
              <a:gdLst/>
              <a:ahLst/>
              <a:cxnLst/>
              <a:rect r="r" b="b" t="t" l="l"/>
              <a:pathLst>
                <a:path h="1085596" w="3219196">
                  <a:moveTo>
                    <a:pt x="0" y="180975"/>
                  </a:moveTo>
                  <a:cubicBezTo>
                    <a:pt x="0" y="81026"/>
                    <a:pt x="81026" y="0"/>
                    <a:pt x="180975" y="0"/>
                  </a:cubicBezTo>
                  <a:lnTo>
                    <a:pt x="3038221" y="0"/>
                  </a:lnTo>
                  <a:cubicBezTo>
                    <a:pt x="3138170" y="0"/>
                    <a:pt x="3219196" y="81026"/>
                    <a:pt x="3219196" y="180975"/>
                  </a:cubicBezTo>
                  <a:lnTo>
                    <a:pt x="3219196" y="904621"/>
                  </a:lnTo>
                  <a:cubicBezTo>
                    <a:pt x="3219196" y="1004570"/>
                    <a:pt x="3138170" y="1085596"/>
                    <a:pt x="3038221" y="1085596"/>
                  </a:cubicBezTo>
                  <a:lnTo>
                    <a:pt x="180975" y="1085596"/>
                  </a:lnTo>
                  <a:cubicBezTo>
                    <a:pt x="81026" y="1085596"/>
                    <a:pt x="0" y="1004570"/>
                    <a:pt x="0" y="904621"/>
                  </a:cubicBezTo>
                  <a:close/>
                </a:path>
              </a:pathLst>
            </a:custGeom>
            <a:solidFill>
              <a:srgbClr val="EFF3F7"/>
            </a:solidFill>
            <a:ln w="9525" cap="sq">
              <a:solidFill>
                <a:srgbClr val="CAD6E0"/>
              </a:solidFill>
              <a:prstDash val="solid"/>
              <a:miter/>
            </a:ln>
          </p:spPr>
        </p:sp>
      </p:grpSp>
      <p:grpSp>
        <p:nvGrpSpPr>
          <p:cNvPr name="Group 33" id="33"/>
          <p:cNvGrpSpPr/>
          <p:nvPr/>
        </p:nvGrpSpPr>
        <p:grpSpPr>
          <a:xfrm rot="0">
            <a:off x="1920240" y="3931920"/>
            <a:ext cx="2313432" cy="566928"/>
            <a:chOff x="0" y="0"/>
            <a:chExt cx="3084576" cy="755904"/>
          </a:xfrm>
        </p:grpSpPr>
        <p:sp>
          <p:nvSpPr>
            <p:cNvPr name="Freeform 34" id="34"/>
            <p:cNvSpPr/>
            <p:nvPr/>
          </p:nvSpPr>
          <p:spPr>
            <a:xfrm flipH="false" flipV="false" rot="0">
              <a:off x="0" y="0"/>
              <a:ext cx="3084576" cy="755904"/>
            </a:xfrm>
            <a:custGeom>
              <a:avLst/>
              <a:gdLst/>
              <a:ahLst/>
              <a:cxnLst/>
              <a:rect r="r" b="b" t="t" l="l"/>
              <a:pathLst>
                <a:path h="755904" w="3084576">
                  <a:moveTo>
                    <a:pt x="0" y="0"/>
                  </a:moveTo>
                  <a:lnTo>
                    <a:pt x="3084576" y="0"/>
                  </a:lnTo>
                  <a:lnTo>
                    <a:pt x="3084576" y="755904"/>
                  </a:lnTo>
                  <a:lnTo>
                    <a:pt x="0" y="755904"/>
                  </a:lnTo>
                  <a:close/>
                </a:path>
              </a:pathLst>
            </a:custGeom>
            <a:blipFill>
              <a:blip r:embed="rId2">
                <a:alphaModFix amt="0"/>
              </a:blip>
              <a:stretch>
                <a:fillRect l="0" t="-29511" r="0" b="-29511"/>
              </a:stretch>
            </a:blipFill>
          </p:spPr>
        </p:sp>
        <p:sp>
          <p:nvSpPr>
            <p:cNvPr name="TextBox 35" id="35"/>
            <p:cNvSpPr txBox="true"/>
            <p:nvPr/>
          </p:nvSpPr>
          <p:spPr>
            <a:xfrm>
              <a:off x="0" y="0"/>
              <a:ext cx="3084576" cy="755904"/>
            </a:xfrm>
            <a:prstGeom prst="rect">
              <a:avLst/>
            </a:prstGeom>
          </p:spPr>
          <p:txBody>
            <a:bodyPr anchor="ctr" rtlCol="false" tIns="0" lIns="0" bIns="0" rIns="0"/>
            <a:lstStyle/>
            <a:p>
              <a:pPr algn="ctr">
                <a:lnSpc>
                  <a:spcPts val="1800"/>
                </a:lnSpc>
              </a:pPr>
              <a:r>
                <a:rPr lang="en-US" sz="1500">
                  <a:solidFill>
                    <a:srgbClr val="24486E"/>
                  </a:solidFill>
                  <a:latin typeface="Aptos"/>
                  <a:ea typeface="Aptos"/>
                  <a:cs typeface="Aptos"/>
                  <a:sym typeface="Aptos"/>
                </a:rPr>
                <a:t>Combination bin</a:t>
              </a:r>
            </a:p>
          </p:txBody>
        </p:sp>
      </p:grpSp>
      <p:grpSp>
        <p:nvGrpSpPr>
          <p:cNvPr name="Group 36" id="36"/>
          <p:cNvGrpSpPr/>
          <p:nvPr/>
        </p:nvGrpSpPr>
        <p:grpSpPr>
          <a:xfrm rot="0">
            <a:off x="4384358" y="3835717"/>
            <a:ext cx="2414397" cy="814197"/>
            <a:chOff x="0" y="0"/>
            <a:chExt cx="3219196" cy="1085596"/>
          </a:xfrm>
        </p:grpSpPr>
        <p:sp>
          <p:nvSpPr>
            <p:cNvPr name="Freeform 37" id="37"/>
            <p:cNvSpPr/>
            <p:nvPr/>
          </p:nvSpPr>
          <p:spPr>
            <a:xfrm flipH="false" flipV="false" rot="0">
              <a:off x="0" y="0"/>
              <a:ext cx="3219196" cy="1085596"/>
            </a:xfrm>
            <a:custGeom>
              <a:avLst/>
              <a:gdLst/>
              <a:ahLst/>
              <a:cxnLst/>
              <a:rect r="r" b="b" t="t" l="l"/>
              <a:pathLst>
                <a:path h="1085596" w="3219196">
                  <a:moveTo>
                    <a:pt x="0" y="180975"/>
                  </a:moveTo>
                  <a:cubicBezTo>
                    <a:pt x="0" y="81026"/>
                    <a:pt x="81026" y="0"/>
                    <a:pt x="180975" y="0"/>
                  </a:cubicBezTo>
                  <a:lnTo>
                    <a:pt x="3038221" y="0"/>
                  </a:lnTo>
                  <a:cubicBezTo>
                    <a:pt x="3138170" y="0"/>
                    <a:pt x="3219196" y="81026"/>
                    <a:pt x="3219196" y="180975"/>
                  </a:cubicBezTo>
                  <a:lnTo>
                    <a:pt x="3219196" y="904621"/>
                  </a:lnTo>
                  <a:cubicBezTo>
                    <a:pt x="3219196" y="1004570"/>
                    <a:pt x="3138170" y="1085596"/>
                    <a:pt x="3038221" y="1085596"/>
                  </a:cubicBezTo>
                  <a:lnTo>
                    <a:pt x="180975" y="1085596"/>
                  </a:lnTo>
                  <a:cubicBezTo>
                    <a:pt x="81026" y="1085596"/>
                    <a:pt x="0" y="1004570"/>
                    <a:pt x="0" y="904621"/>
                  </a:cubicBezTo>
                  <a:close/>
                </a:path>
              </a:pathLst>
            </a:custGeom>
            <a:solidFill>
              <a:srgbClr val="EFF3F7"/>
            </a:solidFill>
            <a:ln w="9525" cap="sq">
              <a:solidFill>
                <a:srgbClr val="CAD6E0"/>
              </a:solidFill>
              <a:prstDash val="solid"/>
              <a:miter/>
            </a:ln>
          </p:spPr>
        </p:sp>
      </p:grpSp>
      <p:grpSp>
        <p:nvGrpSpPr>
          <p:cNvPr name="Group 38" id="38"/>
          <p:cNvGrpSpPr/>
          <p:nvPr/>
        </p:nvGrpSpPr>
        <p:grpSpPr>
          <a:xfrm rot="0">
            <a:off x="4434840" y="3931920"/>
            <a:ext cx="2313432" cy="566928"/>
            <a:chOff x="0" y="0"/>
            <a:chExt cx="3084576" cy="755904"/>
          </a:xfrm>
        </p:grpSpPr>
        <p:sp>
          <p:nvSpPr>
            <p:cNvPr name="Freeform 39" id="39"/>
            <p:cNvSpPr/>
            <p:nvPr/>
          </p:nvSpPr>
          <p:spPr>
            <a:xfrm flipH="false" flipV="false" rot="0">
              <a:off x="0" y="0"/>
              <a:ext cx="3084576" cy="755904"/>
            </a:xfrm>
            <a:custGeom>
              <a:avLst/>
              <a:gdLst/>
              <a:ahLst/>
              <a:cxnLst/>
              <a:rect r="r" b="b" t="t" l="l"/>
              <a:pathLst>
                <a:path h="755904" w="3084576">
                  <a:moveTo>
                    <a:pt x="0" y="0"/>
                  </a:moveTo>
                  <a:lnTo>
                    <a:pt x="3084576" y="0"/>
                  </a:lnTo>
                  <a:lnTo>
                    <a:pt x="3084576" y="755904"/>
                  </a:lnTo>
                  <a:lnTo>
                    <a:pt x="0" y="755904"/>
                  </a:lnTo>
                  <a:close/>
                </a:path>
              </a:pathLst>
            </a:custGeom>
            <a:blipFill>
              <a:blip r:embed="rId2">
                <a:alphaModFix amt="0"/>
              </a:blip>
              <a:stretch>
                <a:fillRect l="0" t="-29511" r="0" b="-29511"/>
              </a:stretch>
            </a:blipFill>
          </p:spPr>
        </p:sp>
        <p:sp>
          <p:nvSpPr>
            <p:cNvPr name="TextBox 40" id="40"/>
            <p:cNvSpPr txBox="true"/>
            <p:nvPr/>
          </p:nvSpPr>
          <p:spPr>
            <a:xfrm>
              <a:off x="0" y="0"/>
              <a:ext cx="3084576" cy="755904"/>
            </a:xfrm>
            <a:prstGeom prst="rect">
              <a:avLst/>
            </a:prstGeom>
          </p:spPr>
          <p:txBody>
            <a:bodyPr anchor="ctr" rtlCol="false" tIns="0" lIns="0" bIns="0" rIns="0"/>
            <a:lstStyle/>
            <a:p>
              <a:pPr algn="ctr">
                <a:lnSpc>
                  <a:spcPts val="1800"/>
                </a:lnSpc>
              </a:pPr>
              <a:r>
                <a:rPr lang="en-US" sz="1500">
                  <a:solidFill>
                    <a:srgbClr val="24486E"/>
                  </a:solidFill>
                  <a:latin typeface="Aptos"/>
                  <a:ea typeface="Aptos"/>
                  <a:cs typeface="Aptos"/>
                  <a:sym typeface="Aptos"/>
                </a:rPr>
                <a:t>Combination bin</a:t>
              </a:r>
            </a:p>
          </p:txBody>
        </p:sp>
      </p:grpSp>
      <p:grpSp>
        <p:nvGrpSpPr>
          <p:cNvPr name="Group 41" id="41"/>
          <p:cNvGrpSpPr/>
          <p:nvPr/>
        </p:nvGrpSpPr>
        <p:grpSpPr>
          <a:xfrm rot="0">
            <a:off x="822960" y="4983480"/>
            <a:ext cx="914400" cy="457200"/>
            <a:chOff x="0" y="0"/>
            <a:chExt cx="1219200" cy="609600"/>
          </a:xfrm>
        </p:grpSpPr>
        <p:sp>
          <p:nvSpPr>
            <p:cNvPr name="Freeform 42" id="42"/>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close/>
                </a:path>
              </a:pathLst>
            </a:custGeom>
            <a:blipFill>
              <a:blip r:embed="rId2">
                <a:alphaModFix amt="0"/>
              </a:blip>
              <a:stretch>
                <a:fillRect l="-14151" t="0" r="-14151" b="0"/>
              </a:stretch>
            </a:blipFill>
          </p:spPr>
        </p:sp>
        <p:sp>
          <p:nvSpPr>
            <p:cNvPr name="TextBox 43" id="43"/>
            <p:cNvSpPr txBox="true"/>
            <p:nvPr/>
          </p:nvSpPr>
          <p:spPr>
            <a:xfrm>
              <a:off x="0" y="0"/>
              <a:ext cx="1219200" cy="609600"/>
            </a:xfrm>
            <a:prstGeom prst="rect">
              <a:avLst/>
            </a:prstGeom>
          </p:spPr>
          <p:txBody>
            <a:bodyPr anchor="ctr" rtlCol="false" tIns="0" lIns="0" bIns="0" rIns="0"/>
            <a:lstStyle/>
            <a:p>
              <a:pPr algn="ctr">
                <a:lnSpc>
                  <a:spcPts val="1919"/>
                </a:lnSpc>
              </a:pPr>
              <a:r>
                <a:rPr lang="en-US" sz="1599" b="true">
                  <a:solidFill>
                    <a:srgbClr val="2D5986"/>
                  </a:solidFill>
                  <a:latin typeface="Aptos Bold"/>
                  <a:ea typeface="Aptos Bold"/>
                  <a:cs typeface="Aptos Bold"/>
                  <a:sym typeface="Aptos Bold"/>
                </a:rPr>
                <a:t>WRITE</a:t>
              </a:r>
            </a:p>
          </p:txBody>
        </p:sp>
      </p:grpSp>
      <p:grpSp>
        <p:nvGrpSpPr>
          <p:cNvPr name="Group 44" id="44"/>
          <p:cNvGrpSpPr/>
          <p:nvPr/>
        </p:nvGrpSpPr>
        <p:grpSpPr>
          <a:xfrm rot="0">
            <a:off x="1869758" y="4887278"/>
            <a:ext cx="2414397" cy="814197"/>
            <a:chOff x="0" y="0"/>
            <a:chExt cx="3219196" cy="1085596"/>
          </a:xfrm>
        </p:grpSpPr>
        <p:sp>
          <p:nvSpPr>
            <p:cNvPr name="Freeform 45" id="45"/>
            <p:cNvSpPr/>
            <p:nvPr/>
          </p:nvSpPr>
          <p:spPr>
            <a:xfrm flipH="false" flipV="false" rot="0">
              <a:off x="0" y="0"/>
              <a:ext cx="3219196" cy="1085596"/>
            </a:xfrm>
            <a:custGeom>
              <a:avLst/>
              <a:gdLst/>
              <a:ahLst/>
              <a:cxnLst/>
              <a:rect r="r" b="b" t="t" l="l"/>
              <a:pathLst>
                <a:path h="1085596" w="3219196">
                  <a:moveTo>
                    <a:pt x="0" y="180975"/>
                  </a:moveTo>
                  <a:cubicBezTo>
                    <a:pt x="0" y="81026"/>
                    <a:pt x="81026" y="0"/>
                    <a:pt x="180975" y="0"/>
                  </a:cubicBezTo>
                  <a:lnTo>
                    <a:pt x="3038221" y="0"/>
                  </a:lnTo>
                  <a:cubicBezTo>
                    <a:pt x="3138170" y="0"/>
                    <a:pt x="3219196" y="81026"/>
                    <a:pt x="3219196" y="180975"/>
                  </a:cubicBezTo>
                  <a:lnTo>
                    <a:pt x="3219196" y="904621"/>
                  </a:lnTo>
                  <a:cubicBezTo>
                    <a:pt x="3219196" y="1004570"/>
                    <a:pt x="3138170" y="1085596"/>
                    <a:pt x="3038221" y="1085596"/>
                  </a:cubicBezTo>
                  <a:lnTo>
                    <a:pt x="180975" y="1085596"/>
                  </a:lnTo>
                  <a:cubicBezTo>
                    <a:pt x="81026" y="1085596"/>
                    <a:pt x="0" y="1004570"/>
                    <a:pt x="0" y="904621"/>
                  </a:cubicBezTo>
                  <a:close/>
                </a:path>
              </a:pathLst>
            </a:custGeom>
            <a:solidFill>
              <a:srgbClr val="E1EAF2"/>
            </a:solidFill>
            <a:ln w="9525" cap="sq">
              <a:solidFill>
                <a:srgbClr val="CAD6E0"/>
              </a:solidFill>
              <a:prstDash val="solid"/>
              <a:miter/>
            </a:ln>
          </p:spPr>
        </p:sp>
      </p:grpSp>
      <p:grpSp>
        <p:nvGrpSpPr>
          <p:cNvPr name="Group 46" id="46"/>
          <p:cNvGrpSpPr/>
          <p:nvPr/>
        </p:nvGrpSpPr>
        <p:grpSpPr>
          <a:xfrm rot="0">
            <a:off x="1920240" y="4983480"/>
            <a:ext cx="2313432" cy="566928"/>
            <a:chOff x="0" y="0"/>
            <a:chExt cx="3084576" cy="755904"/>
          </a:xfrm>
        </p:grpSpPr>
        <p:sp>
          <p:nvSpPr>
            <p:cNvPr name="Freeform 47" id="47"/>
            <p:cNvSpPr/>
            <p:nvPr/>
          </p:nvSpPr>
          <p:spPr>
            <a:xfrm flipH="false" flipV="false" rot="0">
              <a:off x="0" y="0"/>
              <a:ext cx="3084576" cy="755904"/>
            </a:xfrm>
            <a:custGeom>
              <a:avLst/>
              <a:gdLst/>
              <a:ahLst/>
              <a:cxnLst/>
              <a:rect r="r" b="b" t="t" l="l"/>
              <a:pathLst>
                <a:path h="755904" w="3084576">
                  <a:moveTo>
                    <a:pt x="0" y="0"/>
                  </a:moveTo>
                  <a:lnTo>
                    <a:pt x="3084576" y="0"/>
                  </a:lnTo>
                  <a:lnTo>
                    <a:pt x="3084576" y="755904"/>
                  </a:lnTo>
                  <a:lnTo>
                    <a:pt x="0" y="755904"/>
                  </a:lnTo>
                  <a:close/>
                </a:path>
              </a:pathLst>
            </a:custGeom>
            <a:blipFill>
              <a:blip r:embed="rId2">
                <a:alphaModFix amt="0"/>
              </a:blip>
              <a:stretch>
                <a:fillRect l="0" t="-29511" r="0" b="-29511"/>
              </a:stretch>
            </a:blipFill>
          </p:spPr>
        </p:sp>
        <p:sp>
          <p:nvSpPr>
            <p:cNvPr name="TextBox 48" id="48"/>
            <p:cNvSpPr txBox="true"/>
            <p:nvPr/>
          </p:nvSpPr>
          <p:spPr>
            <a:xfrm>
              <a:off x="0" y="0"/>
              <a:ext cx="3084576" cy="755904"/>
            </a:xfrm>
            <a:prstGeom prst="rect">
              <a:avLst/>
            </a:prstGeom>
          </p:spPr>
          <p:txBody>
            <a:bodyPr anchor="ctr" rtlCol="false" tIns="0" lIns="0" bIns="0" rIns="0"/>
            <a:lstStyle/>
            <a:p>
              <a:pPr algn="ctr">
                <a:lnSpc>
                  <a:spcPts val="1800"/>
                </a:lnSpc>
              </a:pPr>
              <a:r>
                <a:rPr lang="en-US" sz="1500">
                  <a:solidFill>
                    <a:srgbClr val="24486E"/>
                  </a:solidFill>
                  <a:latin typeface="Aptos"/>
                  <a:ea typeface="Aptos"/>
                  <a:cs typeface="Aptos"/>
                  <a:sym typeface="Aptos"/>
                </a:rPr>
                <a:t>Combination bin</a:t>
              </a:r>
            </a:p>
          </p:txBody>
        </p:sp>
      </p:grpSp>
      <p:grpSp>
        <p:nvGrpSpPr>
          <p:cNvPr name="Group 49" id="49"/>
          <p:cNvGrpSpPr/>
          <p:nvPr/>
        </p:nvGrpSpPr>
        <p:grpSpPr>
          <a:xfrm rot="0">
            <a:off x="4384358" y="4887278"/>
            <a:ext cx="2414397" cy="814197"/>
            <a:chOff x="0" y="0"/>
            <a:chExt cx="3219196" cy="1085596"/>
          </a:xfrm>
        </p:grpSpPr>
        <p:sp>
          <p:nvSpPr>
            <p:cNvPr name="Freeform 50" id="50"/>
            <p:cNvSpPr/>
            <p:nvPr/>
          </p:nvSpPr>
          <p:spPr>
            <a:xfrm flipH="false" flipV="false" rot="0">
              <a:off x="0" y="0"/>
              <a:ext cx="3219196" cy="1085596"/>
            </a:xfrm>
            <a:custGeom>
              <a:avLst/>
              <a:gdLst/>
              <a:ahLst/>
              <a:cxnLst/>
              <a:rect r="r" b="b" t="t" l="l"/>
              <a:pathLst>
                <a:path h="1085596" w="3219196">
                  <a:moveTo>
                    <a:pt x="0" y="180975"/>
                  </a:moveTo>
                  <a:cubicBezTo>
                    <a:pt x="0" y="81026"/>
                    <a:pt x="81026" y="0"/>
                    <a:pt x="180975" y="0"/>
                  </a:cubicBezTo>
                  <a:lnTo>
                    <a:pt x="3038221" y="0"/>
                  </a:lnTo>
                  <a:cubicBezTo>
                    <a:pt x="3138170" y="0"/>
                    <a:pt x="3219196" y="81026"/>
                    <a:pt x="3219196" y="180975"/>
                  </a:cubicBezTo>
                  <a:lnTo>
                    <a:pt x="3219196" y="904621"/>
                  </a:lnTo>
                  <a:cubicBezTo>
                    <a:pt x="3219196" y="1004570"/>
                    <a:pt x="3138170" y="1085596"/>
                    <a:pt x="3038221" y="1085596"/>
                  </a:cubicBezTo>
                  <a:lnTo>
                    <a:pt x="180975" y="1085596"/>
                  </a:lnTo>
                  <a:cubicBezTo>
                    <a:pt x="81026" y="1085596"/>
                    <a:pt x="0" y="1004570"/>
                    <a:pt x="0" y="904621"/>
                  </a:cubicBezTo>
                  <a:close/>
                </a:path>
              </a:pathLst>
            </a:custGeom>
            <a:solidFill>
              <a:srgbClr val="E1EAF2"/>
            </a:solidFill>
            <a:ln w="9525" cap="sq">
              <a:solidFill>
                <a:srgbClr val="CAD6E0"/>
              </a:solidFill>
              <a:prstDash val="solid"/>
              <a:miter/>
            </a:ln>
          </p:spPr>
        </p:sp>
      </p:grpSp>
      <p:grpSp>
        <p:nvGrpSpPr>
          <p:cNvPr name="Group 51" id="51"/>
          <p:cNvGrpSpPr/>
          <p:nvPr/>
        </p:nvGrpSpPr>
        <p:grpSpPr>
          <a:xfrm rot="0">
            <a:off x="4434840" y="4983480"/>
            <a:ext cx="2313432" cy="566928"/>
            <a:chOff x="0" y="0"/>
            <a:chExt cx="3084576" cy="755904"/>
          </a:xfrm>
        </p:grpSpPr>
        <p:sp>
          <p:nvSpPr>
            <p:cNvPr name="Freeform 52" id="52"/>
            <p:cNvSpPr/>
            <p:nvPr/>
          </p:nvSpPr>
          <p:spPr>
            <a:xfrm flipH="false" flipV="false" rot="0">
              <a:off x="0" y="0"/>
              <a:ext cx="3084576" cy="755904"/>
            </a:xfrm>
            <a:custGeom>
              <a:avLst/>
              <a:gdLst/>
              <a:ahLst/>
              <a:cxnLst/>
              <a:rect r="r" b="b" t="t" l="l"/>
              <a:pathLst>
                <a:path h="755904" w="3084576">
                  <a:moveTo>
                    <a:pt x="0" y="0"/>
                  </a:moveTo>
                  <a:lnTo>
                    <a:pt x="3084576" y="0"/>
                  </a:lnTo>
                  <a:lnTo>
                    <a:pt x="3084576" y="755904"/>
                  </a:lnTo>
                  <a:lnTo>
                    <a:pt x="0" y="755904"/>
                  </a:lnTo>
                  <a:close/>
                </a:path>
              </a:pathLst>
            </a:custGeom>
            <a:blipFill>
              <a:blip r:embed="rId2">
                <a:alphaModFix amt="0"/>
              </a:blip>
              <a:stretch>
                <a:fillRect l="0" t="-29511" r="0" b="-29511"/>
              </a:stretch>
            </a:blipFill>
          </p:spPr>
        </p:sp>
        <p:sp>
          <p:nvSpPr>
            <p:cNvPr name="TextBox 53" id="53"/>
            <p:cNvSpPr txBox="true"/>
            <p:nvPr/>
          </p:nvSpPr>
          <p:spPr>
            <a:xfrm>
              <a:off x="0" y="0"/>
              <a:ext cx="3084576" cy="755904"/>
            </a:xfrm>
            <a:prstGeom prst="rect">
              <a:avLst/>
            </a:prstGeom>
          </p:spPr>
          <p:txBody>
            <a:bodyPr anchor="ctr" rtlCol="false" tIns="0" lIns="0" bIns="0" rIns="0"/>
            <a:lstStyle/>
            <a:p>
              <a:pPr algn="ctr">
                <a:lnSpc>
                  <a:spcPts val="1800"/>
                </a:lnSpc>
              </a:pPr>
              <a:r>
                <a:rPr lang="en-US" sz="1500">
                  <a:solidFill>
                    <a:srgbClr val="24486E"/>
                  </a:solidFill>
                  <a:latin typeface="Aptos"/>
                  <a:ea typeface="Aptos"/>
                  <a:cs typeface="Aptos"/>
                  <a:sym typeface="Aptos"/>
                </a:rPr>
                <a:t>Combination bin</a:t>
              </a:r>
            </a:p>
          </p:txBody>
        </p:sp>
      </p:grpSp>
      <p:grpSp>
        <p:nvGrpSpPr>
          <p:cNvPr name="Group 54" id="54"/>
          <p:cNvGrpSpPr/>
          <p:nvPr/>
        </p:nvGrpSpPr>
        <p:grpSpPr>
          <a:xfrm rot="0">
            <a:off x="8880986" y="1776098"/>
            <a:ext cx="8810501" cy="5363213"/>
            <a:chOff x="0" y="0"/>
            <a:chExt cx="11747335" cy="7150951"/>
          </a:xfrm>
        </p:grpSpPr>
        <p:sp>
          <p:nvSpPr>
            <p:cNvPr name="Freeform 55" id="55"/>
            <p:cNvSpPr/>
            <p:nvPr/>
          </p:nvSpPr>
          <p:spPr>
            <a:xfrm flipH="false" flipV="false" rot="0">
              <a:off x="0" y="0"/>
              <a:ext cx="11747373" cy="7150989"/>
            </a:xfrm>
            <a:custGeom>
              <a:avLst/>
              <a:gdLst/>
              <a:ahLst/>
              <a:cxnLst/>
              <a:rect r="r" b="b" t="t" l="l"/>
              <a:pathLst>
                <a:path h="7150989" w="11747373">
                  <a:moveTo>
                    <a:pt x="0" y="1191895"/>
                  </a:moveTo>
                  <a:cubicBezTo>
                    <a:pt x="0" y="533654"/>
                    <a:pt x="533654" y="0"/>
                    <a:pt x="1191895" y="0"/>
                  </a:cubicBezTo>
                  <a:lnTo>
                    <a:pt x="10555478" y="0"/>
                  </a:lnTo>
                  <a:cubicBezTo>
                    <a:pt x="11213719" y="0"/>
                    <a:pt x="11747373" y="533654"/>
                    <a:pt x="11747373" y="1191895"/>
                  </a:cubicBezTo>
                  <a:lnTo>
                    <a:pt x="11747373" y="5959094"/>
                  </a:lnTo>
                  <a:cubicBezTo>
                    <a:pt x="11747373" y="6617335"/>
                    <a:pt x="11213719" y="7150989"/>
                    <a:pt x="10555478" y="7150989"/>
                  </a:cubicBezTo>
                  <a:lnTo>
                    <a:pt x="1191895" y="7150989"/>
                  </a:lnTo>
                  <a:cubicBezTo>
                    <a:pt x="533654" y="7150989"/>
                    <a:pt x="0" y="6617335"/>
                    <a:pt x="0" y="5959094"/>
                  </a:cubicBezTo>
                  <a:close/>
                </a:path>
              </a:pathLst>
            </a:custGeom>
            <a:solidFill>
              <a:srgbClr val="FFFFFF"/>
            </a:solidFill>
            <a:ln w="13970" cap="sq">
              <a:solidFill>
                <a:srgbClr val="CAD6E0"/>
              </a:solidFill>
              <a:prstDash val="solid"/>
              <a:miter/>
            </a:ln>
          </p:spPr>
        </p:sp>
      </p:grpSp>
      <p:grpSp>
        <p:nvGrpSpPr>
          <p:cNvPr name="Group 56" id="56"/>
          <p:cNvGrpSpPr/>
          <p:nvPr/>
        </p:nvGrpSpPr>
        <p:grpSpPr>
          <a:xfrm rot="0">
            <a:off x="8887968" y="1856232"/>
            <a:ext cx="68580" cy="5202936"/>
            <a:chOff x="0" y="0"/>
            <a:chExt cx="91440" cy="6937248"/>
          </a:xfrm>
        </p:grpSpPr>
        <p:sp>
          <p:nvSpPr>
            <p:cNvPr name="Freeform 57" id="57"/>
            <p:cNvSpPr/>
            <p:nvPr/>
          </p:nvSpPr>
          <p:spPr>
            <a:xfrm flipH="false" flipV="false" rot="0">
              <a:off x="0" y="0"/>
              <a:ext cx="91440" cy="6937248"/>
            </a:xfrm>
            <a:custGeom>
              <a:avLst/>
              <a:gdLst/>
              <a:ahLst/>
              <a:cxnLst/>
              <a:rect r="r" b="b" t="t" l="l"/>
              <a:pathLst>
                <a:path h="6937248" w="91440">
                  <a:moveTo>
                    <a:pt x="0" y="0"/>
                  </a:moveTo>
                  <a:lnTo>
                    <a:pt x="91440" y="0"/>
                  </a:lnTo>
                  <a:lnTo>
                    <a:pt x="91440" y="6937248"/>
                  </a:lnTo>
                  <a:lnTo>
                    <a:pt x="0" y="6937248"/>
                  </a:lnTo>
                  <a:close/>
                </a:path>
              </a:pathLst>
            </a:custGeom>
            <a:solidFill>
              <a:srgbClr val="5D80A0"/>
            </a:solidFill>
          </p:spPr>
        </p:sp>
      </p:grpSp>
      <p:grpSp>
        <p:nvGrpSpPr>
          <p:cNvPr name="Group 58" id="58"/>
          <p:cNvGrpSpPr/>
          <p:nvPr/>
        </p:nvGrpSpPr>
        <p:grpSpPr>
          <a:xfrm rot="0">
            <a:off x="9342120" y="1892808"/>
            <a:ext cx="8412480" cy="384048"/>
            <a:chOff x="0" y="0"/>
            <a:chExt cx="11216640" cy="512064"/>
          </a:xfrm>
        </p:grpSpPr>
        <p:sp>
          <p:nvSpPr>
            <p:cNvPr name="Freeform 59" id="59"/>
            <p:cNvSpPr/>
            <p:nvPr/>
          </p:nvSpPr>
          <p:spPr>
            <a:xfrm flipH="false" flipV="false" rot="0">
              <a:off x="0" y="0"/>
              <a:ext cx="11216640" cy="512064"/>
            </a:xfrm>
            <a:custGeom>
              <a:avLst/>
              <a:gdLst/>
              <a:ahLst/>
              <a:cxnLst/>
              <a:rect r="r" b="b" t="t" l="l"/>
              <a:pathLst>
                <a:path h="512064" w="11216640">
                  <a:moveTo>
                    <a:pt x="0" y="0"/>
                  </a:moveTo>
                  <a:lnTo>
                    <a:pt x="11216640" y="0"/>
                  </a:lnTo>
                  <a:lnTo>
                    <a:pt x="11216640" y="512064"/>
                  </a:lnTo>
                  <a:lnTo>
                    <a:pt x="0" y="512064"/>
                  </a:lnTo>
                  <a:close/>
                </a:path>
              </a:pathLst>
            </a:custGeom>
            <a:blipFill>
              <a:blip r:embed="rId2">
                <a:alphaModFix amt="0"/>
              </a:blip>
              <a:stretch>
                <a:fillRect l="0" t="-376815" r="0" b="-376815"/>
              </a:stretch>
            </a:blipFill>
          </p:spPr>
        </p:sp>
        <p:sp>
          <p:nvSpPr>
            <p:cNvPr name="TextBox 60" id="60"/>
            <p:cNvSpPr txBox="true"/>
            <p:nvPr/>
          </p:nvSpPr>
          <p:spPr>
            <a:xfrm>
              <a:off x="0" y="-9525"/>
              <a:ext cx="11216640" cy="521589"/>
            </a:xfrm>
            <a:prstGeom prst="rect">
              <a:avLst/>
            </a:prstGeom>
          </p:spPr>
          <p:txBody>
            <a:bodyPr anchor="ctr" rtlCol="false" tIns="0" lIns="0" bIns="0" rIns="0"/>
            <a:lstStyle/>
            <a:p>
              <a:pPr algn="l">
                <a:lnSpc>
                  <a:spcPts val="2520"/>
                </a:lnSpc>
              </a:pPr>
              <a:r>
                <a:rPr lang="en-US" sz="2100" b="true">
                  <a:solidFill>
                    <a:srgbClr val="2D5986"/>
                  </a:solidFill>
                  <a:latin typeface="Aptos Bold"/>
                  <a:ea typeface="Aptos Bold"/>
                  <a:cs typeface="Aptos Bold"/>
                  <a:sym typeface="Aptos Bold"/>
                </a:rPr>
                <a:t>Read/Write × Wait × Response</a:t>
              </a:r>
            </a:p>
          </p:txBody>
        </p:sp>
      </p:grpSp>
      <p:grpSp>
        <p:nvGrpSpPr>
          <p:cNvPr name="Group 61" id="61"/>
          <p:cNvGrpSpPr/>
          <p:nvPr/>
        </p:nvGrpSpPr>
        <p:grpSpPr>
          <a:xfrm rot="0">
            <a:off x="9235440" y="2395728"/>
            <a:ext cx="8001000" cy="530352"/>
            <a:chOff x="0" y="0"/>
            <a:chExt cx="10668000" cy="707136"/>
          </a:xfrm>
        </p:grpSpPr>
        <p:sp>
          <p:nvSpPr>
            <p:cNvPr name="Freeform 62" id="62"/>
            <p:cNvSpPr/>
            <p:nvPr/>
          </p:nvSpPr>
          <p:spPr>
            <a:xfrm flipH="false" flipV="false" rot="0">
              <a:off x="0" y="0"/>
              <a:ext cx="10668000" cy="707136"/>
            </a:xfrm>
            <a:custGeom>
              <a:avLst/>
              <a:gdLst/>
              <a:ahLst/>
              <a:cxnLst/>
              <a:rect r="r" b="b" t="t" l="l"/>
              <a:pathLst>
                <a:path h="707136" w="10668000">
                  <a:moveTo>
                    <a:pt x="0" y="0"/>
                  </a:moveTo>
                  <a:lnTo>
                    <a:pt x="10668000" y="0"/>
                  </a:lnTo>
                  <a:lnTo>
                    <a:pt x="10668000" y="707136"/>
                  </a:lnTo>
                  <a:lnTo>
                    <a:pt x="0" y="707136"/>
                  </a:lnTo>
                  <a:close/>
                </a:path>
              </a:pathLst>
            </a:custGeom>
            <a:blipFill>
              <a:blip r:embed="rId2">
                <a:alphaModFix amt="0"/>
              </a:blip>
              <a:stretch>
                <a:fillRect l="0" t="-243955" r="0" b="-243955"/>
              </a:stretch>
            </a:blipFill>
          </p:spPr>
        </p:sp>
        <p:sp>
          <p:nvSpPr>
            <p:cNvPr name="TextBox 63" id="63"/>
            <p:cNvSpPr txBox="true"/>
            <p:nvPr/>
          </p:nvSpPr>
          <p:spPr>
            <a:xfrm>
              <a:off x="0" y="-9525"/>
              <a:ext cx="10668000" cy="716661"/>
            </a:xfrm>
            <a:prstGeom prst="rect">
              <a:avLst/>
            </a:prstGeom>
          </p:spPr>
          <p:txBody>
            <a:bodyPr anchor="ctr" rtlCol="false" tIns="0" lIns="0" bIns="0" rIns="0"/>
            <a:lstStyle/>
            <a:p>
              <a:pPr algn="l">
                <a:lnSpc>
                  <a:spcPts val="2040"/>
                </a:lnSpc>
              </a:pPr>
              <a:r>
                <a:rPr lang="en-US" sz="1700">
                  <a:solidFill>
                    <a:srgbClr val="63707C"/>
                  </a:solidFill>
                  <a:latin typeface="Aptos"/>
                  <a:ea typeface="Aptos"/>
                  <a:cs typeface="Aptos"/>
                  <a:sym typeface="Aptos"/>
                </a:rPr>
                <a:t>Three dimensions create 8 combinations:</a:t>
              </a:r>
            </a:p>
          </p:txBody>
        </p:sp>
      </p:grpSp>
      <p:grpSp>
        <p:nvGrpSpPr>
          <p:cNvPr name="Group 64" id="64"/>
          <p:cNvGrpSpPr/>
          <p:nvPr/>
        </p:nvGrpSpPr>
        <p:grpSpPr>
          <a:xfrm rot="0">
            <a:off x="9326880" y="3136392"/>
            <a:ext cx="2331720" cy="758952"/>
            <a:chOff x="0" y="0"/>
            <a:chExt cx="3108960" cy="1011936"/>
          </a:xfrm>
        </p:grpSpPr>
        <p:sp>
          <p:nvSpPr>
            <p:cNvPr name="Freeform 65" id="65"/>
            <p:cNvSpPr/>
            <p:nvPr/>
          </p:nvSpPr>
          <p:spPr>
            <a:xfrm flipH="false" flipV="false" rot="0">
              <a:off x="0" y="0"/>
              <a:ext cx="3108960" cy="1011936"/>
            </a:xfrm>
            <a:custGeom>
              <a:avLst/>
              <a:gdLst/>
              <a:ahLst/>
              <a:cxnLst/>
              <a:rect r="r" b="b" t="t" l="l"/>
              <a:pathLst>
                <a:path h="1011936" w="3108960">
                  <a:moveTo>
                    <a:pt x="0" y="168656"/>
                  </a:moveTo>
                  <a:cubicBezTo>
                    <a:pt x="0" y="75565"/>
                    <a:pt x="75565" y="0"/>
                    <a:pt x="168656" y="0"/>
                  </a:cubicBezTo>
                  <a:lnTo>
                    <a:pt x="2940304" y="0"/>
                  </a:lnTo>
                  <a:cubicBezTo>
                    <a:pt x="3033395" y="0"/>
                    <a:pt x="3108960" y="75565"/>
                    <a:pt x="3108960" y="168656"/>
                  </a:cubicBezTo>
                  <a:lnTo>
                    <a:pt x="3108960" y="843280"/>
                  </a:lnTo>
                  <a:cubicBezTo>
                    <a:pt x="3108960" y="936371"/>
                    <a:pt x="3033395" y="1011936"/>
                    <a:pt x="2940304" y="1011936"/>
                  </a:cubicBezTo>
                  <a:lnTo>
                    <a:pt x="168656" y="1011936"/>
                  </a:lnTo>
                  <a:cubicBezTo>
                    <a:pt x="75565" y="1011936"/>
                    <a:pt x="0" y="936371"/>
                    <a:pt x="0" y="843280"/>
                  </a:cubicBezTo>
                  <a:close/>
                </a:path>
              </a:pathLst>
            </a:custGeom>
            <a:solidFill>
              <a:srgbClr val="EFF3F7"/>
            </a:solidFill>
          </p:spPr>
        </p:sp>
      </p:grpSp>
      <p:grpSp>
        <p:nvGrpSpPr>
          <p:cNvPr name="Group 66" id="66"/>
          <p:cNvGrpSpPr/>
          <p:nvPr/>
        </p:nvGrpSpPr>
        <p:grpSpPr>
          <a:xfrm rot="0">
            <a:off x="9372600" y="3182112"/>
            <a:ext cx="2240280" cy="318764"/>
            <a:chOff x="0" y="0"/>
            <a:chExt cx="2987040" cy="425018"/>
          </a:xfrm>
        </p:grpSpPr>
        <p:sp>
          <p:nvSpPr>
            <p:cNvPr name="Freeform 67" id="67"/>
            <p:cNvSpPr/>
            <p:nvPr/>
          </p:nvSpPr>
          <p:spPr>
            <a:xfrm flipH="false" flipV="false" rot="0">
              <a:off x="0" y="0"/>
              <a:ext cx="2987039" cy="425012"/>
            </a:xfrm>
            <a:custGeom>
              <a:avLst/>
              <a:gdLst/>
              <a:ahLst/>
              <a:cxnLst/>
              <a:rect r="r" b="b" t="t" l="l"/>
              <a:pathLst>
                <a:path h="425012" w="2987039">
                  <a:moveTo>
                    <a:pt x="0" y="0"/>
                  </a:moveTo>
                  <a:lnTo>
                    <a:pt x="2987039" y="0"/>
                  </a:lnTo>
                  <a:lnTo>
                    <a:pt x="2987039" y="425012"/>
                  </a:lnTo>
                  <a:lnTo>
                    <a:pt x="0" y="425012"/>
                  </a:lnTo>
                  <a:close/>
                </a:path>
              </a:pathLst>
            </a:custGeom>
            <a:blipFill>
              <a:blip r:embed="rId2">
                <a:alphaModFix amt="0"/>
              </a:blip>
              <a:stretch>
                <a:fillRect l="0" t="-86942" r="0" b="-86944"/>
              </a:stretch>
            </a:blipFill>
          </p:spPr>
        </p:sp>
        <p:sp>
          <p:nvSpPr>
            <p:cNvPr name="TextBox 68" id="68"/>
            <p:cNvSpPr txBox="true"/>
            <p:nvPr/>
          </p:nvSpPr>
          <p:spPr>
            <a:xfrm>
              <a:off x="0" y="0"/>
              <a:ext cx="2987040" cy="425018"/>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DIRECTION</a:t>
              </a:r>
            </a:p>
          </p:txBody>
        </p:sp>
      </p:grpSp>
      <p:grpSp>
        <p:nvGrpSpPr>
          <p:cNvPr name="Group 69" id="69"/>
          <p:cNvGrpSpPr/>
          <p:nvPr/>
        </p:nvGrpSpPr>
        <p:grpSpPr>
          <a:xfrm rot="0">
            <a:off x="9372600" y="3462738"/>
            <a:ext cx="2240280" cy="364293"/>
            <a:chOff x="0" y="0"/>
            <a:chExt cx="2987040" cy="485724"/>
          </a:xfrm>
        </p:grpSpPr>
        <p:sp>
          <p:nvSpPr>
            <p:cNvPr name="Freeform 70" id="70"/>
            <p:cNvSpPr/>
            <p:nvPr/>
          </p:nvSpPr>
          <p:spPr>
            <a:xfrm flipH="false" flipV="false" rot="0">
              <a:off x="0" y="0"/>
              <a:ext cx="2987039" cy="485728"/>
            </a:xfrm>
            <a:custGeom>
              <a:avLst/>
              <a:gdLst/>
              <a:ahLst/>
              <a:cxnLst/>
              <a:rect r="r" b="b" t="t" l="l"/>
              <a:pathLst>
                <a:path h="485728" w="2987039">
                  <a:moveTo>
                    <a:pt x="0" y="0"/>
                  </a:moveTo>
                  <a:lnTo>
                    <a:pt x="2987039" y="0"/>
                  </a:lnTo>
                  <a:lnTo>
                    <a:pt x="2987039" y="485728"/>
                  </a:lnTo>
                  <a:lnTo>
                    <a:pt x="0" y="485728"/>
                  </a:lnTo>
                  <a:close/>
                </a:path>
              </a:pathLst>
            </a:custGeom>
            <a:blipFill>
              <a:blip r:embed="rId2">
                <a:alphaModFix amt="0"/>
              </a:blip>
              <a:stretch>
                <a:fillRect l="0" t="-69825" r="0" b="-69825"/>
              </a:stretch>
            </a:blipFill>
          </p:spPr>
        </p:sp>
        <p:sp>
          <p:nvSpPr>
            <p:cNvPr name="TextBox 71" id="71"/>
            <p:cNvSpPr txBox="true"/>
            <p:nvPr/>
          </p:nvSpPr>
          <p:spPr>
            <a:xfrm>
              <a:off x="0" y="0"/>
              <a:ext cx="2987040" cy="485724"/>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READ / WRITE</a:t>
              </a:r>
            </a:p>
          </p:txBody>
        </p:sp>
      </p:grpSp>
      <p:grpSp>
        <p:nvGrpSpPr>
          <p:cNvPr name="Group 72" id="72"/>
          <p:cNvGrpSpPr/>
          <p:nvPr/>
        </p:nvGrpSpPr>
        <p:grpSpPr>
          <a:xfrm rot="0">
            <a:off x="11814048" y="3209544"/>
            <a:ext cx="594360" cy="530352"/>
            <a:chOff x="0" y="0"/>
            <a:chExt cx="792480" cy="707136"/>
          </a:xfrm>
        </p:grpSpPr>
        <p:sp>
          <p:nvSpPr>
            <p:cNvPr name="Freeform 73" id="73"/>
            <p:cNvSpPr/>
            <p:nvPr/>
          </p:nvSpPr>
          <p:spPr>
            <a:xfrm flipH="false" flipV="false" rot="0">
              <a:off x="0" y="0"/>
              <a:ext cx="792480" cy="707136"/>
            </a:xfrm>
            <a:custGeom>
              <a:avLst/>
              <a:gdLst/>
              <a:ahLst/>
              <a:cxnLst/>
              <a:rect r="r" b="b" t="t" l="l"/>
              <a:pathLst>
                <a:path h="707136" w="792480">
                  <a:moveTo>
                    <a:pt x="0" y="0"/>
                  </a:moveTo>
                  <a:lnTo>
                    <a:pt x="792480" y="0"/>
                  </a:lnTo>
                  <a:lnTo>
                    <a:pt x="792480" y="707136"/>
                  </a:lnTo>
                  <a:lnTo>
                    <a:pt x="0" y="707136"/>
                  </a:lnTo>
                  <a:close/>
                </a:path>
              </a:pathLst>
            </a:custGeom>
            <a:blipFill>
              <a:blip r:embed="rId2">
                <a:alphaModFix amt="0"/>
              </a:blip>
              <a:stretch>
                <a:fillRect l="-64486" t="0" r="-64486" b="0"/>
              </a:stretch>
            </a:blipFill>
          </p:spPr>
        </p:sp>
        <p:sp>
          <p:nvSpPr>
            <p:cNvPr name="TextBox 74" id="74"/>
            <p:cNvSpPr txBox="true"/>
            <p:nvPr/>
          </p:nvSpPr>
          <p:spPr>
            <a:xfrm>
              <a:off x="0" y="-66675"/>
              <a:ext cx="792480" cy="773811"/>
            </a:xfrm>
            <a:prstGeom prst="rect">
              <a:avLst/>
            </a:prstGeom>
          </p:spPr>
          <p:txBody>
            <a:bodyPr anchor="ctr" rtlCol="false" tIns="0" lIns="0" bIns="0" rIns="0"/>
            <a:lstStyle/>
            <a:p>
              <a:pPr algn="ctr">
                <a:lnSpc>
                  <a:spcPts val="3359"/>
                </a:lnSpc>
              </a:pPr>
              <a:r>
                <a:rPr lang="en-US" sz="2799" b="true">
                  <a:solidFill>
                    <a:srgbClr val="2D5986"/>
                  </a:solidFill>
                  <a:latin typeface="Calibri (MS) Bold"/>
                  <a:ea typeface="Calibri (MS) Bold"/>
                  <a:cs typeface="Calibri (MS) Bold"/>
                  <a:sym typeface="Calibri (MS) Bold"/>
                </a:rPr>
                <a:t>×</a:t>
              </a:r>
            </a:p>
          </p:txBody>
        </p:sp>
      </p:grpSp>
      <p:grpSp>
        <p:nvGrpSpPr>
          <p:cNvPr name="Group 75" id="75"/>
          <p:cNvGrpSpPr/>
          <p:nvPr/>
        </p:nvGrpSpPr>
        <p:grpSpPr>
          <a:xfrm rot="0">
            <a:off x="9326880" y="4142232"/>
            <a:ext cx="2331720" cy="758952"/>
            <a:chOff x="0" y="0"/>
            <a:chExt cx="3108960" cy="1011936"/>
          </a:xfrm>
        </p:grpSpPr>
        <p:sp>
          <p:nvSpPr>
            <p:cNvPr name="Freeform 76" id="76"/>
            <p:cNvSpPr/>
            <p:nvPr/>
          </p:nvSpPr>
          <p:spPr>
            <a:xfrm flipH="false" flipV="false" rot="0">
              <a:off x="0" y="0"/>
              <a:ext cx="3108960" cy="1011936"/>
            </a:xfrm>
            <a:custGeom>
              <a:avLst/>
              <a:gdLst/>
              <a:ahLst/>
              <a:cxnLst/>
              <a:rect r="r" b="b" t="t" l="l"/>
              <a:pathLst>
                <a:path h="1011936" w="3108960">
                  <a:moveTo>
                    <a:pt x="0" y="168656"/>
                  </a:moveTo>
                  <a:cubicBezTo>
                    <a:pt x="0" y="75565"/>
                    <a:pt x="75565" y="0"/>
                    <a:pt x="168656" y="0"/>
                  </a:cubicBezTo>
                  <a:lnTo>
                    <a:pt x="2940304" y="0"/>
                  </a:lnTo>
                  <a:cubicBezTo>
                    <a:pt x="3033395" y="0"/>
                    <a:pt x="3108960" y="75565"/>
                    <a:pt x="3108960" y="168656"/>
                  </a:cubicBezTo>
                  <a:lnTo>
                    <a:pt x="3108960" y="843280"/>
                  </a:lnTo>
                  <a:cubicBezTo>
                    <a:pt x="3108960" y="936371"/>
                    <a:pt x="3033395" y="1011936"/>
                    <a:pt x="2940304" y="1011936"/>
                  </a:cubicBezTo>
                  <a:lnTo>
                    <a:pt x="168656" y="1011936"/>
                  </a:lnTo>
                  <a:cubicBezTo>
                    <a:pt x="75565" y="1011936"/>
                    <a:pt x="0" y="936371"/>
                    <a:pt x="0" y="843280"/>
                  </a:cubicBezTo>
                  <a:close/>
                </a:path>
              </a:pathLst>
            </a:custGeom>
            <a:solidFill>
              <a:srgbClr val="EFF3F7"/>
            </a:solidFill>
          </p:spPr>
        </p:sp>
      </p:grpSp>
      <p:grpSp>
        <p:nvGrpSpPr>
          <p:cNvPr name="Group 77" id="77"/>
          <p:cNvGrpSpPr/>
          <p:nvPr/>
        </p:nvGrpSpPr>
        <p:grpSpPr>
          <a:xfrm rot="0">
            <a:off x="9372600" y="4187952"/>
            <a:ext cx="2240280" cy="318764"/>
            <a:chOff x="0" y="0"/>
            <a:chExt cx="2987040" cy="425018"/>
          </a:xfrm>
        </p:grpSpPr>
        <p:sp>
          <p:nvSpPr>
            <p:cNvPr name="Freeform 78" id="78"/>
            <p:cNvSpPr/>
            <p:nvPr/>
          </p:nvSpPr>
          <p:spPr>
            <a:xfrm flipH="false" flipV="false" rot="0">
              <a:off x="0" y="0"/>
              <a:ext cx="2987039" cy="425012"/>
            </a:xfrm>
            <a:custGeom>
              <a:avLst/>
              <a:gdLst/>
              <a:ahLst/>
              <a:cxnLst/>
              <a:rect r="r" b="b" t="t" l="l"/>
              <a:pathLst>
                <a:path h="425012" w="2987039">
                  <a:moveTo>
                    <a:pt x="0" y="0"/>
                  </a:moveTo>
                  <a:lnTo>
                    <a:pt x="2987039" y="0"/>
                  </a:lnTo>
                  <a:lnTo>
                    <a:pt x="2987039" y="425012"/>
                  </a:lnTo>
                  <a:lnTo>
                    <a:pt x="0" y="425012"/>
                  </a:lnTo>
                  <a:close/>
                </a:path>
              </a:pathLst>
            </a:custGeom>
            <a:blipFill>
              <a:blip r:embed="rId2">
                <a:alphaModFix amt="0"/>
              </a:blip>
              <a:stretch>
                <a:fillRect l="0" t="-86942" r="0" b="-86944"/>
              </a:stretch>
            </a:blipFill>
          </p:spPr>
        </p:sp>
        <p:sp>
          <p:nvSpPr>
            <p:cNvPr name="TextBox 79" id="79"/>
            <p:cNvSpPr txBox="true"/>
            <p:nvPr/>
          </p:nvSpPr>
          <p:spPr>
            <a:xfrm>
              <a:off x="0" y="0"/>
              <a:ext cx="2987040" cy="425018"/>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LATENCY</a:t>
              </a:r>
            </a:p>
          </p:txBody>
        </p:sp>
      </p:grpSp>
      <p:grpSp>
        <p:nvGrpSpPr>
          <p:cNvPr name="Group 80" id="80"/>
          <p:cNvGrpSpPr/>
          <p:nvPr/>
        </p:nvGrpSpPr>
        <p:grpSpPr>
          <a:xfrm rot="0">
            <a:off x="9372600" y="4468578"/>
            <a:ext cx="2240280" cy="364293"/>
            <a:chOff x="0" y="0"/>
            <a:chExt cx="2987040" cy="485724"/>
          </a:xfrm>
        </p:grpSpPr>
        <p:sp>
          <p:nvSpPr>
            <p:cNvPr name="Freeform 81" id="81"/>
            <p:cNvSpPr/>
            <p:nvPr/>
          </p:nvSpPr>
          <p:spPr>
            <a:xfrm flipH="false" flipV="false" rot="0">
              <a:off x="0" y="0"/>
              <a:ext cx="2987039" cy="485728"/>
            </a:xfrm>
            <a:custGeom>
              <a:avLst/>
              <a:gdLst/>
              <a:ahLst/>
              <a:cxnLst/>
              <a:rect r="r" b="b" t="t" l="l"/>
              <a:pathLst>
                <a:path h="485728" w="2987039">
                  <a:moveTo>
                    <a:pt x="0" y="0"/>
                  </a:moveTo>
                  <a:lnTo>
                    <a:pt x="2987039" y="0"/>
                  </a:lnTo>
                  <a:lnTo>
                    <a:pt x="2987039" y="485728"/>
                  </a:lnTo>
                  <a:lnTo>
                    <a:pt x="0" y="485728"/>
                  </a:lnTo>
                  <a:close/>
                </a:path>
              </a:pathLst>
            </a:custGeom>
            <a:blipFill>
              <a:blip r:embed="rId2">
                <a:alphaModFix amt="0"/>
              </a:blip>
              <a:stretch>
                <a:fillRect l="0" t="-69825" r="0" b="-69825"/>
              </a:stretch>
            </a:blipFill>
          </p:spPr>
        </p:sp>
        <p:sp>
          <p:nvSpPr>
            <p:cNvPr name="TextBox 82" id="82"/>
            <p:cNvSpPr txBox="true"/>
            <p:nvPr/>
          </p:nvSpPr>
          <p:spPr>
            <a:xfrm>
              <a:off x="0" y="0"/>
              <a:ext cx="2987040" cy="485724"/>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NO WAIT / WAIT</a:t>
              </a:r>
            </a:p>
          </p:txBody>
        </p:sp>
      </p:grpSp>
      <p:grpSp>
        <p:nvGrpSpPr>
          <p:cNvPr name="Group 83" id="83"/>
          <p:cNvGrpSpPr/>
          <p:nvPr/>
        </p:nvGrpSpPr>
        <p:grpSpPr>
          <a:xfrm rot="0">
            <a:off x="11814048" y="4215384"/>
            <a:ext cx="594360" cy="530352"/>
            <a:chOff x="0" y="0"/>
            <a:chExt cx="792480" cy="707136"/>
          </a:xfrm>
        </p:grpSpPr>
        <p:sp>
          <p:nvSpPr>
            <p:cNvPr name="Freeform 84" id="84"/>
            <p:cNvSpPr/>
            <p:nvPr/>
          </p:nvSpPr>
          <p:spPr>
            <a:xfrm flipH="false" flipV="false" rot="0">
              <a:off x="0" y="0"/>
              <a:ext cx="792480" cy="707136"/>
            </a:xfrm>
            <a:custGeom>
              <a:avLst/>
              <a:gdLst/>
              <a:ahLst/>
              <a:cxnLst/>
              <a:rect r="r" b="b" t="t" l="l"/>
              <a:pathLst>
                <a:path h="707136" w="792480">
                  <a:moveTo>
                    <a:pt x="0" y="0"/>
                  </a:moveTo>
                  <a:lnTo>
                    <a:pt x="792480" y="0"/>
                  </a:lnTo>
                  <a:lnTo>
                    <a:pt x="792480" y="707136"/>
                  </a:lnTo>
                  <a:lnTo>
                    <a:pt x="0" y="707136"/>
                  </a:lnTo>
                  <a:close/>
                </a:path>
              </a:pathLst>
            </a:custGeom>
            <a:blipFill>
              <a:blip r:embed="rId2">
                <a:alphaModFix amt="0"/>
              </a:blip>
              <a:stretch>
                <a:fillRect l="-64486" t="0" r="-64486" b="0"/>
              </a:stretch>
            </a:blipFill>
          </p:spPr>
        </p:sp>
        <p:sp>
          <p:nvSpPr>
            <p:cNvPr name="TextBox 85" id="85"/>
            <p:cNvSpPr txBox="true"/>
            <p:nvPr/>
          </p:nvSpPr>
          <p:spPr>
            <a:xfrm>
              <a:off x="0" y="-66675"/>
              <a:ext cx="792480" cy="773811"/>
            </a:xfrm>
            <a:prstGeom prst="rect">
              <a:avLst/>
            </a:prstGeom>
          </p:spPr>
          <p:txBody>
            <a:bodyPr anchor="ctr" rtlCol="false" tIns="0" lIns="0" bIns="0" rIns="0"/>
            <a:lstStyle/>
            <a:p>
              <a:pPr algn="ctr">
                <a:lnSpc>
                  <a:spcPts val="3359"/>
                </a:lnSpc>
              </a:pPr>
              <a:r>
                <a:rPr lang="en-US" sz="2799" b="true">
                  <a:solidFill>
                    <a:srgbClr val="2D5986"/>
                  </a:solidFill>
                  <a:latin typeface="Calibri (MS) Bold"/>
                  <a:ea typeface="Calibri (MS) Bold"/>
                  <a:cs typeface="Calibri (MS) Bold"/>
                  <a:sym typeface="Calibri (MS) Bold"/>
                </a:rPr>
                <a:t>×</a:t>
              </a:r>
            </a:p>
          </p:txBody>
        </p:sp>
      </p:grpSp>
      <p:grpSp>
        <p:nvGrpSpPr>
          <p:cNvPr name="Group 86" id="86"/>
          <p:cNvGrpSpPr/>
          <p:nvPr/>
        </p:nvGrpSpPr>
        <p:grpSpPr>
          <a:xfrm rot="0">
            <a:off x="9326880" y="5148072"/>
            <a:ext cx="2331720" cy="758952"/>
            <a:chOff x="0" y="0"/>
            <a:chExt cx="3108960" cy="1011936"/>
          </a:xfrm>
        </p:grpSpPr>
        <p:sp>
          <p:nvSpPr>
            <p:cNvPr name="Freeform 87" id="87"/>
            <p:cNvSpPr/>
            <p:nvPr/>
          </p:nvSpPr>
          <p:spPr>
            <a:xfrm flipH="false" flipV="false" rot="0">
              <a:off x="0" y="0"/>
              <a:ext cx="3108960" cy="1011936"/>
            </a:xfrm>
            <a:custGeom>
              <a:avLst/>
              <a:gdLst/>
              <a:ahLst/>
              <a:cxnLst/>
              <a:rect r="r" b="b" t="t" l="l"/>
              <a:pathLst>
                <a:path h="1011936" w="3108960">
                  <a:moveTo>
                    <a:pt x="0" y="168656"/>
                  </a:moveTo>
                  <a:cubicBezTo>
                    <a:pt x="0" y="75565"/>
                    <a:pt x="75565" y="0"/>
                    <a:pt x="168656" y="0"/>
                  </a:cubicBezTo>
                  <a:lnTo>
                    <a:pt x="2940304" y="0"/>
                  </a:lnTo>
                  <a:cubicBezTo>
                    <a:pt x="3033395" y="0"/>
                    <a:pt x="3108960" y="75565"/>
                    <a:pt x="3108960" y="168656"/>
                  </a:cubicBezTo>
                  <a:lnTo>
                    <a:pt x="3108960" y="843280"/>
                  </a:lnTo>
                  <a:cubicBezTo>
                    <a:pt x="3108960" y="936371"/>
                    <a:pt x="3033395" y="1011936"/>
                    <a:pt x="2940304" y="1011936"/>
                  </a:cubicBezTo>
                  <a:lnTo>
                    <a:pt x="168656" y="1011936"/>
                  </a:lnTo>
                  <a:cubicBezTo>
                    <a:pt x="75565" y="1011936"/>
                    <a:pt x="0" y="936371"/>
                    <a:pt x="0" y="843280"/>
                  </a:cubicBezTo>
                  <a:close/>
                </a:path>
              </a:pathLst>
            </a:custGeom>
            <a:solidFill>
              <a:srgbClr val="EFF3F7"/>
            </a:solidFill>
          </p:spPr>
        </p:sp>
      </p:grpSp>
      <p:grpSp>
        <p:nvGrpSpPr>
          <p:cNvPr name="Group 88" id="88"/>
          <p:cNvGrpSpPr/>
          <p:nvPr/>
        </p:nvGrpSpPr>
        <p:grpSpPr>
          <a:xfrm rot="0">
            <a:off x="9372600" y="5193792"/>
            <a:ext cx="2240280" cy="318764"/>
            <a:chOff x="0" y="0"/>
            <a:chExt cx="2987040" cy="425018"/>
          </a:xfrm>
        </p:grpSpPr>
        <p:sp>
          <p:nvSpPr>
            <p:cNvPr name="Freeform 89" id="89"/>
            <p:cNvSpPr/>
            <p:nvPr/>
          </p:nvSpPr>
          <p:spPr>
            <a:xfrm flipH="false" flipV="false" rot="0">
              <a:off x="0" y="0"/>
              <a:ext cx="2987039" cy="425012"/>
            </a:xfrm>
            <a:custGeom>
              <a:avLst/>
              <a:gdLst/>
              <a:ahLst/>
              <a:cxnLst/>
              <a:rect r="r" b="b" t="t" l="l"/>
              <a:pathLst>
                <a:path h="425012" w="2987039">
                  <a:moveTo>
                    <a:pt x="0" y="0"/>
                  </a:moveTo>
                  <a:lnTo>
                    <a:pt x="2987039" y="0"/>
                  </a:lnTo>
                  <a:lnTo>
                    <a:pt x="2987039" y="425012"/>
                  </a:lnTo>
                  <a:lnTo>
                    <a:pt x="0" y="425012"/>
                  </a:lnTo>
                  <a:close/>
                </a:path>
              </a:pathLst>
            </a:custGeom>
            <a:blipFill>
              <a:blip r:embed="rId2">
                <a:alphaModFix amt="0"/>
              </a:blip>
              <a:stretch>
                <a:fillRect l="0" t="-86942" r="0" b="-86944"/>
              </a:stretch>
            </a:blipFill>
          </p:spPr>
        </p:sp>
        <p:sp>
          <p:nvSpPr>
            <p:cNvPr name="TextBox 90" id="90"/>
            <p:cNvSpPr txBox="true"/>
            <p:nvPr/>
          </p:nvSpPr>
          <p:spPr>
            <a:xfrm>
              <a:off x="0" y="0"/>
              <a:ext cx="2987040" cy="425018"/>
            </a:xfrm>
            <a:prstGeom prst="rect">
              <a:avLst/>
            </a:prstGeom>
          </p:spPr>
          <p:txBody>
            <a:bodyPr anchor="ctr" rtlCol="false" tIns="0" lIns="0" bIns="0" rIns="0"/>
            <a:lstStyle/>
            <a:p>
              <a:pPr algn="ctr">
                <a:lnSpc>
                  <a:spcPts val="1680"/>
                </a:lnSpc>
              </a:pPr>
              <a:r>
                <a:rPr lang="en-US" sz="1400" b="true">
                  <a:solidFill>
                    <a:srgbClr val="63707C"/>
                  </a:solidFill>
                  <a:latin typeface="Aptos Bold"/>
                  <a:ea typeface="Aptos Bold"/>
                  <a:cs typeface="Aptos Bold"/>
                  <a:sym typeface="Aptos Bold"/>
                </a:rPr>
                <a:t>RESPONSE</a:t>
              </a:r>
            </a:p>
          </p:txBody>
        </p:sp>
      </p:grpSp>
      <p:grpSp>
        <p:nvGrpSpPr>
          <p:cNvPr name="Group 91" id="91"/>
          <p:cNvGrpSpPr/>
          <p:nvPr/>
        </p:nvGrpSpPr>
        <p:grpSpPr>
          <a:xfrm rot="0">
            <a:off x="9372600" y="5474418"/>
            <a:ext cx="2240280" cy="364293"/>
            <a:chOff x="0" y="0"/>
            <a:chExt cx="2987040" cy="485724"/>
          </a:xfrm>
        </p:grpSpPr>
        <p:sp>
          <p:nvSpPr>
            <p:cNvPr name="Freeform 92" id="92"/>
            <p:cNvSpPr/>
            <p:nvPr/>
          </p:nvSpPr>
          <p:spPr>
            <a:xfrm flipH="false" flipV="false" rot="0">
              <a:off x="0" y="0"/>
              <a:ext cx="2987039" cy="485728"/>
            </a:xfrm>
            <a:custGeom>
              <a:avLst/>
              <a:gdLst/>
              <a:ahLst/>
              <a:cxnLst/>
              <a:rect r="r" b="b" t="t" l="l"/>
              <a:pathLst>
                <a:path h="485728" w="2987039">
                  <a:moveTo>
                    <a:pt x="0" y="0"/>
                  </a:moveTo>
                  <a:lnTo>
                    <a:pt x="2987039" y="0"/>
                  </a:lnTo>
                  <a:lnTo>
                    <a:pt x="2987039" y="485728"/>
                  </a:lnTo>
                  <a:lnTo>
                    <a:pt x="0" y="485728"/>
                  </a:lnTo>
                  <a:close/>
                </a:path>
              </a:pathLst>
            </a:custGeom>
            <a:blipFill>
              <a:blip r:embed="rId2">
                <a:alphaModFix amt="0"/>
              </a:blip>
              <a:stretch>
                <a:fillRect l="0" t="-69825" r="0" b="-69825"/>
              </a:stretch>
            </a:blipFill>
          </p:spPr>
        </p:sp>
        <p:sp>
          <p:nvSpPr>
            <p:cNvPr name="TextBox 93" id="93"/>
            <p:cNvSpPr txBox="true"/>
            <p:nvPr/>
          </p:nvSpPr>
          <p:spPr>
            <a:xfrm>
              <a:off x="0" y="0"/>
              <a:ext cx="2987040" cy="485724"/>
            </a:xfrm>
            <a:prstGeom prst="rect">
              <a:avLst/>
            </a:prstGeom>
          </p:spPr>
          <p:txBody>
            <a:bodyPr anchor="ctr" rtlCol="false" tIns="0" lIns="0" bIns="0" rIns="0"/>
            <a:lstStyle/>
            <a:p>
              <a:pPr algn="ctr">
                <a:lnSpc>
                  <a:spcPts val="2279"/>
                </a:lnSpc>
              </a:pPr>
              <a:r>
                <a:rPr lang="en-US" sz="1899" b="true">
                  <a:solidFill>
                    <a:srgbClr val="24486E"/>
                  </a:solidFill>
                  <a:latin typeface="Aptos Bold"/>
                  <a:ea typeface="Aptos Bold"/>
                  <a:cs typeface="Aptos Bold"/>
                  <a:sym typeface="Aptos Bold"/>
                </a:rPr>
                <a:t>OKAY / ERROR</a:t>
              </a:r>
            </a:p>
          </p:txBody>
        </p:sp>
      </p:grpSp>
      <p:sp>
        <p:nvSpPr>
          <p:cNvPr name="TextBox 94" id="94"/>
          <p:cNvSpPr txBox="true"/>
          <p:nvPr/>
        </p:nvSpPr>
        <p:spPr>
          <a:xfrm rot="0">
            <a:off x="12591288" y="3310128"/>
            <a:ext cx="4398264" cy="1792224"/>
          </a:xfrm>
          <a:prstGeom prst="rect">
            <a:avLst/>
          </a:prstGeom>
        </p:spPr>
        <p:txBody>
          <a:bodyPr anchor="t" rtlCol="false" tIns="0" lIns="0" bIns="0" rIns="0">
            <a:spAutoFit/>
          </a:bodyPr>
          <a:lstStyle/>
          <a:p>
            <a:pPr algn="l">
              <a:lnSpc>
                <a:spcPts val="2160"/>
              </a:lnSpc>
            </a:pPr>
            <a:r>
              <a:rPr lang="en-US" sz="1800">
                <a:solidFill>
                  <a:srgbClr val="2F3A44"/>
                </a:solidFill>
                <a:latin typeface="Aptos"/>
                <a:ea typeface="Aptos"/>
                <a:cs typeface="Aptos"/>
                <a:sym typeface="Aptos"/>
              </a:rPr>
              <a:t>Goal: exercise every observed combination of transaction direction, APB latency category, and response status.</a:t>
            </a:r>
          </a:p>
        </p:txBody>
      </p:sp>
      <p:grpSp>
        <p:nvGrpSpPr>
          <p:cNvPr name="Group 95" id="95"/>
          <p:cNvGrpSpPr/>
          <p:nvPr/>
        </p:nvGrpSpPr>
        <p:grpSpPr>
          <a:xfrm rot="0">
            <a:off x="9326880" y="6172200"/>
            <a:ext cx="7818120" cy="548640"/>
            <a:chOff x="0" y="0"/>
            <a:chExt cx="10424160" cy="731520"/>
          </a:xfrm>
        </p:grpSpPr>
        <p:sp>
          <p:nvSpPr>
            <p:cNvPr name="Freeform 96" id="96"/>
            <p:cNvSpPr/>
            <p:nvPr/>
          </p:nvSpPr>
          <p:spPr>
            <a:xfrm flipH="false" flipV="false" rot="0">
              <a:off x="0" y="0"/>
              <a:ext cx="10424160" cy="731520"/>
            </a:xfrm>
            <a:custGeom>
              <a:avLst/>
              <a:gdLst/>
              <a:ahLst/>
              <a:cxnLst/>
              <a:rect r="r" b="b" t="t" l="l"/>
              <a:pathLst>
                <a:path h="731520" w="10424160">
                  <a:moveTo>
                    <a:pt x="0" y="0"/>
                  </a:moveTo>
                  <a:lnTo>
                    <a:pt x="10424160" y="0"/>
                  </a:lnTo>
                  <a:lnTo>
                    <a:pt x="10424160" y="731520"/>
                  </a:lnTo>
                  <a:lnTo>
                    <a:pt x="0" y="731520"/>
                  </a:lnTo>
                  <a:close/>
                </a:path>
              </a:pathLst>
            </a:custGeom>
            <a:blipFill>
              <a:blip r:embed="rId2">
                <a:alphaModFix amt="0"/>
              </a:blip>
              <a:stretch>
                <a:fillRect l="0" t="-227661" r="0" b="-227661"/>
              </a:stretch>
            </a:blipFill>
          </p:spPr>
        </p:sp>
        <p:sp>
          <p:nvSpPr>
            <p:cNvPr name="TextBox 97" id="97"/>
            <p:cNvSpPr txBox="true"/>
            <p:nvPr/>
          </p:nvSpPr>
          <p:spPr>
            <a:xfrm>
              <a:off x="0" y="0"/>
              <a:ext cx="10424160" cy="731520"/>
            </a:xfrm>
            <a:prstGeom prst="rect">
              <a:avLst/>
            </a:prstGeom>
          </p:spPr>
          <p:txBody>
            <a:bodyPr anchor="ctr" rtlCol="false" tIns="0" lIns="0" bIns="0" rIns="0"/>
            <a:lstStyle/>
            <a:p>
              <a:pPr algn="l">
                <a:lnSpc>
                  <a:spcPts val="1800"/>
                </a:lnSpc>
              </a:pPr>
              <a:r>
                <a:rPr lang="en-US" sz="1500" b="true">
                  <a:solidFill>
                    <a:srgbClr val="24486E"/>
                  </a:solidFill>
                  <a:latin typeface="Aptos Bold"/>
                  <a:ea typeface="Aptos Bold"/>
                  <a:cs typeface="Aptos Bold"/>
                  <a:sym typeface="Aptos Bold"/>
                </a:rPr>
                <a:t>Cross coverage is sampled only for address-matched pairs.</a:t>
              </a:r>
            </a:p>
          </p:txBody>
        </p:sp>
      </p:grpSp>
      <p:grpSp>
        <p:nvGrpSpPr>
          <p:cNvPr name="Group 98" id="98"/>
          <p:cNvGrpSpPr/>
          <p:nvPr/>
        </p:nvGrpSpPr>
        <p:grpSpPr>
          <a:xfrm rot="0">
            <a:off x="404498" y="7803518"/>
            <a:ext cx="17286989" cy="1339853"/>
            <a:chOff x="0" y="0"/>
            <a:chExt cx="23049319" cy="1786471"/>
          </a:xfrm>
        </p:grpSpPr>
        <p:sp>
          <p:nvSpPr>
            <p:cNvPr name="Freeform 99" id="99"/>
            <p:cNvSpPr/>
            <p:nvPr/>
          </p:nvSpPr>
          <p:spPr>
            <a:xfrm flipH="false" flipV="false" rot="0">
              <a:off x="0" y="0"/>
              <a:ext cx="23049230" cy="1786382"/>
            </a:xfrm>
            <a:custGeom>
              <a:avLst/>
              <a:gdLst/>
              <a:ahLst/>
              <a:cxnLst/>
              <a:rect r="r" b="b" t="t" l="l"/>
              <a:pathLst>
                <a:path h="1786382" w="23049230">
                  <a:moveTo>
                    <a:pt x="0" y="297688"/>
                  </a:moveTo>
                  <a:cubicBezTo>
                    <a:pt x="0" y="133350"/>
                    <a:pt x="133350" y="0"/>
                    <a:pt x="297688" y="0"/>
                  </a:cubicBezTo>
                  <a:lnTo>
                    <a:pt x="22751542" y="0"/>
                  </a:lnTo>
                  <a:cubicBezTo>
                    <a:pt x="22916006" y="0"/>
                    <a:pt x="23049230" y="133350"/>
                    <a:pt x="23049230" y="297688"/>
                  </a:cubicBezTo>
                  <a:lnTo>
                    <a:pt x="23049230" y="1488694"/>
                  </a:lnTo>
                  <a:cubicBezTo>
                    <a:pt x="23049230" y="1653159"/>
                    <a:pt x="22915880" y="1786382"/>
                    <a:pt x="22751542" y="1786382"/>
                  </a:cubicBezTo>
                  <a:lnTo>
                    <a:pt x="297688" y="1786382"/>
                  </a:lnTo>
                  <a:cubicBezTo>
                    <a:pt x="133350" y="1786509"/>
                    <a:pt x="0" y="1653159"/>
                    <a:pt x="0" y="1488694"/>
                  </a:cubicBezTo>
                  <a:close/>
                </a:path>
              </a:pathLst>
            </a:custGeom>
            <a:solidFill>
              <a:srgbClr val="EFF3F7"/>
            </a:solidFill>
            <a:ln w="13970" cap="sq">
              <a:solidFill>
                <a:srgbClr val="CAD6E0"/>
              </a:solidFill>
              <a:prstDash val="solid"/>
              <a:miter/>
            </a:ln>
          </p:spPr>
        </p:sp>
      </p:grpSp>
      <p:grpSp>
        <p:nvGrpSpPr>
          <p:cNvPr name="Group 100" id="100"/>
          <p:cNvGrpSpPr/>
          <p:nvPr/>
        </p:nvGrpSpPr>
        <p:grpSpPr>
          <a:xfrm rot="0">
            <a:off x="411480" y="7883652"/>
            <a:ext cx="68580" cy="1179576"/>
            <a:chOff x="0" y="0"/>
            <a:chExt cx="91440" cy="1572768"/>
          </a:xfrm>
        </p:grpSpPr>
        <p:sp>
          <p:nvSpPr>
            <p:cNvPr name="Freeform 101" id="101"/>
            <p:cNvSpPr/>
            <p:nvPr/>
          </p:nvSpPr>
          <p:spPr>
            <a:xfrm flipH="false" flipV="false" rot="0">
              <a:off x="0" y="0"/>
              <a:ext cx="91440" cy="1572768"/>
            </a:xfrm>
            <a:custGeom>
              <a:avLst/>
              <a:gdLst/>
              <a:ahLst/>
              <a:cxnLst/>
              <a:rect r="r" b="b" t="t" l="l"/>
              <a:pathLst>
                <a:path h="1572768" w="91440">
                  <a:moveTo>
                    <a:pt x="0" y="0"/>
                  </a:moveTo>
                  <a:lnTo>
                    <a:pt x="91440" y="0"/>
                  </a:lnTo>
                  <a:lnTo>
                    <a:pt x="91440" y="1572768"/>
                  </a:lnTo>
                  <a:lnTo>
                    <a:pt x="0" y="1572768"/>
                  </a:lnTo>
                  <a:close/>
                </a:path>
              </a:pathLst>
            </a:custGeom>
            <a:solidFill>
              <a:srgbClr val="24486E"/>
            </a:solidFill>
          </p:spPr>
        </p:sp>
      </p:grpSp>
      <p:grpSp>
        <p:nvGrpSpPr>
          <p:cNvPr name="Group 102" id="102"/>
          <p:cNvGrpSpPr/>
          <p:nvPr/>
        </p:nvGrpSpPr>
        <p:grpSpPr>
          <a:xfrm rot="0">
            <a:off x="612648" y="7920228"/>
            <a:ext cx="16888968" cy="384048"/>
            <a:chOff x="0" y="0"/>
            <a:chExt cx="22518624" cy="512064"/>
          </a:xfrm>
        </p:grpSpPr>
        <p:sp>
          <p:nvSpPr>
            <p:cNvPr name="Freeform 103" id="103"/>
            <p:cNvSpPr/>
            <p:nvPr/>
          </p:nvSpPr>
          <p:spPr>
            <a:xfrm flipH="false" flipV="false" rot="0">
              <a:off x="0" y="0"/>
              <a:ext cx="22518624" cy="512064"/>
            </a:xfrm>
            <a:custGeom>
              <a:avLst/>
              <a:gdLst/>
              <a:ahLst/>
              <a:cxnLst/>
              <a:rect r="r" b="b" t="t" l="l"/>
              <a:pathLst>
                <a:path h="512064" w="22518624">
                  <a:moveTo>
                    <a:pt x="0" y="0"/>
                  </a:moveTo>
                  <a:lnTo>
                    <a:pt x="22518624" y="0"/>
                  </a:lnTo>
                  <a:lnTo>
                    <a:pt x="22518624" y="512064"/>
                  </a:lnTo>
                  <a:lnTo>
                    <a:pt x="0" y="512064"/>
                  </a:lnTo>
                  <a:close/>
                </a:path>
              </a:pathLst>
            </a:custGeom>
            <a:blipFill>
              <a:blip r:embed="rId2">
                <a:alphaModFix amt="0"/>
              </a:blip>
              <a:stretch>
                <a:fillRect l="0" t="-806877" r="0" b="-806877"/>
              </a:stretch>
            </a:blipFill>
          </p:spPr>
        </p:sp>
        <p:sp>
          <p:nvSpPr>
            <p:cNvPr name="TextBox 104" id="104"/>
            <p:cNvSpPr txBox="true"/>
            <p:nvPr/>
          </p:nvSpPr>
          <p:spPr>
            <a:xfrm>
              <a:off x="0" y="-9525"/>
              <a:ext cx="22518624" cy="521589"/>
            </a:xfrm>
            <a:prstGeom prst="rect">
              <a:avLst/>
            </a:prstGeom>
          </p:spPr>
          <p:txBody>
            <a:bodyPr anchor="ctr" rtlCol="false" tIns="0" lIns="0" bIns="0" rIns="0"/>
            <a:lstStyle/>
            <a:p>
              <a:pPr algn="l">
                <a:lnSpc>
                  <a:spcPts val="2520"/>
                </a:lnSpc>
              </a:pPr>
              <a:r>
                <a:rPr lang="en-US" sz="2100" b="true">
                  <a:solidFill>
                    <a:srgbClr val="2D5986"/>
                  </a:solidFill>
                  <a:latin typeface="Aptos Bold"/>
                  <a:ea typeface="Aptos Bold"/>
                  <a:cs typeface="Aptos Bold"/>
                  <a:sym typeface="Aptos Bold"/>
                </a:rPr>
                <a:t>Transaction pairing check</a:t>
              </a:r>
            </a:p>
          </p:txBody>
        </p:sp>
      </p:grpSp>
      <p:grpSp>
        <p:nvGrpSpPr>
          <p:cNvPr name="Group 105" id="105"/>
          <p:cNvGrpSpPr/>
          <p:nvPr/>
        </p:nvGrpSpPr>
        <p:grpSpPr>
          <a:xfrm rot="0">
            <a:off x="749808" y="8450732"/>
            <a:ext cx="16459200" cy="283150"/>
            <a:chOff x="0" y="0"/>
            <a:chExt cx="21945600" cy="377533"/>
          </a:xfrm>
        </p:grpSpPr>
        <p:sp>
          <p:nvSpPr>
            <p:cNvPr name="Freeform 106" id="106"/>
            <p:cNvSpPr/>
            <p:nvPr/>
          </p:nvSpPr>
          <p:spPr>
            <a:xfrm flipH="false" flipV="false" rot="0">
              <a:off x="0" y="0"/>
              <a:ext cx="21945600" cy="377539"/>
            </a:xfrm>
            <a:custGeom>
              <a:avLst/>
              <a:gdLst/>
              <a:ahLst/>
              <a:cxnLst/>
              <a:rect r="r" b="b" t="t" l="l"/>
              <a:pathLst>
                <a:path h="377539" w="21945600">
                  <a:moveTo>
                    <a:pt x="0" y="0"/>
                  </a:moveTo>
                  <a:lnTo>
                    <a:pt x="21945600" y="0"/>
                  </a:lnTo>
                  <a:lnTo>
                    <a:pt x="21945600" y="377539"/>
                  </a:lnTo>
                  <a:lnTo>
                    <a:pt x="0" y="377539"/>
                  </a:lnTo>
                  <a:close/>
                </a:path>
              </a:pathLst>
            </a:custGeom>
            <a:blipFill>
              <a:blip r:embed="rId2">
                <a:alphaModFix amt="0"/>
              </a:blip>
              <a:stretch>
                <a:fillRect l="0" t="-1082628" r="0" b="-1082627"/>
              </a:stretch>
            </a:blipFill>
          </p:spPr>
        </p:sp>
        <p:sp>
          <p:nvSpPr>
            <p:cNvPr name="TextBox 107" id="107"/>
            <p:cNvSpPr txBox="true"/>
            <p:nvPr/>
          </p:nvSpPr>
          <p:spPr>
            <a:xfrm>
              <a:off x="0" y="0"/>
              <a:ext cx="21945600" cy="377533"/>
            </a:xfrm>
            <a:prstGeom prst="rect">
              <a:avLst/>
            </a:prstGeom>
          </p:spPr>
          <p:txBody>
            <a:bodyPr anchor="ctr" rtlCol="false" tIns="0" lIns="0" bIns="0" rIns="0"/>
            <a:lstStyle/>
            <a:p>
              <a:pPr algn="l">
                <a:lnSpc>
                  <a:spcPts val="1919"/>
                </a:lnSpc>
              </a:pPr>
              <a:r>
                <a:rPr lang="en-US" sz="1599">
                  <a:solidFill>
                    <a:srgbClr val="2F3A44"/>
                  </a:solidFill>
                  <a:latin typeface="Aptos"/>
                  <a:ea typeface="Aptos"/>
                  <a:cs typeface="Aptos"/>
                  <a:sym typeface="Aptos"/>
                </a:rPr>
                <a:t>The component compares AHB HADDR[15:2] with APB PADDR[15:2] before sampling the cross groups.</a:t>
              </a:r>
            </a:p>
          </p:txBody>
        </p:sp>
      </p:grpSp>
      <p:grpSp>
        <p:nvGrpSpPr>
          <p:cNvPr name="Group 108" id="108"/>
          <p:cNvGrpSpPr/>
          <p:nvPr/>
        </p:nvGrpSpPr>
        <p:grpSpPr>
          <a:xfrm rot="0">
            <a:off x="685800" y="9710928"/>
            <a:ext cx="10972800" cy="411480"/>
            <a:chOff x="0" y="0"/>
            <a:chExt cx="14630400" cy="548640"/>
          </a:xfrm>
        </p:grpSpPr>
        <p:sp>
          <p:nvSpPr>
            <p:cNvPr name="Freeform 109" id="10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110" id="110"/>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111" id="111"/>
          <p:cNvGrpSpPr/>
          <p:nvPr/>
        </p:nvGrpSpPr>
        <p:grpSpPr>
          <a:xfrm rot="0">
            <a:off x="16911828" y="9710928"/>
            <a:ext cx="685800" cy="411480"/>
            <a:chOff x="0" y="0"/>
            <a:chExt cx="914400" cy="548640"/>
          </a:xfrm>
        </p:grpSpPr>
        <p:sp>
          <p:nvSpPr>
            <p:cNvPr name="Freeform 112" id="11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113" id="113"/>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29</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840998" y="1590675"/>
          <a:ext cx="16606003" cy="7667625"/>
        </p:xfrm>
        <a:graphic>
          <a:graphicData uri="http://schemas.openxmlformats.org/drawingml/2006/table">
            <a:tbl>
              <a:tblPr/>
              <a:tblGrid>
                <a:gridCol w="7416723"/>
                <a:gridCol w="2272516"/>
                <a:gridCol w="6916764"/>
              </a:tblGrid>
              <a:tr h="886600">
                <a:tc>
                  <a:txBody>
                    <a:bodyPr anchor="t" rtlCol="false"/>
                    <a:lstStyle/>
                    <a:p>
                      <a:pPr algn="l">
                        <a:lnSpc>
                          <a:spcPts val="3780"/>
                        </a:lnSpc>
                        <a:defRPr/>
                      </a:pPr>
                      <a:r>
                        <a:rPr lang="en-US" sz="2700" b="true">
                          <a:solidFill>
                            <a:srgbClr val="000000"/>
                          </a:solidFill>
                          <a:latin typeface="Calibri (MS) Bold"/>
                          <a:ea typeface="Calibri (MS) Bold"/>
                          <a:cs typeface="Calibri (MS) Bold"/>
                          <a:sym typeface="Calibri (MS) Bold"/>
                        </a:rPr>
                        <a:t>Waived item</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EDF4"/>
                    </a:solidFill>
                  </a:tcPr>
                </a:tc>
                <a:tc>
                  <a:txBody>
                    <a:bodyPr anchor="t" rtlCol="false"/>
                    <a:lstStyle/>
                    <a:p>
                      <a:pPr algn="l">
                        <a:lnSpc>
                          <a:spcPts val="3780"/>
                        </a:lnSpc>
                        <a:defRPr/>
                      </a:pPr>
                      <a:r>
                        <a:rPr lang="en-US" sz="2700" b="true">
                          <a:solidFill>
                            <a:srgbClr val="000000"/>
                          </a:solidFill>
                          <a:latin typeface="Calibri (MS) Bold"/>
                          <a:ea typeface="Calibri (MS) Bold"/>
                          <a:cs typeface="Calibri (MS) Bold"/>
                          <a:sym typeface="Calibri (MS) Bold"/>
                        </a:rPr>
                        <a:t>Type</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EDF4"/>
                    </a:solidFill>
                  </a:tcPr>
                </a:tc>
                <a:tc>
                  <a:txBody>
                    <a:bodyPr anchor="t" rtlCol="false"/>
                    <a:lstStyle/>
                    <a:p>
                      <a:pPr algn="l">
                        <a:lnSpc>
                          <a:spcPts val="3780"/>
                        </a:lnSpc>
                        <a:defRPr/>
                      </a:pPr>
                      <a:r>
                        <a:rPr lang="en-US" sz="2700" b="true">
                          <a:solidFill>
                            <a:srgbClr val="000000"/>
                          </a:solidFill>
                          <a:latin typeface="Calibri (MS) Bold"/>
                          <a:ea typeface="Calibri (MS) Bold"/>
                          <a:cs typeface="Calibri (MS) Bold"/>
                          <a:sym typeface="Calibri (MS) Bold"/>
                        </a:rPr>
                        <a:t>Justification</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EDF4"/>
                    </a:solidFill>
                  </a:tcPr>
                </a:tc>
              </a:tr>
              <a:tr h="1373742">
                <a:tc>
                  <a:txBody>
                    <a:bodyPr anchor="t" rtlCol="false"/>
                    <a:lstStyle/>
                    <a:p>
                      <a:pPr algn="l">
                        <a:lnSpc>
                          <a:spcPts val="3780"/>
                        </a:lnSpc>
                        <a:defRPr/>
                      </a:pPr>
                      <a:r>
                        <a:rPr lang="en-US" sz="2700">
                          <a:solidFill>
                            <a:srgbClr val="000000"/>
                          </a:solidFill>
                          <a:latin typeface="Calibri (MS)"/>
                          <a:ea typeface="Calibri (MS)"/>
                          <a:cs typeface="Calibri (MS)"/>
                          <a:sym typeface="Calibri (MS)"/>
                        </a:rPr>
                        <a:t>Synchroniser enable (both instances) and its all-false branch</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80"/>
                        </a:lnSpc>
                        <a:defRPr/>
                      </a:pPr>
                      <a:r>
                        <a:rPr lang="en-US" sz="2700">
                          <a:solidFill>
                            <a:srgbClr val="000000"/>
                          </a:solidFill>
                          <a:latin typeface="Calibri (MS)"/>
                          <a:ea typeface="Calibri (MS)"/>
                          <a:cs typeface="Calibri (MS)"/>
                          <a:sym typeface="Calibri (MS)"/>
                        </a:rPr>
                        <a:t>Toggle, branch</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80"/>
                        </a:lnSpc>
                        <a:defRPr/>
                      </a:pPr>
                      <a:r>
                        <a:rPr lang="en-US" sz="2700">
                          <a:solidFill>
                            <a:srgbClr val="000000"/>
                          </a:solidFill>
                          <a:latin typeface="Calibri (MS)"/>
                          <a:ea typeface="Calibri (MS)"/>
                          <a:cs typeface="Calibri (MS)"/>
                          <a:sym typeface="Calibri (MS)"/>
                        </a:rPr>
                        <a:t>Tied to 1 in design</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86600">
                <a:tc>
                  <a:txBody>
                    <a:bodyPr anchor="t" rtlCol="false"/>
                    <a:lstStyle/>
                    <a:p>
                      <a:pPr algn="l">
                        <a:lnSpc>
                          <a:spcPts val="3780"/>
                        </a:lnSpc>
                        <a:defRPr/>
                      </a:pPr>
                      <a:r>
                        <a:rPr lang="en-US" sz="2700">
                          <a:solidFill>
                            <a:srgbClr val="000000"/>
                          </a:solidFill>
                          <a:latin typeface="Calibri (MS)"/>
                          <a:ea typeface="Calibri (MS)"/>
                          <a:cs typeface="Calibri (MS)"/>
                          <a:sym typeface="Calibri (MS)"/>
                        </a:rPr>
                        <a:t>HSIZE[2]</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80"/>
                        </a:lnSpc>
                        <a:defRPr/>
                      </a:pPr>
                      <a:r>
                        <a:rPr lang="en-US" sz="2700">
                          <a:solidFill>
                            <a:srgbClr val="000000"/>
                          </a:solidFill>
                          <a:latin typeface="Calibri (MS)"/>
                          <a:ea typeface="Calibri (MS)"/>
                          <a:cs typeface="Calibri (MS)"/>
                          <a:sym typeface="Calibri (MS)"/>
                        </a:rPr>
                        <a:t>Toggle</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80"/>
                        </a:lnSpc>
                        <a:defRPr/>
                      </a:pPr>
                      <a:r>
                        <a:rPr lang="en-US" sz="2700">
                          <a:solidFill>
                            <a:srgbClr val="000000"/>
                          </a:solidFill>
                          <a:latin typeface="Calibri (MS)"/>
                          <a:ea typeface="Calibri (MS)"/>
                          <a:cs typeface="Calibri (MS)"/>
                          <a:sym typeface="Calibri (MS)"/>
                        </a:rPr>
                        <a:t>Maximum data width is 32 bits</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86600">
                <a:tc>
                  <a:txBody>
                    <a:bodyPr anchor="t" rtlCol="false"/>
                    <a:lstStyle/>
                    <a:p>
                      <a:pPr algn="l">
                        <a:lnSpc>
                          <a:spcPts val="3780"/>
                        </a:lnSpc>
                        <a:defRPr/>
                      </a:pPr>
                      <a:r>
                        <a:rPr lang="en-US" sz="2700">
                          <a:solidFill>
                            <a:srgbClr val="000000"/>
                          </a:solidFill>
                          <a:latin typeface="Calibri (MS)"/>
                          <a:ea typeface="Calibri (MS)"/>
                          <a:cs typeface="Calibri (MS)"/>
                          <a:sym typeface="Calibri (MS)"/>
                        </a:rPr>
                        <a:t>PPROT[1]</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80"/>
                        </a:lnSpc>
                        <a:defRPr/>
                      </a:pPr>
                      <a:r>
                        <a:rPr lang="en-US" sz="2700">
                          <a:solidFill>
                            <a:srgbClr val="000000"/>
                          </a:solidFill>
                          <a:latin typeface="Calibri (MS)"/>
                          <a:ea typeface="Calibri (MS)"/>
                          <a:cs typeface="Calibri (MS)"/>
                          <a:sym typeface="Calibri (MS)"/>
                        </a:rPr>
                        <a:t>Toggle</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80"/>
                        </a:lnSpc>
                        <a:defRPr/>
                      </a:pPr>
                      <a:r>
                        <a:rPr lang="en-US" sz="2700">
                          <a:solidFill>
                            <a:srgbClr val="000000"/>
                          </a:solidFill>
                          <a:latin typeface="Calibri (MS)"/>
                          <a:ea typeface="Calibri (MS)"/>
                          <a:cs typeface="Calibri (MS)"/>
                          <a:sym typeface="Calibri (MS)"/>
                        </a:rPr>
                        <a:t>Always 0 in the RTL mapping</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73742">
                <a:tc>
                  <a:txBody>
                    <a:bodyPr anchor="t" rtlCol="false"/>
                    <a:lstStyle/>
                    <a:p>
                      <a:pPr algn="l">
                        <a:lnSpc>
                          <a:spcPts val="3780"/>
                        </a:lnSpc>
                        <a:defRPr/>
                      </a:pPr>
                      <a:r>
                        <a:rPr lang="en-US" sz="2700">
                          <a:solidFill>
                            <a:srgbClr val="000000"/>
                          </a:solidFill>
                          <a:latin typeface="Calibri (MS)"/>
                          <a:ea typeface="Calibri (MS)"/>
                          <a:cs typeface="Calibri (MS)"/>
                          <a:sym typeface="Calibri (MS)"/>
                        </a:rPr>
                        <a:t>PADDR[1:0]</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80"/>
                        </a:lnSpc>
                        <a:defRPr/>
                      </a:pPr>
                      <a:r>
                        <a:rPr lang="en-US" sz="2700">
                          <a:solidFill>
                            <a:srgbClr val="000000"/>
                          </a:solidFill>
                          <a:latin typeface="Calibri (MS)"/>
                          <a:ea typeface="Calibri (MS)"/>
                          <a:cs typeface="Calibri (MS)"/>
                          <a:sym typeface="Calibri (MS)"/>
                        </a:rPr>
                        <a:t>Toggle</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80"/>
                        </a:lnSpc>
                        <a:defRPr/>
                      </a:pPr>
                      <a:r>
                        <a:rPr lang="en-US" sz="2700">
                          <a:solidFill>
                            <a:srgbClr val="000000"/>
                          </a:solidFill>
                          <a:latin typeface="Calibri (MS)"/>
                          <a:ea typeface="Calibri (MS)"/>
                          <a:cs typeface="Calibri (MS)"/>
                          <a:sym typeface="Calibri (MS)"/>
                        </a:rPr>
                        <a:t>always “00”, </a:t>
                      </a:r>
                      <a:r>
                        <a:rPr lang="en-US" sz="2700">
                          <a:solidFill>
                            <a:srgbClr val="000000"/>
                          </a:solidFill>
                          <a:latin typeface="Calibri (MS)"/>
                          <a:ea typeface="Calibri (MS)"/>
                          <a:cs typeface="Calibri (MS)"/>
                          <a:sym typeface="Calibri (MS)"/>
                        </a:rPr>
                        <a:t>APB address is always word-aligned</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73742">
                <a:tc>
                  <a:txBody>
                    <a:bodyPr anchor="t" rtlCol="false"/>
                    <a:lstStyle/>
                    <a:p>
                      <a:pPr algn="l">
                        <a:lnSpc>
                          <a:spcPts val="3780"/>
                        </a:lnSpc>
                        <a:defRPr/>
                      </a:pPr>
                      <a:r>
                        <a:rPr lang="en-US" sz="2700">
                          <a:solidFill>
                            <a:srgbClr val="000000"/>
                          </a:solidFill>
                          <a:latin typeface="Calibri (MS)"/>
                          <a:ea typeface="Calibri (MS)"/>
                          <a:cs typeface="Calibri (MS)"/>
                          <a:sym typeface="Calibri (MS)"/>
                        </a:rPr>
                        <a:t>FSM default branches and illegal state (both FSMs)</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80"/>
                        </a:lnSpc>
                        <a:defRPr/>
                      </a:pPr>
                      <a:r>
                        <a:rPr lang="en-US" sz="2700">
                          <a:solidFill>
                            <a:srgbClr val="000000"/>
                          </a:solidFill>
                          <a:latin typeface="Calibri (MS)"/>
                          <a:ea typeface="Calibri (MS)"/>
                          <a:cs typeface="Calibri (MS)"/>
                          <a:sym typeface="Calibri (MS)"/>
                        </a:rPr>
                        <a:t>Line, FSM state</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80"/>
                        </a:lnSpc>
                        <a:defRPr/>
                      </a:pPr>
                      <a:r>
                        <a:rPr lang="en-US" sz="2700">
                          <a:solidFill>
                            <a:srgbClr val="000000"/>
                          </a:solidFill>
                          <a:latin typeface="Calibri (MS)"/>
                          <a:ea typeface="Calibri (MS)"/>
                          <a:cs typeface="Calibri (MS)"/>
                          <a:sym typeface="Calibri (MS)"/>
                        </a:rPr>
                        <a:t>Unreachable default / illegal encodings</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86600">
                <a:tc>
                  <a:txBody>
                    <a:bodyPr anchor="t" rtlCol="false"/>
                    <a:lstStyle/>
                    <a:p>
                      <a:pPr algn="l">
                        <a:lnSpc>
                          <a:spcPts val="3780"/>
                        </a:lnSpc>
                        <a:defRPr/>
                      </a:pPr>
                      <a:r>
                        <a:rPr lang="en-US" sz="2700">
                          <a:solidFill>
                            <a:srgbClr val="000000"/>
                          </a:solidFill>
                          <a:latin typeface="Calibri (MS)"/>
                          <a:ea typeface="Calibri (MS)"/>
                          <a:cs typeface="Calibri (MS)"/>
                          <a:sym typeface="Calibri (MS)"/>
                        </a:rPr>
                        <a:t>Unaligned-address branches</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80"/>
                        </a:lnSpc>
                        <a:defRPr/>
                      </a:pPr>
                      <a:r>
                        <a:rPr lang="en-US" sz="2700">
                          <a:solidFill>
                            <a:srgbClr val="000000"/>
                          </a:solidFill>
                          <a:latin typeface="Calibri (MS)"/>
                          <a:ea typeface="Calibri (MS)"/>
                          <a:cs typeface="Calibri (MS)"/>
                          <a:sym typeface="Calibri (MS)"/>
                        </a:rPr>
                        <a:t>Line</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80"/>
                        </a:lnSpc>
                        <a:defRPr/>
                      </a:pPr>
                      <a:r>
                        <a:rPr lang="en-US" sz="2700">
                          <a:solidFill>
                            <a:srgbClr val="000000"/>
                          </a:solidFill>
                          <a:latin typeface="Calibri (MS)"/>
                          <a:ea typeface="Calibri (MS)"/>
                          <a:cs typeface="Calibri (MS)"/>
                          <a:sym typeface="Calibri (MS)"/>
                        </a:rPr>
                        <a:t>Unaligned transfers are not legal AHB stimulus</a:t>
                      </a:r>
                      <a:endParaRPr lang="en-US" sz="1100"/>
                    </a:p>
                  </a:txBody>
                  <a:tcPr marL="123825" marR="123825" marT="123825" marB="1238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52400" y="-92075"/>
            <a:ext cx="13330074" cy="1120775"/>
          </a:xfrm>
          <a:prstGeom prst="rect">
            <a:avLst/>
          </a:prstGeom>
        </p:spPr>
        <p:txBody>
          <a:bodyPr anchor="t" rtlCol="false" tIns="0" lIns="0" bIns="0" rIns="0">
            <a:spAutoFit/>
          </a:bodyPr>
          <a:lstStyle/>
          <a:p>
            <a:pPr algn="l">
              <a:lnSpc>
                <a:spcPts val="9100"/>
              </a:lnSpc>
              <a:spcBef>
                <a:spcPct val="0"/>
              </a:spcBef>
            </a:pPr>
            <a:r>
              <a:rPr lang="en-US" sz="6500">
                <a:solidFill>
                  <a:srgbClr val="2D5986"/>
                </a:solidFill>
                <a:latin typeface="Anton"/>
                <a:ea typeface="Anton"/>
                <a:cs typeface="Anton"/>
                <a:sym typeface="Anton"/>
              </a:rPr>
              <a:t>Coverage Exclusions</a:t>
            </a:r>
          </a:p>
        </p:txBody>
      </p:sp>
      <p:grpSp>
        <p:nvGrpSpPr>
          <p:cNvPr name="Group 4" id="4"/>
          <p:cNvGrpSpPr/>
          <p:nvPr/>
        </p:nvGrpSpPr>
        <p:grpSpPr>
          <a:xfrm rot="0">
            <a:off x="157086" y="9885045"/>
            <a:ext cx="10972800" cy="411480"/>
            <a:chOff x="0" y="0"/>
            <a:chExt cx="14630400" cy="548640"/>
          </a:xfrm>
        </p:grpSpPr>
        <p:sp>
          <p:nvSpPr>
            <p:cNvPr name="Freeform 5" id="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 id="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7" id="7"/>
          <p:cNvGrpSpPr/>
          <p:nvPr/>
        </p:nvGrpSpPr>
        <p:grpSpPr>
          <a:xfrm rot="0">
            <a:off x="16911828" y="9710928"/>
            <a:ext cx="685800" cy="411480"/>
            <a:chOff x="0" y="0"/>
            <a:chExt cx="914400" cy="548640"/>
          </a:xfrm>
        </p:grpSpPr>
        <p:sp>
          <p:nvSpPr>
            <p:cNvPr name="Freeform 8" id="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9" id="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30</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TextBox 2" id="2"/>
          <p:cNvSpPr txBox="true"/>
          <p:nvPr/>
        </p:nvSpPr>
        <p:spPr>
          <a:xfrm rot="0">
            <a:off x="152400" y="-92075"/>
            <a:ext cx="13330074" cy="1120775"/>
          </a:xfrm>
          <a:prstGeom prst="rect">
            <a:avLst/>
          </a:prstGeom>
        </p:spPr>
        <p:txBody>
          <a:bodyPr anchor="t" rtlCol="false" tIns="0" lIns="0" bIns="0" rIns="0">
            <a:spAutoFit/>
          </a:bodyPr>
          <a:lstStyle/>
          <a:p>
            <a:pPr algn="l">
              <a:lnSpc>
                <a:spcPts val="9100"/>
              </a:lnSpc>
              <a:spcBef>
                <a:spcPct val="0"/>
              </a:spcBef>
            </a:pPr>
            <a:r>
              <a:rPr lang="en-US" sz="6500">
                <a:solidFill>
                  <a:srgbClr val="2D5986"/>
                </a:solidFill>
                <a:latin typeface="Anton"/>
                <a:ea typeface="Anton"/>
                <a:cs typeface="Anton"/>
                <a:sym typeface="Anton"/>
              </a:rPr>
              <a:t>Coverage Closure: Added Tests</a:t>
            </a:r>
          </a:p>
        </p:txBody>
      </p:sp>
      <p:grpSp>
        <p:nvGrpSpPr>
          <p:cNvPr name="Group 3" id="3"/>
          <p:cNvGrpSpPr/>
          <p:nvPr/>
        </p:nvGrpSpPr>
        <p:grpSpPr>
          <a:xfrm rot="0">
            <a:off x="2807767" y="2278417"/>
            <a:ext cx="5572385" cy="2262907"/>
            <a:chOff x="0" y="0"/>
            <a:chExt cx="1467624" cy="595992"/>
          </a:xfrm>
        </p:grpSpPr>
        <p:sp>
          <p:nvSpPr>
            <p:cNvPr name="Freeform 4" id="4"/>
            <p:cNvSpPr/>
            <p:nvPr/>
          </p:nvSpPr>
          <p:spPr>
            <a:xfrm flipH="false" flipV="false" rot="0">
              <a:off x="0" y="0"/>
              <a:ext cx="1467624" cy="595992"/>
            </a:xfrm>
            <a:custGeom>
              <a:avLst/>
              <a:gdLst/>
              <a:ahLst/>
              <a:cxnLst/>
              <a:rect r="r" b="b" t="t" l="l"/>
              <a:pathLst>
                <a:path h="595992" w="1467624">
                  <a:moveTo>
                    <a:pt x="70856" y="0"/>
                  </a:moveTo>
                  <a:lnTo>
                    <a:pt x="1396768" y="0"/>
                  </a:lnTo>
                  <a:cubicBezTo>
                    <a:pt x="1435901" y="0"/>
                    <a:pt x="1467624" y="31723"/>
                    <a:pt x="1467624" y="70856"/>
                  </a:cubicBezTo>
                  <a:lnTo>
                    <a:pt x="1467624" y="525136"/>
                  </a:lnTo>
                  <a:cubicBezTo>
                    <a:pt x="1467624" y="543928"/>
                    <a:pt x="1460159" y="561951"/>
                    <a:pt x="1446871" y="575239"/>
                  </a:cubicBezTo>
                  <a:cubicBezTo>
                    <a:pt x="1433583" y="588527"/>
                    <a:pt x="1415560" y="595992"/>
                    <a:pt x="1396768" y="595992"/>
                  </a:cubicBezTo>
                  <a:lnTo>
                    <a:pt x="70856" y="595992"/>
                  </a:lnTo>
                  <a:cubicBezTo>
                    <a:pt x="52064" y="595992"/>
                    <a:pt x="34041" y="588527"/>
                    <a:pt x="20753" y="575239"/>
                  </a:cubicBezTo>
                  <a:cubicBezTo>
                    <a:pt x="7465" y="561951"/>
                    <a:pt x="0" y="543928"/>
                    <a:pt x="0" y="525136"/>
                  </a:cubicBezTo>
                  <a:lnTo>
                    <a:pt x="0" y="70856"/>
                  </a:lnTo>
                  <a:cubicBezTo>
                    <a:pt x="0" y="52064"/>
                    <a:pt x="7465" y="34041"/>
                    <a:pt x="20753" y="20753"/>
                  </a:cubicBezTo>
                  <a:cubicBezTo>
                    <a:pt x="34041" y="7465"/>
                    <a:pt x="52064" y="0"/>
                    <a:pt x="70856" y="0"/>
                  </a:cubicBezTo>
                  <a:close/>
                </a:path>
              </a:pathLst>
            </a:custGeom>
            <a:solidFill>
              <a:srgbClr val="DCE3EC"/>
            </a:solidFill>
            <a:ln w="38100" cap="rnd">
              <a:solidFill>
                <a:srgbClr val="23496D"/>
              </a:solidFill>
              <a:prstDash val="solid"/>
              <a:round/>
            </a:ln>
          </p:spPr>
        </p:sp>
        <p:sp>
          <p:nvSpPr>
            <p:cNvPr name="TextBox 5" id="5"/>
            <p:cNvSpPr txBox="true"/>
            <p:nvPr/>
          </p:nvSpPr>
          <p:spPr>
            <a:xfrm>
              <a:off x="0" y="-66675"/>
              <a:ext cx="1467624" cy="662667"/>
            </a:xfrm>
            <a:prstGeom prst="rect">
              <a:avLst/>
            </a:prstGeom>
          </p:spPr>
          <p:txBody>
            <a:bodyPr anchor="ctr" rtlCol="false" tIns="50800" lIns="50800" bIns="50800" rIns="50800"/>
            <a:lstStyle/>
            <a:p>
              <a:pPr algn="ctr">
                <a:lnSpc>
                  <a:spcPts val="3600"/>
                </a:lnSpc>
              </a:pPr>
              <a:r>
                <a:rPr lang="en-US" sz="3000">
                  <a:solidFill>
                    <a:srgbClr val="000000"/>
                  </a:solidFill>
                  <a:latin typeface="Calibri (MS)"/>
                  <a:ea typeface="Calibri (MS)"/>
                  <a:cs typeface="Calibri (MS)"/>
                  <a:sym typeface="Calibri (MS)"/>
                </a:rPr>
                <a:t>Reset while an AHB transfer is in flight</a:t>
              </a:r>
            </a:p>
          </p:txBody>
        </p:sp>
      </p:grpSp>
      <p:grpSp>
        <p:nvGrpSpPr>
          <p:cNvPr name="Group 6" id="6"/>
          <p:cNvGrpSpPr/>
          <p:nvPr/>
        </p:nvGrpSpPr>
        <p:grpSpPr>
          <a:xfrm rot="0">
            <a:off x="9887428" y="2278417"/>
            <a:ext cx="5724496" cy="2262907"/>
            <a:chOff x="0" y="0"/>
            <a:chExt cx="1507686" cy="595992"/>
          </a:xfrm>
        </p:grpSpPr>
        <p:sp>
          <p:nvSpPr>
            <p:cNvPr name="Freeform 7" id="7"/>
            <p:cNvSpPr/>
            <p:nvPr/>
          </p:nvSpPr>
          <p:spPr>
            <a:xfrm flipH="false" flipV="false" rot="0">
              <a:off x="0" y="0"/>
              <a:ext cx="1507686" cy="595992"/>
            </a:xfrm>
            <a:custGeom>
              <a:avLst/>
              <a:gdLst/>
              <a:ahLst/>
              <a:cxnLst/>
              <a:rect r="r" b="b" t="t" l="l"/>
              <a:pathLst>
                <a:path h="595992" w="1507686">
                  <a:moveTo>
                    <a:pt x="68973" y="0"/>
                  </a:moveTo>
                  <a:lnTo>
                    <a:pt x="1438713" y="0"/>
                  </a:lnTo>
                  <a:cubicBezTo>
                    <a:pt x="1476806" y="0"/>
                    <a:pt x="1507686" y="30880"/>
                    <a:pt x="1507686" y="68973"/>
                  </a:cubicBezTo>
                  <a:lnTo>
                    <a:pt x="1507686" y="527019"/>
                  </a:lnTo>
                  <a:cubicBezTo>
                    <a:pt x="1507686" y="545312"/>
                    <a:pt x="1500419" y="562855"/>
                    <a:pt x="1487484" y="575790"/>
                  </a:cubicBezTo>
                  <a:cubicBezTo>
                    <a:pt x="1474549" y="588725"/>
                    <a:pt x="1457006" y="595992"/>
                    <a:pt x="1438713" y="595992"/>
                  </a:cubicBezTo>
                  <a:lnTo>
                    <a:pt x="68973" y="595992"/>
                  </a:lnTo>
                  <a:cubicBezTo>
                    <a:pt x="30880" y="595992"/>
                    <a:pt x="0" y="565112"/>
                    <a:pt x="0" y="527019"/>
                  </a:cubicBezTo>
                  <a:lnTo>
                    <a:pt x="0" y="68973"/>
                  </a:lnTo>
                  <a:cubicBezTo>
                    <a:pt x="0" y="30880"/>
                    <a:pt x="30880" y="0"/>
                    <a:pt x="68973" y="0"/>
                  </a:cubicBezTo>
                  <a:close/>
                </a:path>
              </a:pathLst>
            </a:custGeom>
            <a:solidFill>
              <a:srgbClr val="DCE3EC"/>
            </a:solidFill>
            <a:ln w="38100" cap="rnd">
              <a:solidFill>
                <a:srgbClr val="23496D"/>
              </a:solidFill>
              <a:prstDash val="solid"/>
              <a:round/>
            </a:ln>
          </p:spPr>
        </p:sp>
        <p:sp>
          <p:nvSpPr>
            <p:cNvPr name="TextBox 8" id="8"/>
            <p:cNvSpPr txBox="true"/>
            <p:nvPr/>
          </p:nvSpPr>
          <p:spPr>
            <a:xfrm>
              <a:off x="0" y="-66675"/>
              <a:ext cx="1507686" cy="662667"/>
            </a:xfrm>
            <a:prstGeom prst="rect">
              <a:avLst/>
            </a:prstGeom>
          </p:spPr>
          <p:txBody>
            <a:bodyPr anchor="ctr" rtlCol="false" tIns="50800" lIns="50800" bIns="50800" rIns="50800"/>
            <a:lstStyle/>
            <a:p>
              <a:pPr algn="ctr">
                <a:lnSpc>
                  <a:spcPts val="3600"/>
                </a:lnSpc>
              </a:pPr>
              <a:r>
                <a:rPr lang="en-US" sz="3000">
                  <a:solidFill>
                    <a:srgbClr val="000000"/>
                  </a:solidFill>
                  <a:latin typeface="Calibri (MS)"/>
                  <a:ea typeface="Calibri (MS)"/>
                  <a:cs typeface="Calibri (MS)"/>
                  <a:sym typeface="Calibri (MS)"/>
                </a:rPr>
                <a:t>Reset in APB SETUP / ACCESS phase</a:t>
              </a:r>
            </a:p>
          </p:txBody>
        </p:sp>
      </p:grpSp>
      <p:grpSp>
        <p:nvGrpSpPr>
          <p:cNvPr name="Group 9" id="9"/>
          <p:cNvGrpSpPr/>
          <p:nvPr/>
        </p:nvGrpSpPr>
        <p:grpSpPr>
          <a:xfrm rot="0">
            <a:off x="9887428" y="5600700"/>
            <a:ext cx="5724496" cy="2287816"/>
            <a:chOff x="0" y="0"/>
            <a:chExt cx="1507686" cy="602552"/>
          </a:xfrm>
        </p:grpSpPr>
        <p:sp>
          <p:nvSpPr>
            <p:cNvPr name="Freeform 10" id="10"/>
            <p:cNvSpPr/>
            <p:nvPr/>
          </p:nvSpPr>
          <p:spPr>
            <a:xfrm flipH="false" flipV="false" rot="0">
              <a:off x="0" y="0"/>
              <a:ext cx="1507686" cy="602552"/>
            </a:xfrm>
            <a:custGeom>
              <a:avLst/>
              <a:gdLst/>
              <a:ahLst/>
              <a:cxnLst/>
              <a:rect r="r" b="b" t="t" l="l"/>
              <a:pathLst>
                <a:path h="602552" w="1507686">
                  <a:moveTo>
                    <a:pt x="68973" y="0"/>
                  </a:moveTo>
                  <a:lnTo>
                    <a:pt x="1438713" y="0"/>
                  </a:lnTo>
                  <a:cubicBezTo>
                    <a:pt x="1476806" y="0"/>
                    <a:pt x="1507686" y="30880"/>
                    <a:pt x="1507686" y="68973"/>
                  </a:cubicBezTo>
                  <a:lnTo>
                    <a:pt x="1507686" y="533579"/>
                  </a:lnTo>
                  <a:cubicBezTo>
                    <a:pt x="1507686" y="551872"/>
                    <a:pt x="1500419" y="569415"/>
                    <a:pt x="1487484" y="582350"/>
                  </a:cubicBezTo>
                  <a:cubicBezTo>
                    <a:pt x="1474549" y="595285"/>
                    <a:pt x="1457006" y="602552"/>
                    <a:pt x="1438713" y="602552"/>
                  </a:cubicBezTo>
                  <a:lnTo>
                    <a:pt x="68973" y="602552"/>
                  </a:lnTo>
                  <a:cubicBezTo>
                    <a:pt x="30880" y="602552"/>
                    <a:pt x="0" y="571672"/>
                    <a:pt x="0" y="533579"/>
                  </a:cubicBezTo>
                  <a:lnTo>
                    <a:pt x="0" y="68973"/>
                  </a:lnTo>
                  <a:cubicBezTo>
                    <a:pt x="0" y="30880"/>
                    <a:pt x="30880" y="0"/>
                    <a:pt x="68973" y="0"/>
                  </a:cubicBezTo>
                  <a:close/>
                </a:path>
              </a:pathLst>
            </a:custGeom>
            <a:solidFill>
              <a:srgbClr val="DCE3EC"/>
            </a:solidFill>
            <a:ln w="38100" cap="rnd">
              <a:solidFill>
                <a:srgbClr val="23496D"/>
              </a:solidFill>
              <a:prstDash val="solid"/>
              <a:round/>
            </a:ln>
          </p:spPr>
        </p:sp>
        <p:sp>
          <p:nvSpPr>
            <p:cNvPr name="TextBox 11" id="11"/>
            <p:cNvSpPr txBox="true"/>
            <p:nvPr/>
          </p:nvSpPr>
          <p:spPr>
            <a:xfrm>
              <a:off x="0" y="-66675"/>
              <a:ext cx="1507686" cy="669227"/>
            </a:xfrm>
            <a:prstGeom prst="rect">
              <a:avLst/>
            </a:prstGeom>
          </p:spPr>
          <p:txBody>
            <a:bodyPr anchor="ctr" rtlCol="false" tIns="50800" lIns="50800" bIns="50800" rIns="50800"/>
            <a:lstStyle/>
            <a:p>
              <a:pPr algn="ctr">
                <a:lnSpc>
                  <a:spcPts val="3600"/>
                </a:lnSpc>
              </a:pPr>
              <a:r>
                <a:rPr lang="en-US" sz="3000">
                  <a:solidFill>
                    <a:srgbClr val="000000"/>
                  </a:solidFill>
                  <a:latin typeface="Calibri (MS)"/>
                  <a:ea typeface="Calibri (MS)"/>
                  <a:cs typeface="Calibri (MS)"/>
                  <a:sym typeface="Calibri (MS)"/>
                </a:rPr>
                <a:t>HPROT, HTRANS different values</a:t>
              </a:r>
            </a:p>
          </p:txBody>
        </p:sp>
      </p:grpSp>
      <p:grpSp>
        <p:nvGrpSpPr>
          <p:cNvPr name="Group 12" id="12"/>
          <p:cNvGrpSpPr/>
          <p:nvPr/>
        </p:nvGrpSpPr>
        <p:grpSpPr>
          <a:xfrm rot="0">
            <a:off x="2807767" y="5687879"/>
            <a:ext cx="5572385" cy="2113457"/>
            <a:chOff x="0" y="0"/>
            <a:chExt cx="1467624" cy="556631"/>
          </a:xfrm>
        </p:grpSpPr>
        <p:sp>
          <p:nvSpPr>
            <p:cNvPr name="Freeform 13" id="13"/>
            <p:cNvSpPr/>
            <p:nvPr/>
          </p:nvSpPr>
          <p:spPr>
            <a:xfrm flipH="false" flipV="false" rot="0">
              <a:off x="0" y="0"/>
              <a:ext cx="1467624" cy="556631"/>
            </a:xfrm>
            <a:custGeom>
              <a:avLst/>
              <a:gdLst/>
              <a:ahLst/>
              <a:cxnLst/>
              <a:rect r="r" b="b" t="t" l="l"/>
              <a:pathLst>
                <a:path h="556631" w="1467624">
                  <a:moveTo>
                    <a:pt x="70856" y="0"/>
                  </a:moveTo>
                  <a:lnTo>
                    <a:pt x="1396768" y="0"/>
                  </a:lnTo>
                  <a:cubicBezTo>
                    <a:pt x="1435901" y="0"/>
                    <a:pt x="1467624" y="31723"/>
                    <a:pt x="1467624" y="70856"/>
                  </a:cubicBezTo>
                  <a:lnTo>
                    <a:pt x="1467624" y="485775"/>
                  </a:lnTo>
                  <a:cubicBezTo>
                    <a:pt x="1467624" y="504567"/>
                    <a:pt x="1460159" y="522589"/>
                    <a:pt x="1446871" y="535877"/>
                  </a:cubicBezTo>
                  <a:cubicBezTo>
                    <a:pt x="1433583" y="549166"/>
                    <a:pt x="1415560" y="556631"/>
                    <a:pt x="1396768" y="556631"/>
                  </a:cubicBezTo>
                  <a:lnTo>
                    <a:pt x="70856" y="556631"/>
                  </a:lnTo>
                  <a:cubicBezTo>
                    <a:pt x="52064" y="556631"/>
                    <a:pt x="34041" y="549166"/>
                    <a:pt x="20753" y="535877"/>
                  </a:cubicBezTo>
                  <a:cubicBezTo>
                    <a:pt x="7465" y="522589"/>
                    <a:pt x="0" y="504567"/>
                    <a:pt x="0" y="485775"/>
                  </a:cubicBezTo>
                  <a:lnTo>
                    <a:pt x="0" y="70856"/>
                  </a:lnTo>
                  <a:cubicBezTo>
                    <a:pt x="0" y="52064"/>
                    <a:pt x="7465" y="34041"/>
                    <a:pt x="20753" y="20753"/>
                  </a:cubicBezTo>
                  <a:cubicBezTo>
                    <a:pt x="34041" y="7465"/>
                    <a:pt x="52064" y="0"/>
                    <a:pt x="70856" y="0"/>
                  </a:cubicBezTo>
                  <a:close/>
                </a:path>
              </a:pathLst>
            </a:custGeom>
            <a:solidFill>
              <a:srgbClr val="DCE3EC"/>
            </a:solidFill>
            <a:ln w="38100" cap="rnd">
              <a:solidFill>
                <a:srgbClr val="23496D"/>
              </a:solidFill>
              <a:prstDash val="solid"/>
              <a:round/>
            </a:ln>
          </p:spPr>
        </p:sp>
        <p:sp>
          <p:nvSpPr>
            <p:cNvPr name="TextBox 14" id="14"/>
            <p:cNvSpPr txBox="true"/>
            <p:nvPr/>
          </p:nvSpPr>
          <p:spPr>
            <a:xfrm>
              <a:off x="0" y="-66675"/>
              <a:ext cx="1467624" cy="623306"/>
            </a:xfrm>
            <a:prstGeom prst="rect">
              <a:avLst/>
            </a:prstGeom>
          </p:spPr>
          <p:txBody>
            <a:bodyPr anchor="ctr" rtlCol="false" tIns="50800" lIns="50800" bIns="50800" rIns="50800"/>
            <a:lstStyle/>
            <a:p>
              <a:pPr algn="ctr">
                <a:lnSpc>
                  <a:spcPts val="3600"/>
                </a:lnSpc>
              </a:pPr>
              <a:r>
                <a:rPr lang="en-US" sz="3000">
                  <a:solidFill>
                    <a:srgbClr val="000000"/>
                  </a:solidFill>
                  <a:latin typeface="Calibri (MS)"/>
                  <a:ea typeface="Calibri (MS)"/>
                  <a:cs typeface="Calibri (MS)"/>
                  <a:sym typeface="Calibri (MS)"/>
                </a:rPr>
                <a:t>Reset on one side only</a:t>
              </a:r>
            </a:p>
            <a:p>
              <a:pPr algn="ctr">
                <a:lnSpc>
                  <a:spcPts val="3600"/>
                </a:lnSpc>
              </a:pPr>
              <a:r>
                <a:rPr lang="en-US" sz="3000">
                  <a:solidFill>
                    <a:srgbClr val="000000"/>
                  </a:solidFill>
                  <a:latin typeface="Calibri (MS)"/>
                  <a:ea typeface="Calibri (MS)"/>
                  <a:cs typeface="Calibri (MS)"/>
                  <a:sym typeface="Calibri (MS)"/>
                </a:rPr>
                <a:t> (HRESETn or PRESETn)</a:t>
              </a:r>
            </a:p>
          </p:txBody>
        </p:sp>
      </p:grpSp>
      <p:grpSp>
        <p:nvGrpSpPr>
          <p:cNvPr name="Group 15" id="15"/>
          <p:cNvGrpSpPr/>
          <p:nvPr/>
        </p:nvGrpSpPr>
        <p:grpSpPr>
          <a:xfrm rot="0">
            <a:off x="157086" y="9885045"/>
            <a:ext cx="10972800" cy="411480"/>
            <a:chOff x="0" y="0"/>
            <a:chExt cx="14630400" cy="548640"/>
          </a:xfrm>
        </p:grpSpPr>
        <p:sp>
          <p:nvSpPr>
            <p:cNvPr name="Freeform 16" id="1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17" id="17"/>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18" id="18"/>
          <p:cNvGrpSpPr/>
          <p:nvPr/>
        </p:nvGrpSpPr>
        <p:grpSpPr>
          <a:xfrm rot="0">
            <a:off x="16911828" y="9710928"/>
            <a:ext cx="685800" cy="411480"/>
            <a:chOff x="0" y="0"/>
            <a:chExt cx="914400" cy="548640"/>
          </a:xfrm>
        </p:grpSpPr>
        <p:sp>
          <p:nvSpPr>
            <p:cNvPr name="Freeform 19" id="1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20" id="20"/>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31</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grpSp>
        <p:nvGrpSpPr>
          <p:cNvPr name="Group 2" id="2"/>
          <p:cNvGrpSpPr/>
          <p:nvPr/>
        </p:nvGrpSpPr>
        <p:grpSpPr>
          <a:xfrm rot="0">
            <a:off x="685800" y="9710928"/>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5" id="5"/>
          <p:cNvGrpSpPr/>
          <p:nvPr/>
        </p:nvGrpSpPr>
        <p:grpSpPr>
          <a:xfrm rot="0">
            <a:off x="16911828" y="9710928"/>
            <a:ext cx="685800" cy="411480"/>
            <a:chOff x="0" y="0"/>
            <a:chExt cx="914400" cy="548640"/>
          </a:xfrm>
        </p:grpSpPr>
        <p:sp>
          <p:nvSpPr>
            <p:cNvPr name="Freeform 6" id="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 id="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32</a:t>
              </a:r>
            </a:p>
          </p:txBody>
        </p:sp>
      </p:grpSp>
      <p:sp>
        <p:nvSpPr>
          <p:cNvPr name="Freeform 8" id="8"/>
          <p:cNvSpPr/>
          <p:nvPr/>
        </p:nvSpPr>
        <p:spPr>
          <a:xfrm flipH="false" flipV="false" rot="0">
            <a:off x="16084009" y="-378755"/>
            <a:ext cx="4407982" cy="1407455"/>
          </a:xfrm>
          <a:custGeom>
            <a:avLst/>
            <a:gdLst/>
            <a:ahLst/>
            <a:cxnLst/>
            <a:rect r="r" b="b" t="t" l="l"/>
            <a:pathLst>
              <a:path h="1407455" w="4407982">
                <a:moveTo>
                  <a:pt x="0" y="0"/>
                </a:moveTo>
                <a:lnTo>
                  <a:pt x="4407982" y="0"/>
                </a:lnTo>
                <a:lnTo>
                  <a:pt x="4407982" y="1407455"/>
                </a:lnTo>
                <a:lnTo>
                  <a:pt x="0" y="14074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9483536" y="5415904"/>
            <a:ext cx="7363165" cy="4245511"/>
          </a:xfrm>
          <a:custGeom>
            <a:avLst/>
            <a:gdLst/>
            <a:ahLst/>
            <a:cxnLst/>
            <a:rect r="r" b="b" t="t" l="l"/>
            <a:pathLst>
              <a:path h="4245511" w="7363165">
                <a:moveTo>
                  <a:pt x="0" y="0"/>
                </a:moveTo>
                <a:lnTo>
                  <a:pt x="7363165" y="0"/>
                </a:lnTo>
                <a:lnTo>
                  <a:pt x="7363165" y="4245511"/>
                </a:lnTo>
                <a:lnTo>
                  <a:pt x="0" y="4245511"/>
                </a:lnTo>
                <a:lnTo>
                  <a:pt x="0" y="0"/>
                </a:lnTo>
                <a:close/>
              </a:path>
            </a:pathLst>
          </a:custGeom>
          <a:blipFill>
            <a:blip r:embed="rId5"/>
            <a:stretch>
              <a:fillRect l="0" t="0" r="0" b="0"/>
            </a:stretch>
          </a:blipFill>
          <a:ln w="38100" cap="sq">
            <a:solidFill>
              <a:srgbClr val="2D5986"/>
            </a:solidFill>
            <a:prstDash val="solid"/>
            <a:miter/>
          </a:ln>
        </p:spPr>
      </p:sp>
      <p:sp>
        <p:nvSpPr>
          <p:cNvPr name="Freeform 10" id="10"/>
          <p:cNvSpPr/>
          <p:nvPr/>
        </p:nvSpPr>
        <p:spPr>
          <a:xfrm flipH="false" flipV="false" rot="0">
            <a:off x="9483536" y="1405245"/>
            <a:ext cx="7363165" cy="3922539"/>
          </a:xfrm>
          <a:custGeom>
            <a:avLst/>
            <a:gdLst/>
            <a:ahLst/>
            <a:cxnLst/>
            <a:rect r="r" b="b" t="t" l="l"/>
            <a:pathLst>
              <a:path h="3922539" w="7363165">
                <a:moveTo>
                  <a:pt x="0" y="0"/>
                </a:moveTo>
                <a:lnTo>
                  <a:pt x="7363165" y="0"/>
                </a:lnTo>
                <a:lnTo>
                  <a:pt x="7363165" y="3922538"/>
                </a:lnTo>
                <a:lnTo>
                  <a:pt x="0" y="3922538"/>
                </a:lnTo>
                <a:lnTo>
                  <a:pt x="0" y="0"/>
                </a:lnTo>
                <a:close/>
              </a:path>
            </a:pathLst>
          </a:custGeom>
          <a:blipFill>
            <a:blip r:embed="rId6"/>
            <a:stretch>
              <a:fillRect l="0" t="0" r="0" b="0"/>
            </a:stretch>
          </a:blipFill>
          <a:ln w="38100" cap="sq">
            <a:solidFill>
              <a:srgbClr val="2D5986"/>
            </a:solidFill>
            <a:prstDash val="solid"/>
            <a:miter/>
          </a:ln>
        </p:spPr>
      </p:sp>
      <p:sp>
        <p:nvSpPr>
          <p:cNvPr name="Freeform 11" id="11"/>
          <p:cNvSpPr/>
          <p:nvPr/>
        </p:nvSpPr>
        <p:spPr>
          <a:xfrm flipH="false" flipV="false" rot="0">
            <a:off x="685800" y="1407455"/>
            <a:ext cx="8683751" cy="8291511"/>
          </a:xfrm>
          <a:custGeom>
            <a:avLst/>
            <a:gdLst/>
            <a:ahLst/>
            <a:cxnLst/>
            <a:rect r="r" b="b" t="t" l="l"/>
            <a:pathLst>
              <a:path h="8291511" w="8683751">
                <a:moveTo>
                  <a:pt x="0" y="0"/>
                </a:moveTo>
                <a:lnTo>
                  <a:pt x="8683751" y="0"/>
                </a:lnTo>
                <a:lnTo>
                  <a:pt x="8683751" y="8291511"/>
                </a:lnTo>
                <a:lnTo>
                  <a:pt x="0" y="8291511"/>
                </a:lnTo>
                <a:lnTo>
                  <a:pt x="0" y="0"/>
                </a:lnTo>
                <a:close/>
              </a:path>
            </a:pathLst>
          </a:custGeom>
          <a:blipFill>
            <a:blip r:embed="rId7"/>
            <a:stretch>
              <a:fillRect l="0" t="0" r="0" b="0"/>
            </a:stretch>
          </a:blipFill>
          <a:ln w="38100" cap="sq">
            <a:solidFill>
              <a:srgbClr val="2D5986"/>
            </a:solidFill>
            <a:prstDash val="solid"/>
            <a:miter/>
          </a:ln>
        </p:spPr>
      </p:sp>
      <p:sp>
        <p:nvSpPr>
          <p:cNvPr name="TextBox 12" id="12"/>
          <p:cNvSpPr txBox="true"/>
          <p:nvPr/>
        </p:nvSpPr>
        <p:spPr>
          <a:xfrm rot="0">
            <a:off x="217050" y="-10805"/>
            <a:ext cx="11910300"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Coverage results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TextBox 2" id="2"/>
          <p:cNvSpPr txBox="true"/>
          <p:nvPr/>
        </p:nvSpPr>
        <p:spPr>
          <a:xfrm rot="0">
            <a:off x="5345557" y="2936134"/>
            <a:ext cx="7596886" cy="2463165"/>
          </a:xfrm>
          <a:prstGeom prst="rect">
            <a:avLst/>
          </a:prstGeom>
        </p:spPr>
        <p:txBody>
          <a:bodyPr anchor="t" rtlCol="false" tIns="0" lIns="0" bIns="0" rIns="0">
            <a:spAutoFit/>
          </a:bodyPr>
          <a:lstStyle/>
          <a:p>
            <a:pPr algn="l">
              <a:lnSpc>
                <a:spcPts val="20160"/>
              </a:lnSpc>
              <a:spcBef>
                <a:spcPct val="0"/>
              </a:spcBef>
            </a:pPr>
            <a:r>
              <a:rPr lang="en-US" sz="14400">
                <a:solidFill>
                  <a:srgbClr val="2D5986"/>
                </a:solidFill>
                <a:latin typeface="Anton"/>
                <a:ea typeface="Anton"/>
                <a:cs typeface="Anton"/>
                <a:sym typeface="Anton"/>
              </a:rPr>
              <a:t>Thank You</a:t>
            </a:r>
          </a:p>
        </p:txBody>
      </p:sp>
      <p:sp>
        <p:nvSpPr>
          <p:cNvPr name="TextBox 3" id="3"/>
          <p:cNvSpPr txBox="true"/>
          <p:nvPr/>
        </p:nvSpPr>
        <p:spPr>
          <a:xfrm rot="0">
            <a:off x="4643793" y="5294524"/>
            <a:ext cx="9000415" cy="863600"/>
          </a:xfrm>
          <a:prstGeom prst="rect">
            <a:avLst/>
          </a:prstGeom>
        </p:spPr>
        <p:txBody>
          <a:bodyPr anchor="t" rtlCol="false" tIns="0" lIns="0" bIns="0" rIns="0">
            <a:spAutoFit/>
          </a:bodyPr>
          <a:lstStyle/>
          <a:p>
            <a:pPr algn="ctr">
              <a:lnSpc>
                <a:spcPts val="7000"/>
              </a:lnSpc>
              <a:spcBef>
                <a:spcPct val="0"/>
              </a:spcBef>
            </a:pPr>
            <a:r>
              <a:rPr lang="en-US" sz="5000">
                <a:solidFill>
                  <a:srgbClr val="2D5986"/>
                </a:solidFill>
                <a:latin typeface="Anton"/>
                <a:ea typeface="Anton"/>
                <a:cs typeface="Anton"/>
                <a:sym typeface="Anton"/>
              </a:rPr>
              <a:t>Any Questions?</a:t>
            </a:r>
          </a:p>
        </p:txBody>
      </p:sp>
      <p:grpSp>
        <p:nvGrpSpPr>
          <p:cNvPr name="Group 4" id="4"/>
          <p:cNvGrpSpPr/>
          <p:nvPr/>
        </p:nvGrpSpPr>
        <p:grpSpPr>
          <a:xfrm rot="0">
            <a:off x="233286" y="9875520"/>
            <a:ext cx="10972800" cy="411480"/>
            <a:chOff x="0" y="0"/>
            <a:chExt cx="14630400" cy="548640"/>
          </a:xfrm>
        </p:grpSpPr>
        <p:sp>
          <p:nvSpPr>
            <p:cNvPr name="Freeform 5" id="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6" id="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2"/>
                  </a:solidFill>
                  <a:latin typeface="Calibri (MS)"/>
                  <a:ea typeface="Calibri (MS)"/>
                  <a:cs typeface="Calibri (MS)"/>
                  <a:sym typeface="Calibri (MS)"/>
                </a:rPr>
                <a:t>AHB to APB Bridge UVM Project</a:t>
              </a:r>
            </a:p>
          </p:txBody>
        </p:sp>
      </p:grpSp>
      <p:grpSp>
        <p:nvGrpSpPr>
          <p:cNvPr name="Group 7" id="7"/>
          <p:cNvGrpSpPr/>
          <p:nvPr/>
        </p:nvGrpSpPr>
        <p:grpSpPr>
          <a:xfrm rot="0">
            <a:off x="17030471" y="9875520"/>
            <a:ext cx="685800" cy="411480"/>
            <a:chOff x="0" y="0"/>
            <a:chExt cx="914400" cy="548640"/>
          </a:xfrm>
        </p:grpSpPr>
        <p:sp>
          <p:nvSpPr>
            <p:cNvPr name="Freeform 8" id="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9" id="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B6B82"/>
                  </a:solidFill>
                  <a:latin typeface="Calibri (MS)"/>
                  <a:ea typeface="Calibri (MS)"/>
                  <a:cs typeface="Calibri (MS)"/>
                  <a:sym typeface="Calibri (MS)"/>
                </a:rPr>
                <a:t>33</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DAHT9G2GFF8</dc:identifier>
  <dcterms:modified xsi:type="dcterms:W3CDTF">2011-08-01T06:04:30Z</dcterms:modified>
  <cp:revision>1</cp:revision>
  <dc:title>AHB to APB Bridge UVM Project</dc:title>
</cp:coreProperties>
</file>